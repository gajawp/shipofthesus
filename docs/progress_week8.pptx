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6fb06660ea24dd9" Type="http://schemas.openxmlformats.org/officeDocument/2006/relationships/extended-properties" Target="docProps/app.xml"/><Relationship Id="Rb1b86c2fbf1645ea" Type="http://schemas.openxmlformats.org/package/2006/relationships/metadata/core-properties" Target="docProps/core.xml"/><Relationship Id="Rb1fcd6b80d114eb3"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79ba6280c39a471e"/>
  </p:sldMasterIdLst>
  <p:notesMasterIdLst>
    <p:notesMasterId xmlns:r="http://schemas.openxmlformats.org/officeDocument/2006/relationships" r:id="Rc7a13b35328f4bd3"/>
  </p:notesMasterIdLst>
  <p:sldIdLst>
    <p:sldId xmlns:ns0="http://schemas.openxmlformats.org/officeDocument/2006/relationships" id="256" ns0:id="rId6"/>
    <p:sldId xmlns:ns0="http://schemas.openxmlformats.org/officeDocument/2006/relationships" id="257" ns0:id="rId7"/>
    <p:sldId xmlns:ns0="http://schemas.openxmlformats.org/officeDocument/2006/relationships" id="258" ns0:id="rId8"/>
    <p:sldId xmlns:ns0="http://schemas.openxmlformats.org/officeDocument/2006/relationships" id="259" ns0:id="rId9"/>
    <p:sldId xmlns:ns0="http://schemas.openxmlformats.org/officeDocument/2006/relationships" id="260" ns0:id="rId10"/>
    <p:sldId xmlns:ns0="http://schemas.openxmlformats.org/officeDocument/2006/relationships" id="261" ns0:id="rId11"/>
    <p:sldId xmlns:ns0="http://schemas.openxmlformats.org/officeDocument/2006/relationships" id="262" ns0:id="rId12"/>
    <p:sldId xmlns:ns0="http://schemas.openxmlformats.org/officeDocument/2006/relationships" id="263" ns0:id="rId13"/>
    <p:sldId xmlns:ns0="http://schemas.openxmlformats.org/officeDocument/2006/relationships" id="264" ns0:id="rId14"/>
    <p:sldId xmlns:ns0="http://schemas.openxmlformats.org/officeDocument/2006/relationships" id="265" ns0:id="rId15"/>
    <p:sldId xmlns:ns0="http://schemas.openxmlformats.org/officeDocument/2006/relationships" id="266" ns0:id="rId16"/>
    <p:sldId xmlns:ns0="http://schemas.openxmlformats.org/officeDocument/2006/relationships" id="267" ns0:id="rId17"/>
    <p:sldId xmlns:ns0="http://schemas.openxmlformats.org/officeDocument/2006/relationships" id="268" ns0:id="rId18"/>
    <p:sldId xmlns:ns0="http://schemas.openxmlformats.org/officeDocument/2006/relationships" id="269" ns0:id="rId19"/>
    <p:sldId xmlns:ns0="http://schemas.openxmlformats.org/officeDocument/2006/relationships" id="270" ns0:id="rId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79ba6280c39a471e" Type="http://schemas.openxmlformats.org/officeDocument/2006/relationships/slideMaster" Target="slideMasters/slideMaster1.xml"/><Relationship Id="R9751b7a8ec4b4df9" Type="http://schemas.openxmlformats.org/officeDocument/2006/relationships/tableStyles" Target="tableStyles.xml"/><Relationship Id="R986a336f475e4240" Type="http://schemas.openxmlformats.org/officeDocument/2006/relationships/presProps" Target="presProps.xml"/><Relationship Id="Rc7a13b35328f4bd3" Type="http://schemas.openxmlformats.org/officeDocument/2006/relationships/notesMaster" Target="notesMasters/notesMaster1.xml"/><Relationship Id="Rd9f22f25684e481b" Type="http://schemas.openxmlformats.org/officeDocument/2006/relationships/theme" Target="theme/theme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72919a4be54b445d"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study what happens to a text's authorial identity when an LLM paraphrases it again and again. Headline result so far: after three rounds of ChatGPT, about 85% of the meaning is still there, but even the most durable style feature group keeps at most a third of its original signal. This update covers Weeks 1 to 8: the data pipeline, the baseline similarity metrics, and a first answer to RQ1.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finished the first two phases. Phase one built the data pipeline and the baseline similarity metrics; phase two built lexical and syntactic feature profiles and gave us a preliminary answer to RQ1. Next are the attribution experiments for RQ2 and the paraphraser-fingerprint experiments for RQ3.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three research questions. Today we can give a preliminary answer to RQ1, and the RQ1 analysis already gives an early signal for RQ3. RQ2 is the next phase.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corpus has three dimensions: seven datasets from different domains, seven sources that wrote the original text — one human and six LLMs — and seven paraphraser settings from four models, each applied three times. Each dataset comes with a paraphrased file and a train file. They share no documents, which gives us a clean train/test design for RQ2. After preprocessing we have 16,386 complete chains and 19,200 training texts; today's analyses use a fixed sample of 100 human documents per domain.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steps, each logged with before-and-after counts. Cleaning matters because different sources format text differently, which would otherwise show up as fake style differences. We keep only documents with complete chains for all seven paraphrasers, so every paraphraser is compared on the same texts. And we split the training files by key, so a human text and the LLM texts generated from its prompt never end up on both sides.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finding worth flagging: the high-diversity DIPPER chains in the released corpus are largely unrelated to their source. Here a BBC news article comes back as 19th-century-style fiction. Our preprocessing check flags this automatically, and the similarity scores confirm it — SBERT 0.06, which is what unrelated text gets. We exclude it from all conclusions.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baseline uses two kinds of metrics. BLEU and ROUGE measure how much wording is kept; BERTScore and SBERT measure how much meaning is kept. For ChatGPT, BLEU loses 86% while SBERT loses only 12%. And 94% of the BLEU drop already happens in the first round. Note we rescale BERTScore, because raw BERTScore gives even unrelated text about 0.67.</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shows every paraphraser's path. All of them stay well above the diagonal, meaning they lose wording much faster than meaning. ChatGPT rewrites the most aggressively at no semantic cost. The rule-based WordNet simulator behaves the opposite way to the LLMs, which is why we use the real LLM chains rather than a simulation.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also matters. Technical and factual text keeps the most meaning, creative and argumentative text the least. And the domain effect depends on the paraphraser: PaLM2 copies a lot in science and news, but almost fully rewrites opinion texts.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RQ1 we needed to compare very different features — a punctuation profile, a parse-tree depth, a meaning embedding — on one scale. We compare each document with its own original, and divide the distance by how different the original is from unrelated documents in the same domain. That gives retention: one means unchanged, zero means the paraphrase is as different from its source as another author's document is, and below zero means the paraphraser pushed it even further.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answer for ChatGPT. Every style family has lost most of its signal after one round, while meaning stays at 0.85. Two families even go below zero: ChatGPT pushes readability and lexical richness further from the original than another human author would be. Most of this happens in the first pass.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Across paraphrasers, meaning is always the most retained row. In 61 of 63 tests the style change is significantly larger than the meaning change; the two exceptions are WordNet, which only swaps words. Interestingly, the syntactic skeleton is replaced about as fast as the lexical skin — we expected syntax to be more durable.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Negative retention means a consistent push in one direction. ChatGPT formalises text: longer words and a reading grade that rises from about 10 to over 12. DIPPER goes the other way, and Pegasus splits sentences and flattens parse trees. Because each paraphraser pushes in its own direction, this is our first evidence for RQ3.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our preliminary answer to RQ1: style is replaced long before meaning. After one pass, documents are already most of the way to looking like a different author, while most of the meaning is intact. Syntax is not a safe haven — it changes as fast as vocabulary. And several features are not just erased but overwritten with the paraphraser's own style.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limitations: we have only analysed human-written originals so far; paraphrases are shorter, which can make style profiles noisier; and SBERT only reads the start of long documents. Next we move to RQ2 — training attribution models on the train files and testing them on each generation — and then to paraphraser fingerprinting for RQ3.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e4eff5112c1e4114"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c6c8a1f0c29c4274" Type="http://schemas.openxmlformats.org/officeDocument/2006/relationships/theme" Target="theme/theme2.xml"/><Relationship Id="Rd7359f672f5b4491"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359f672f5b44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73736" cy="6858000"/>
          </a:xfrm>
          <a:prstGeom prst="rect">
            <a:avLst/>
          </a:prstGeom>
          <a:solidFill>
            <a:srgbClr val="2F6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04088" y="521207"/>
            <a:ext cx="5486400" cy="274320"/>
          </a:xfrm>
          <a:prstGeom prst="rect">
            <a:avLst/>
          </a:prstGeom>
          <a:noFill/>
        </p:spPr>
        <p:txBody>
          <a:bodyPr wrap="square" lIns="0" rIns="0" tIns="0" bIns="0" anchor="t">
            <a:spAutoFit/>
          </a:bodyPr>
          <a:lstStyle/>
          <a:p>
            <a:pPr algn="l">
              <a:lnSpc>
                <a:spcPct val="110000"/>
              </a:lnSpc>
              <a:spcAft>
                <a:spcPts val="0"/>
              </a:spcAft>
            </a:pPr>
            <a:r>
              <a:rPr sz="1050" b="1">
                <a:solidFill>
                  <a:srgbClr val="2F67C7"/>
                </a:solidFill>
                <a:latin typeface="Arial"/>
              </a:rPr>
              <a:t>COMPUTATIONAL FORENSICS  ·  PROGRESS UPDATE, WEEKS 1–8</a:t>
            </a:r>
          </a:p>
        </p:txBody>
      </p:sp>
      <p:sp>
        <p:nvSpPr>
          <p:cNvPr id="4" name="TextBox 3"/>
          <p:cNvSpPr txBox="1"/>
          <p:nvPr/>
        </p:nvSpPr>
        <p:spPr>
          <a:xfrm>
            <a:off x="685800" y="905256"/>
            <a:ext cx="6035040" cy="1463040"/>
          </a:xfrm>
          <a:prstGeom prst="rect">
            <a:avLst/>
          </a:prstGeom>
          <a:noFill/>
        </p:spPr>
        <p:txBody>
          <a:bodyPr wrap="square" lIns="0" rIns="0" tIns="0" bIns="0" anchor="t">
            <a:spAutoFit/>
          </a:bodyPr>
          <a:lstStyle/>
          <a:p>
            <a:pPr algn="l">
              <a:lnSpc>
                <a:spcPct val="110000"/>
              </a:lnSpc>
              <a:spcAft>
                <a:spcPts val="0"/>
              </a:spcAft>
            </a:pPr>
            <a:r>
              <a:rPr sz="3450" b="1">
                <a:solidFill>
                  <a:srgbClr val="10243E"/>
                </a:solidFill>
                <a:latin typeface="Arial"/>
              </a:rPr>
              <a:t>The Paradox of</a:t>
            </a:r>
          </a:p>
          <a:p>
            <a:pPr algn="l">
              <a:lnSpc>
                <a:spcPct val="110000"/>
              </a:lnSpc>
              <a:spcAft>
                <a:spcPts val="0"/>
              </a:spcAft>
            </a:pPr>
            <a:r>
              <a:rPr sz="3450" b="1">
                <a:solidFill>
                  <a:srgbClr val="10243E"/>
                </a:solidFill>
                <a:latin typeface="Arial"/>
              </a:rPr>
              <a:t>Authorial Identity</a:t>
            </a:r>
          </a:p>
        </p:txBody>
      </p:sp>
      <p:sp>
        <p:nvSpPr>
          <p:cNvPr id="5" name="TextBox 4"/>
          <p:cNvSpPr txBox="1"/>
          <p:nvPr/>
        </p:nvSpPr>
        <p:spPr>
          <a:xfrm>
            <a:off x="722376" y="2423160"/>
            <a:ext cx="5669280" cy="914400"/>
          </a:xfrm>
          <a:prstGeom prst="rect">
            <a:avLst/>
          </a:prstGeom>
          <a:noFill/>
        </p:spPr>
        <p:txBody>
          <a:bodyPr wrap="square" lIns="0" rIns="0" tIns="0" bIns="0" anchor="t">
            <a:spAutoFit/>
          </a:bodyPr>
          <a:lstStyle/>
          <a:p>
            <a:pPr algn="l">
              <a:lnSpc>
                <a:spcPct val="110000"/>
              </a:lnSpc>
              <a:spcAft>
                <a:spcPts val="0"/>
              </a:spcAft>
            </a:pPr>
            <a:r>
              <a:rPr sz="1575" b="0">
                <a:solidFill>
                  <a:srgbClr val="5C6678"/>
                </a:solidFill>
                <a:latin typeface="Arial"/>
              </a:rPr>
              <a:t>Repeated AI paraphrasing keeps a text's meaning while replacing its author's style. We now measure how fast, feature by feature.</a:t>
            </a:r>
          </a:p>
        </p:txBody>
      </p:sp>
      <p:sp>
        <p:nvSpPr>
          <p:cNvPr id="6" name="Rounded Rectangle 5"/>
          <p:cNvSpPr/>
          <p:nvPr/>
        </p:nvSpPr>
        <p:spPr>
          <a:xfrm>
            <a:off x="7068312" y="1106424"/>
            <a:ext cx="822960" cy="822960"/>
          </a:xfrm>
          <a:prstGeom prst="roundRect">
            <a:avLst>
              <a:gd name="adj" fmla="val 14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68312" y="1216152"/>
            <a:ext cx="822960" cy="365760"/>
          </a:xfrm>
          <a:prstGeom prst="rect">
            <a:avLst/>
          </a:prstGeom>
          <a:noFill/>
        </p:spPr>
        <p:txBody>
          <a:bodyPr wrap="square" lIns="0" rIns="0" tIns="0" bIns="0" anchor="t">
            <a:spAutoFit/>
          </a:bodyPr>
          <a:lstStyle/>
          <a:p>
            <a:pPr algn="ctr">
              <a:lnSpc>
                <a:spcPct val="110000"/>
              </a:lnSpc>
              <a:spcAft>
                <a:spcPts val="0"/>
              </a:spcAft>
            </a:pPr>
            <a:r>
              <a:rPr sz="1650" b="1">
                <a:solidFill>
                  <a:srgbClr val="FFFFFF"/>
                </a:solidFill>
                <a:latin typeface="Arial"/>
              </a:rPr>
              <a:t>T0</a:t>
            </a:r>
          </a:p>
        </p:txBody>
      </p:sp>
      <p:sp>
        <p:nvSpPr>
          <p:cNvPr id="8" name="TextBox 7"/>
          <p:cNvSpPr txBox="1"/>
          <p:nvPr/>
        </p:nvSpPr>
        <p:spPr>
          <a:xfrm>
            <a:off x="6931152" y="2002536"/>
            <a:ext cx="1097280" cy="274320"/>
          </a:xfrm>
          <a:prstGeom prst="rect">
            <a:avLst/>
          </a:prstGeom>
          <a:noFill/>
        </p:spPr>
        <p:txBody>
          <a:bodyPr wrap="square" lIns="0" rIns="0" tIns="0" bIns="0" anchor="t">
            <a:spAutoFit/>
          </a:bodyPr>
          <a:lstStyle/>
          <a:p>
            <a:pPr algn="ctr">
              <a:lnSpc>
                <a:spcPct val="110000"/>
              </a:lnSpc>
              <a:spcAft>
                <a:spcPts val="0"/>
              </a:spcAft>
            </a:pPr>
            <a:r>
              <a:rPr sz="825" b="0">
                <a:solidFill>
                  <a:srgbClr val="5C6678"/>
                </a:solidFill>
                <a:latin typeface="Arial"/>
              </a:rPr>
              <a:t>Human original</a:t>
            </a:r>
          </a:p>
        </p:txBody>
      </p:sp>
      <p:sp>
        <p:nvSpPr>
          <p:cNvPr id="9" name="TextBox 8"/>
          <p:cNvSpPr txBox="1"/>
          <p:nvPr/>
        </p:nvSpPr>
        <p:spPr>
          <a:xfrm>
            <a:off x="7863840" y="1335024"/>
            <a:ext cx="274320" cy="365760"/>
          </a:xfrm>
          <a:prstGeom prst="rect">
            <a:avLst/>
          </a:prstGeom>
          <a:noFill/>
        </p:spPr>
        <p:txBody>
          <a:bodyPr wrap="square" lIns="0" rIns="0" tIns="0" bIns="0" anchor="t">
            <a:spAutoFit/>
          </a:bodyPr>
          <a:lstStyle/>
          <a:p>
            <a:pPr algn="ctr">
              <a:lnSpc>
                <a:spcPct val="110000"/>
              </a:lnSpc>
              <a:spcAft>
                <a:spcPts val="0"/>
              </a:spcAft>
            </a:pPr>
            <a:r>
              <a:rPr sz="2250" b="1">
                <a:solidFill>
                  <a:srgbClr val="D8A33A"/>
                </a:solidFill>
                <a:latin typeface="Arial"/>
              </a:rPr>
              <a:t>›</a:t>
            </a:r>
          </a:p>
        </p:txBody>
      </p:sp>
      <p:sp>
        <p:nvSpPr>
          <p:cNvPr id="10" name="Rounded Rectangle 9"/>
          <p:cNvSpPr/>
          <p:nvPr/>
        </p:nvSpPr>
        <p:spPr>
          <a:xfrm>
            <a:off x="8193024" y="1316736"/>
            <a:ext cx="822960" cy="822960"/>
          </a:xfrm>
          <a:prstGeom prst="roundRect">
            <a:avLst>
              <a:gd name="adj" fmla="val 14000"/>
            </a:avLst>
          </a:prstGeom>
          <a:solidFill>
            <a:srgbClr val="2F6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3024" y="1426464"/>
            <a:ext cx="822960" cy="365760"/>
          </a:xfrm>
          <a:prstGeom prst="rect">
            <a:avLst/>
          </a:prstGeom>
          <a:noFill/>
        </p:spPr>
        <p:txBody>
          <a:bodyPr wrap="square" lIns="0" rIns="0" tIns="0" bIns="0" anchor="t">
            <a:spAutoFit/>
          </a:bodyPr>
          <a:lstStyle/>
          <a:p>
            <a:pPr algn="ctr">
              <a:lnSpc>
                <a:spcPct val="110000"/>
              </a:lnSpc>
              <a:spcAft>
                <a:spcPts val="0"/>
              </a:spcAft>
            </a:pPr>
            <a:r>
              <a:rPr sz="1650" b="1">
                <a:solidFill>
                  <a:srgbClr val="FFFFFF"/>
                </a:solidFill>
                <a:latin typeface="Arial"/>
              </a:rPr>
              <a:t>T1</a:t>
            </a:r>
          </a:p>
        </p:txBody>
      </p:sp>
      <p:sp>
        <p:nvSpPr>
          <p:cNvPr id="12" name="TextBox 11"/>
          <p:cNvSpPr txBox="1"/>
          <p:nvPr/>
        </p:nvSpPr>
        <p:spPr>
          <a:xfrm>
            <a:off x="8055864" y="2212848"/>
            <a:ext cx="1097280" cy="274320"/>
          </a:xfrm>
          <a:prstGeom prst="rect">
            <a:avLst/>
          </a:prstGeom>
          <a:noFill/>
        </p:spPr>
        <p:txBody>
          <a:bodyPr wrap="square" lIns="0" rIns="0" tIns="0" bIns="0" anchor="t">
            <a:spAutoFit/>
          </a:bodyPr>
          <a:lstStyle/>
          <a:p>
            <a:pPr algn="ctr">
              <a:lnSpc>
                <a:spcPct val="110000"/>
              </a:lnSpc>
              <a:spcAft>
                <a:spcPts val="0"/>
              </a:spcAft>
            </a:pPr>
            <a:r>
              <a:rPr sz="825" b="0">
                <a:solidFill>
                  <a:srgbClr val="5C6678"/>
                </a:solidFill>
                <a:latin typeface="Arial"/>
              </a:rPr>
              <a:t>First paraphrase</a:t>
            </a:r>
          </a:p>
        </p:txBody>
      </p:sp>
      <p:sp>
        <p:nvSpPr>
          <p:cNvPr id="13" name="TextBox 12"/>
          <p:cNvSpPr txBox="1"/>
          <p:nvPr/>
        </p:nvSpPr>
        <p:spPr>
          <a:xfrm>
            <a:off x="8988552" y="1545336"/>
            <a:ext cx="274320" cy="365760"/>
          </a:xfrm>
          <a:prstGeom prst="rect">
            <a:avLst/>
          </a:prstGeom>
          <a:noFill/>
        </p:spPr>
        <p:txBody>
          <a:bodyPr wrap="square" lIns="0" rIns="0" tIns="0" bIns="0" anchor="t">
            <a:spAutoFit/>
          </a:bodyPr>
          <a:lstStyle/>
          <a:p>
            <a:pPr algn="ctr">
              <a:lnSpc>
                <a:spcPct val="110000"/>
              </a:lnSpc>
              <a:spcAft>
                <a:spcPts val="0"/>
              </a:spcAft>
            </a:pPr>
            <a:r>
              <a:rPr sz="2250" b="1">
                <a:solidFill>
                  <a:srgbClr val="D8A33A"/>
                </a:solidFill>
                <a:latin typeface="Arial"/>
              </a:rPr>
              <a:t>›</a:t>
            </a:r>
          </a:p>
        </p:txBody>
      </p:sp>
      <p:sp>
        <p:nvSpPr>
          <p:cNvPr id="14" name="Rounded Rectangle 13"/>
          <p:cNvSpPr/>
          <p:nvPr/>
        </p:nvSpPr>
        <p:spPr>
          <a:xfrm>
            <a:off x="9317736" y="1527048"/>
            <a:ext cx="822960" cy="822960"/>
          </a:xfrm>
          <a:prstGeom prst="roundRect">
            <a:avLst>
              <a:gd name="adj" fmla="val 14000"/>
            </a:avLst>
          </a:prstGeom>
          <a:solidFill>
            <a:srgbClr val="2F6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17736" y="1636776"/>
            <a:ext cx="822960" cy="365760"/>
          </a:xfrm>
          <a:prstGeom prst="rect">
            <a:avLst/>
          </a:prstGeom>
          <a:noFill/>
        </p:spPr>
        <p:txBody>
          <a:bodyPr wrap="square" lIns="0" rIns="0" tIns="0" bIns="0" anchor="t">
            <a:spAutoFit/>
          </a:bodyPr>
          <a:lstStyle/>
          <a:p>
            <a:pPr algn="ctr">
              <a:lnSpc>
                <a:spcPct val="110000"/>
              </a:lnSpc>
              <a:spcAft>
                <a:spcPts val="0"/>
              </a:spcAft>
            </a:pPr>
            <a:r>
              <a:rPr sz="1650" b="1">
                <a:solidFill>
                  <a:srgbClr val="FFFFFF"/>
                </a:solidFill>
                <a:latin typeface="Arial"/>
              </a:rPr>
              <a:t>T2</a:t>
            </a:r>
          </a:p>
        </p:txBody>
      </p:sp>
      <p:sp>
        <p:nvSpPr>
          <p:cNvPr id="16" name="TextBox 15"/>
          <p:cNvSpPr txBox="1"/>
          <p:nvPr/>
        </p:nvSpPr>
        <p:spPr>
          <a:xfrm>
            <a:off x="9180576" y="2423160"/>
            <a:ext cx="1097280" cy="274320"/>
          </a:xfrm>
          <a:prstGeom prst="rect">
            <a:avLst/>
          </a:prstGeom>
          <a:noFill/>
        </p:spPr>
        <p:txBody>
          <a:bodyPr wrap="square" lIns="0" rIns="0" tIns="0" bIns="0" anchor="t">
            <a:spAutoFit/>
          </a:bodyPr>
          <a:lstStyle/>
          <a:p>
            <a:pPr algn="ctr">
              <a:lnSpc>
                <a:spcPct val="110000"/>
              </a:lnSpc>
              <a:spcAft>
                <a:spcPts val="0"/>
              </a:spcAft>
            </a:pPr>
            <a:r>
              <a:rPr sz="825" b="0">
                <a:solidFill>
                  <a:srgbClr val="5C6678"/>
                </a:solidFill>
                <a:latin typeface="Arial"/>
              </a:rPr>
              <a:t>Second paraphrase</a:t>
            </a:r>
          </a:p>
        </p:txBody>
      </p:sp>
      <p:sp>
        <p:nvSpPr>
          <p:cNvPr id="17" name="TextBox 16"/>
          <p:cNvSpPr txBox="1"/>
          <p:nvPr/>
        </p:nvSpPr>
        <p:spPr>
          <a:xfrm>
            <a:off x="10113263" y="1755648"/>
            <a:ext cx="274320" cy="365760"/>
          </a:xfrm>
          <a:prstGeom prst="rect">
            <a:avLst/>
          </a:prstGeom>
          <a:noFill/>
        </p:spPr>
        <p:txBody>
          <a:bodyPr wrap="square" lIns="0" rIns="0" tIns="0" bIns="0" anchor="t">
            <a:spAutoFit/>
          </a:bodyPr>
          <a:lstStyle/>
          <a:p>
            <a:pPr algn="ctr">
              <a:lnSpc>
                <a:spcPct val="110000"/>
              </a:lnSpc>
              <a:spcAft>
                <a:spcPts val="0"/>
              </a:spcAft>
            </a:pPr>
            <a:r>
              <a:rPr sz="2250" b="1">
                <a:solidFill>
                  <a:srgbClr val="D8A33A"/>
                </a:solidFill>
                <a:latin typeface="Arial"/>
              </a:rPr>
              <a:t>›</a:t>
            </a:r>
          </a:p>
        </p:txBody>
      </p:sp>
      <p:sp>
        <p:nvSpPr>
          <p:cNvPr id="18" name="Rounded Rectangle 17"/>
          <p:cNvSpPr/>
          <p:nvPr/>
        </p:nvSpPr>
        <p:spPr>
          <a:xfrm>
            <a:off x="10442448" y="1737360"/>
            <a:ext cx="822960" cy="822960"/>
          </a:xfrm>
          <a:prstGeom prst="roundRect">
            <a:avLst>
              <a:gd name="adj" fmla="val 14000"/>
            </a:avLst>
          </a:prstGeom>
          <a:solidFill>
            <a:srgbClr val="2F6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42448" y="1847088"/>
            <a:ext cx="822960" cy="365760"/>
          </a:xfrm>
          <a:prstGeom prst="rect">
            <a:avLst/>
          </a:prstGeom>
          <a:noFill/>
        </p:spPr>
        <p:txBody>
          <a:bodyPr wrap="square" lIns="0" rIns="0" tIns="0" bIns="0" anchor="t">
            <a:spAutoFit/>
          </a:bodyPr>
          <a:lstStyle/>
          <a:p>
            <a:pPr algn="ctr">
              <a:lnSpc>
                <a:spcPct val="110000"/>
              </a:lnSpc>
              <a:spcAft>
                <a:spcPts val="0"/>
              </a:spcAft>
            </a:pPr>
            <a:r>
              <a:rPr sz="1650" b="1">
                <a:solidFill>
                  <a:srgbClr val="FFFFFF"/>
                </a:solidFill>
                <a:latin typeface="Arial"/>
              </a:rPr>
              <a:t>T3</a:t>
            </a:r>
          </a:p>
        </p:txBody>
      </p:sp>
      <p:sp>
        <p:nvSpPr>
          <p:cNvPr id="20" name="TextBox 19"/>
          <p:cNvSpPr txBox="1"/>
          <p:nvPr/>
        </p:nvSpPr>
        <p:spPr>
          <a:xfrm>
            <a:off x="10305288" y="2633472"/>
            <a:ext cx="1097280" cy="274320"/>
          </a:xfrm>
          <a:prstGeom prst="rect">
            <a:avLst/>
          </a:prstGeom>
          <a:noFill/>
        </p:spPr>
        <p:txBody>
          <a:bodyPr wrap="square" lIns="0" rIns="0" tIns="0" bIns="0" anchor="t">
            <a:spAutoFit/>
          </a:bodyPr>
          <a:lstStyle/>
          <a:p>
            <a:pPr algn="ctr">
              <a:lnSpc>
                <a:spcPct val="110000"/>
              </a:lnSpc>
              <a:spcAft>
                <a:spcPts val="0"/>
              </a:spcAft>
            </a:pPr>
            <a:r>
              <a:rPr sz="825" b="0">
                <a:solidFill>
                  <a:srgbClr val="5C6678"/>
                </a:solidFill>
                <a:latin typeface="Arial"/>
              </a:rPr>
              <a:t>Third paraphrase</a:t>
            </a:r>
          </a:p>
        </p:txBody>
      </p:sp>
      <p:sp>
        <p:nvSpPr>
          <p:cNvPr id="21" name="TextBox 20"/>
          <p:cNvSpPr txBox="1"/>
          <p:nvPr/>
        </p:nvSpPr>
        <p:spPr>
          <a:xfrm>
            <a:off x="7242048" y="3429000"/>
            <a:ext cx="4389120" cy="274320"/>
          </a:xfrm>
          <a:prstGeom prst="rect">
            <a:avLst/>
          </a:prstGeom>
          <a:noFill/>
        </p:spPr>
        <p:txBody>
          <a:bodyPr wrap="square" lIns="0" rIns="0" tIns="0" bIns="0" anchor="t">
            <a:spAutoFit/>
          </a:bodyPr>
          <a:lstStyle/>
          <a:p>
            <a:pPr algn="l">
              <a:lnSpc>
                <a:spcPct val="110000"/>
              </a:lnSpc>
              <a:spcAft>
                <a:spcPts val="0"/>
              </a:spcAft>
            </a:pPr>
            <a:r>
              <a:rPr sz="975" b="0">
                <a:solidFill>
                  <a:srgbClr val="5C6678"/>
                </a:solidFill>
                <a:latin typeface="Arial"/>
              </a:rPr>
              <a:t>Measured after three ChatGPT rounds (700 documents)</a:t>
            </a:r>
          </a:p>
        </p:txBody>
      </p:sp>
      <p:sp>
        <p:nvSpPr>
          <p:cNvPr id="22" name="TextBox 21"/>
          <p:cNvSpPr txBox="1"/>
          <p:nvPr/>
        </p:nvSpPr>
        <p:spPr>
          <a:xfrm>
            <a:off x="7242048" y="3794760"/>
            <a:ext cx="3291840" cy="274320"/>
          </a:xfrm>
          <a:prstGeom prst="rect">
            <a:avLst/>
          </a:prstGeom>
          <a:noFill/>
        </p:spPr>
        <p:txBody>
          <a:bodyPr wrap="square" lIns="0" rIns="0" tIns="0" bIns="0" anchor="t">
            <a:spAutoFit/>
          </a:bodyPr>
          <a:lstStyle/>
          <a:p>
            <a:pPr algn="l">
              <a:lnSpc>
                <a:spcPct val="110000"/>
              </a:lnSpc>
              <a:spcAft>
                <a:spcPts val="0"/>
              </a:spcAft>
            </a:pPr>
            <a:r>
              <a:rPr sz="1425" b="1">
                <a:solidFill>
                  <a:srgbClr val="2E7D6A"/>
                </a:solidFill>
                <a:latin typeface="Arial"/>
              </a:rPr>
              <a:t>Meaning kept</a:t>
            </a:r>
          </a:p>
        </p:txBody>
      </p:sp>
      <p:sp>
        <p:nvSpPr>
          <p:cNvPr id="23" name="TextBox 22"/>
          <p:cNvSpPr txBox="1"/>
          <p:nvPr/>
        </p:nvSpPr>
        <p:spPr>
          <a:xfrm>
            <a:off x="10607040" y="3794760"/>
            <a:ext cx="822960" cy="274320"/>
          </a:xfrm>
          <a:prstGeom prst="rect">
            <a:avLst/>
          </a:prstGeom>
          <a:noFill/>
        </p:spPr>
        <p:txBody>
          <a:bodyPr wrap="square" lIns="0" rIns="0" tIns="0" bIns="0" anchor="t">
            <a:spAutoFit/>
          </a:bodyPr>
          <a:lstStyle/>
          <a:p>
            <a:pPr algn="r">
              <a:lnSpc>
                <a:spcPct val="110000"/>
              </a:lnSpc>
              <a:spcAft>
                <a:spcPts val="0"/>
              </a:spcAft>
            </a:pPr>
            <a:r>
              <a:rPr sz="1425" b="1">
                <a:solidFill>
                  <a:srgbClr val="2E7D6A"/>
                </a:solidFill>
                <a:latin typeface="Arial"/>
              </a:rPr>
              <a:t>85%</a:t>
            </a:r>
          </a:p>
        </p:txBody>
      </p:sp>
      <p:sp>
        <p:nvSpPr>
          <p:cNvPr id="24" name="Rounded Rectangle 23"/>
          <p:cNvSpPr/>
          <p:nvPr/>
        </p:nvSpPr>
        <p:spPr>
          <a:xfrm>
            <a:off x="7242048" y="4178808"/>
            <a:ext cx="4206240" cy="146304"/>
          </a:xfrm>
          <a:prstGeom prst="roundRect">
            <a:avLst>
              <a:gd name="adj" fmla="val 50000"/>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42048" y="4178808"/>
            <a:ext cx="3575303" cy="146304"/>
          </a:xfrm>
          <a:prstGeom prst="roundRect">
            <a:avLst>
              <a:gd name="adj" fmla="val 50000"/>
            </a:avLst>
          </a:prstGeom>
          <a:solidFill>
            <a:srgbClr val="2E7D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42048" y="4572000"/>
            <a:ext cx="3291840" cy="274320"/>
          </a:xfrm>
          <a:prstGeom prst="rect">
            <a:avLst/>
          </a:prstGeom>
          <a:noFill/>
        </p:spPr>
        <p:txBody>
          <a:bodyPr wrap="square" lIns="0" rIns="0" tIns="0" bIns="0" anchor="t">
            <a:spAutoFit/>
          </a:bodyPr>
          <a:lstStyle/>
          <a:p>
            <a:pPr algn="l">
              <a:lnSpc>
                <a:spcPct val="110000"/>
              </a:lnSpc>
              <a:spcAft>
                <a:spcPts val="0"/>
              </a:spcAft>
            </a:pPr>
            <a:r>
              <a:rPr sz="1425" b="1">
                <a:solidFill>
                  <a:srgbClr val="C85656"/>
                </a:solidFill>
                <a:latin typeface="Arial"/>
              </a:rPr>
              <a:t>Style kept (best feature group)</a:t>
            </a:r>
          </a:p>
        </p:txBody>
      </p:sp>
      <p:sp>
        <p:nvSpPr>
          <p:cNvPr id="27" name="TextBox 26"/>
          <p:cNvSpPr txBox="1"/>
          <p:nvPr/>
        </p:nvSpPr>
        <p:spPr>
          <a:xfrm>
            <a:off x="10607040" y="4572000"/>
            <a:ext cx="822960" cy="274320"/>
          </a:xfrm>
          <a:prstGeom prst="rect">
            <a:avLst/>
          </a:prstGeom>
          <a:noFill/>
        </p:spPr>
        <p:txBody>
          <a:bodyPr wrap="square" lIns="0" rIns="0" tIns="0" bIns="0" anchor="t">
            <a:spAutoFit/>
          </a:bodyPr>
          <a:lstStyle/>
          <a:p>
            <a:pPr algn="r">
              <a:lnSpc>
                <a:spcPct val="110000"/>
              </a:lnSpc>
              <a:spcAft>
                <a:spcPts val="0"/>
              </a:spcAft>
            </a:pPr>
            <a:r>
              <a:rPr sz="1425" b="1">
                <a:solidFill>
                  <a:srgbClr val="C85656"/>
                </a:solidFill>
                <a:latin typeface="Arial"/>
              </a:rPr>
              <a:t>≤34%</a:t>
            </a:r>
          </a:p>
        </p:txBody>
      </p:sp>
      <p:sp>
        <p:nvSpPr>
          <p:cNvPr id="28" name="Rounded Rectangle 27"/>
          <p:cNvSpPr/>
          <p:nvPr/>
        </p:nvSpPr>
        <p:spPr>
          <a:xfrm>
            <a:off x="7242048" y="4956048"/>
            <a:ext cx="4206240" cy="146304"/>
          </a:xfrm>
          <a:prstGeom prst="roundRect">
            <a:avLst>
              <a:gd name="adj" fmla="val 50000"/>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242048" y="4956048"/>
            <a:ext cx="1430121" cy="146304"/>
          </a:xfrm>
          <a:prstGeom prst="roundRect">
            <a:avLst>
              <a:gd name="adj" fmla="val 50000"/>
            </a:avLst>
          </a:prstGeom>
          <a:solidFill>
            <a:srgbClr val="C856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2376" y="5394960"/>
            <a:ext cx="2743200" cy="274320"/>
          </a:xfrm>
          <a:prstGeom prst="rect">
            <a:avLst/>
          </a:prstGeom>
          <a:noFill/>
        </p:spPr>
        <p:txBody>
          <a:bodyPr wrap="square" lIns="0" rIns="0" tIns="0" bIns="0" anchor="t">
            <a:spAutoFit/>
          </a:bodyPr>
          <a:lstStyle/>
          <a:p>
            <a:pPr algn="l">
              <a:lnSpc>
                <a:spcPct val="110000"/>
              </a:lnSpc>
              <a:spcAft>
                <a:spcPts val="0"/>
              </a:spcAft>
            </a:pPr>
            <a:r>
              <a:rPr sz="975" b="1">
                <a:solidFill>
                  <a:srgbClr val="2F67C7"/>
                </a:solidFill>
                <a:latin typeface="Arial"/>
              </a:rPr>
              <a:t>TEAM 5</a:t>
            </a:r>
          </a:p>
        </p:txBody>
      </p:sp>
      <p:sp>
        <p:nvSpPr>
          <p:cNvPr id="31" name="TextBox 30"/>
          <p:cNvSpPr txBox="1"/>
          <p:nvPr/>
        </p:nvSpPr>
        <p:spPr>
          <a:xfrm>
            <a:off x="722376" y="5678424"/>
            <a:ext cx="10972800" cy="274320"/>
          </a:xfrm>
          <a:prstGeom prst="rect">
            <a:avLst/>
          </a:prstGeom>
          <a:noFill/>
        </p:spPr>
        <p:txBody>
          <a:bodyPr wrap="square" lIns="0" rIns="0" tIns="0" bIns="0" anchor="t">
            <a:spAutoFit/>
          </a:bodyPr>
          <a:lstStyle/>
          <a:p>
            <a:pPr algn="l">
              <a:lnSpc>
                <a:spcPct val="110000"/>
              </a:lnSpc>
              <a:spcAft>
                <a:spcPts val="0"/>
              </a:spcAft>
            </a:pPr>
            <a:r>
              <a:rPr sz="1275" b="0">
                <a:solidFill>
                  <a:srgbClr val="10243E"/>
                </a:solidFill>
                <a:latin typeface="Arial"/>
              </a:rPr>
              <a:t>Preethi Gajawada  •  Tanmayee Durga Bulusu  •  Madhu Babu Cherukuri  •  Teja Papadasu</a:t>
            </a:r>
          </a:p>
        </p:txBody>
      </p:sp>
      <p:sp>
        <p:nvSpPr>
          <p:cNvPr id="32" name="TextBox 31"/>
          <p:cNvSpPr txBox="1"/>
          <p:nvPr/>
        </p:nvSpPr>
        <p:spPr>
          <a:xfrm>
            <a:off x="512064" y="6446520"/>
            <a:ext cx="11155680" cy="274320"/>
          </a:xfrm>
          <a:prstGeom prst="rect">
            <a:avLst/>
          </a:prstGeom>
          <a:noFill/>
        </p:spPr>
        <p:txBody>
          <a:bodyPr wrap="square" lIns="0" rIns="0" tIns="0" bIns="0" anchor="t">
            <a:spAutoFit/>
          </a:bodyPr>
          <a:lstStyle/>
          <a:p>
            <a:pPr algn="l">
              <a:lnSpc>
                <a:spcPct val="110000"/>
              </a:lnSpc>
              <a:spcAft>
                <a:spcPts val="0"/>
              </a:spcAft>
            </a:pPr>
            <a:r>
              <a:rPr sz="825" b="0">
                <a:solidFill>
                  <a:srgbClr val="5C6678"/>
                </a:solidFill>
                <a:latin typeface="Arial"/>
              </a:rPr>
              <a:t>NLP Project  |  Northeastern University  |  Ship of Theseus paraphrased corpus (Tripto et al., ACL 2024)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12064" y="320040"/>
            <a:ext cx="548640" cy="320040"/>
          </a:xfrm>
          <a:prstGeom prst="rect">
            <a:avLst/>
          </a:prstGeom>
          <a:noFill/>
        </p:spPr>
        <p:txBody>
          <a:bodyPr wrap="square" lIns="0" rIns="0" tIns="0" bIns="0" anchor="t">
            <a:spAutoFit/>
          </a:bodyPr>
          <a:lstStyle/>
          <a:p>
            <a:pPr algn="l">
              <a:lnSpc>
                <a:spcPct val="110000"/>
              </a:lnSpc>
              <a:spcAft>
                <a:spcPts val="0"/>
              </a:spcAft>
            </a:pPr>
            <a:r>
              <a:rPr sz="1125" b="1">
                <a:solidFill>
                  <a:srgbClr val="2F67C7"/>
                </a:solidFill>
                <a:latin typeface="Arial"/>
              </a:rPr>
              <a:t>02</a:t>
            </a:r>
          </a:p>
        </p:txBody>
      </p:sp>
      <p:sp>
        <p:nvSpPr>
          <p:cNvPr id="3" name="TextBox 2"/>
          <p:cNvSpPr txBox="1"/>
          <p:nvPr/>
        </p:nvSpPr>
        <p:spPr>
          <a:xfrm>
            <a:off x="1069848" y="246888"/>
            <a:ext cx="10424160" cy="548640"/>
          </a:xfrm>
          <a:prstGeom prst="rect">
            <a:avLst/>
          </a:prstGeom>
          <a:noFill/>
        </p:spPr>
        <p:txBody>
          <a:bodyPr wrap="square" lIns="0" rIns="0" tIns="0" bIns="0" anchor="t">
            <a:spAutoFit/>
          </a:bodyPr>
          <a:lstStyle/>
          <a:p>
            <a:pPr algn="l">
              <a:lnSpc>
                <a:spcPct val="110000"/>
              </a:lnSpc>
              <a:spcAft>
                <a:spcPts val="0"/>
              </a:spcAft>
            </a:pPr>
            <a:r>
              <a:rPr sz="2325" b="1">
                <a:solidFill>
                  <a:srgbClr val="10243E"/>
                </a:solidFill>
                <a:latin typeface="Arial"/>
              </a:rPr>
              <a:t>Where we are</a:t>
            </a:r>
          </a:p>
        </p:txBody>
      </p:sp>
      <p:sp>
        <p:nvSpPr>
          <p:cNvPr id="4" name="TextBox 3"/>
          <p:cNvSpPr txBox="1"/>
          <p:nvPr/>
        </p:nvSpPr>
        <p:spPr>
          <a:xfrm>
            <a:off x="1069848" y="758952"/>
            <a:ext cx="10424160" cy="274320"/>
          </a:xfrm>
          <a:prstGeom prst="rect">
            <a:avLst/>
          </a:prstGeom>
          <a:noFill/>
        </p:spPr>
        <p:txBody>
          <a:bodyPr wrap="square" lIns="0" rIns="0" tIns="0" bIns="0" anchor="t">
            <a:spAutoFit/>
          </a:bodyPr>
          <a:lstStyle/>
          <a:p>
            <a:pPr algn="l">
              <a:lnSpc>
                <a:spcPct val="110000"/>
              </a:lnSpc>
              <a:spcAft>
                <a:spcPts val="0"/>
              </a:spcAft>
            </a:pPr>
            <a:r>
              <a:rPr sz="1050" b="0">
                <a:solidFill>
                  <a:srgbClr val="5C6678"/>
                </a:solidFill>
                <a:latin typeface="Arial"/>
              </a:rPr>
              <a:t>Weeks 1–8 complete; checkpoints met for Weeks 2, 4, 6 and 8</a:t>
            </a:r>
          </a:p>
        </p:txBody>
      </p:sp>
      <p:sp>
        <p:nvSpPr>
          <p:cNvPr id="5" name="Rectangle 4"/>
          <p:cNvSpPr/>
          <p:nvPr/>
        </p:nvSpPr>
        <p:spPr>
          <a:xfrm>
            <a:off x="512064" y="1069848"/>
            <a:ext cx="11164824" cy="18288"/>
          </a:xfrm>
          <a:prstGeom prst="rect">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44752"/>
            <a:ext cx="2606040" cy="3749039"/>
          </a:xfrm>
          <a:prstGeom prst="roundRect">
            <a:avLst>
              <a:gd name="adj" fmla="val 4000"/>
            </a:avLst>
          </a:prstGeom>
          <a:solidFill>
            <a:srgbClr val="F6F8FB"/>
          </a:solidFill>
          <a:ln w="9525">
            <a:solidFill>
              <a:srgbClr val="2F67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444752"/>
            <a:ext cx="2606040" cy="73152"/>
          </a:xfrm>
          <a:prstGeom prst="roundRect">
            <a:avLst>
              <a:gd name="adj" fmla="val 50000"/>
            </a:avLst>
          </a:prstGeom>
          <a:solidFill>
            <a:srgbClr val="2F6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 y="1719072"/>
            <a:ext cx="2286000" cy="274320"/>
          </a:xfrm>
          <a:prstGeom prst="rect">
            <a:avLst/>
          </a:prstGeom>
          <a:noFill/>
        </p:spPr>
        <p:txBody>
          <a:bodyPr wrap="square" lIns="0" rIns="0" tIns="0" bIns="0" anchor="t">
            <a:spAutoFit/>
          </a:bodyPr>
          <a:lstStyle/>
          <a:p>
            <a:pPr algn="l">
              <a:lnSpc>
                <a:spcPct val="110000"/>
              </a:lnSpc>
              <a:spcAft>
                <a:spcPts val="0"/>
              </a:spcAft>
            </a:pPr>
            <a:r>
              <a:rPr sz="975" b="1">
                <a:solidFill>
                  <a:srgbClr val="2F67C7"/>
                </a:solidFill>
                <a:latin typeface="Arial"/>
              </a:rPr>
              <a:t>WEEKS 1–4</a:t>
            </a:r>
          </a:p>
        </p:txBody>
      </p:sp>
      <p:sp>
        <p:nvSpPr>
          <p:cNvPr id="9" name="TextBox 8"/>
          <p:cNvSpPr txBox="1"/>
          <p:nvPr/>
        </p:nvSpPr>
        <p:spPr>
          <a:xfrm>
            <a:off x="722376" y="2011680"/>
            <a:ext cx="2286000" cy="640080"/>
          </a:xfrm>
          <a:prstGeom prst="rect">
            <a:avLst/>
          </a:prstGeom>
          <a:noFill/>
        </p:spPr>
        <p:txBody>
          <a:bodyPr wrap="square" lIns="0" rIns="0" tIns="0" bIns="0" anchor="t">
            <a:spAutoFit/>
          </a:bodyPr>
          <a:lstStyle/>
          <a:p>
            <a:pPr algn="l">
              <a:lnSpc>
                <a:spcPct val="110000"/>
              </a:lnSpc>
              <a:spcAft>
                <a:spcPts val="0"/>
              </a:spcAft>
            </a:pPr>
            <a:r>
              <a:rPr sz="1650" b="1">
                <a:solidFill>
                  <a:srgbClr val="10243E"/>
                </a:solidFill>
                <a:latin typeface="Arial"/>
              </a:rPr>
              <a:t>Data and baselines</a:t>
            </a:r>
          </a:p>
        </p:txBody>
      </p:sp>
      <p:sp>
        <p:nvSpPr>
          <p:cNvPr id="10" name="TextBox 9"/>
          <p:cNvSpPr txBox="1"/>
          <p:nvPr/>
        </p:nvSpPr>
        <p:spPr>
          <a:xfrm>
            <a:off x="722376" y="2788920"/>
            <a:ext cx="2286000" cy="1554480"/>
          </a:xfrm>
          <a:prstGeom prst="rect">
            <a:avLst/>
          </a:prstGeom>
          <a:noFill/>
        </p:spPr>
        <p:txBody>
          <a:bodyPr wrap="square" lIns="0" rIns="0" tIns="0" bIns="0" anchor="t">
            <a:spAutoFit/>
          </a:bodyPr>
          <a:lstStyle/>
          <a:p>
            <a:pPr algn="l">
              <a:lnSpc>
                <a:spcPct val="110000"/>
              </a:lnSpc>
              <a:spcAft>
                <a:spcPts val="600"/>
              </a:spcAft>
            </a:pPr>
            <a:r>
              <a:rPr sz="1125" b="0">
                <a:solidFill>
                  <a:srgbClr val="5C6678"/>
                </a:solidFill>
                <a:latin typeface="Arial"/>
              </a:rPr>
              <a:t>•  Corpus loaded: 7 datasets, 14 files</a:t>
            </a:r>
          </a:p>
          <a:p>
            <a:pPr algn="l">
              <a:lnSpc>
                <a:spcPct val="110000"/>
              </a:lnSpc>
              <a:spcAft>
                <a:spcPts val="600"/>
              </a:spcAft>
            </a:pPr>
            <a:r>
              <a:rPr sz="1125" b="0">
                <a:solidFill>
                  <a:srgbClr val="5C6678"/>
                </a:solidFill>
                <a:latin typeface="Arial"/>
              </a:rPr>
              <a:t>•  Cleaning, chain alignment, splits</a:t>
            </a:r>
          </a:p>
          <a:p>
            <a:pPr algn="l">
              <a:lnSpc>
                <a:spcPct val="110000"/>
              </a:lnSpc>
              <a:spcAft>
                <a:spcPts val="600"/>
              </a:spcAft>
            </a:pPr>
            <a:r>
              <a:rPr sz="1125" b="0">
                <a:solidFill>
                  <a:srgbClr val="5C6678"/>
                </a:solidFill>
                <a:latin typeface="Arial"/>
              </a:rPr>
              <a:t>•  BLEU, ROUGE-L, BERTScore, SBERT</a:t>
            </a:r>
          </a:p>
        </p:txBody>
      </p:sp>
      <p:sp>
        <p:nvSpPr>
          <p:cNvPr id="11" name="Rectangle 10"/>
          <p:cNvSpPr/>
          <p:nvPr/>
        </p:nvSpPr>
        <p:spPr>
          <a:xfrm>
            <a:off x="722376" y="4526280"/>
            <a:ext cx="2258568" cy="9144"/>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22376" y="4681728"/>
            <a:ext cx="1005840" cy="310896"/>
          </a:xfrm>
          <a:prstGeom prst="roundRect">
            <a:avLst>
              <a:gd name="adj" fmla="val 50000"/>
            </a:avLst>
          </a:prstGeom>
          <a:solidFill>
            <a:srgbClr val="2F67C7"/>
          </a:solidFill>
          <a:ln w="9525">
            <a:solidFill>
              <a:srgbClr val="2F67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2376" y="4718304"/>
            <a:ext cx="1005840" cy="274320"/>
          </a:xfrm>
          <a:prstGeom prst="rect">
            <a:avLst/>
          </a:prstGeom>
          <a:noFill/>
        </p:spPr>
        <p:txBody>
          <a:bodyPr wrap="square" lIns="0" rIns="0" tIns="0" bIns="0" anchor="t">
            <a:spAutoFit/>
          </a:bodyPr>
          <a:lstStyle/>
          <a:p>
            <a:pPr algn="ctr">
              <a:lnSpc>
                <a:spcPct val="110000"/>
              </a:lnSpc>
              <a:spcAft>
                <a:spcPts val="0"/>
              </a:spcAft>
            </a:pPr>
            <a:r>
              <a:rPr sz="1050" b="1">
                <a:solidFill>
                  <a:srgbClr val="FFFFFF"/>
                </a:solidFill>
                <a:latin typeface="Arial"/>
              </a:rPr>
              <a:t>Done</a:t>
            </a:r>
          </a:p>
        </p:txBody>
      </p:sp>
      <p:sp>
        <p:nvSpPr>
          <p:cNvPr id="14" name="Rounded Rectangle 13"/>
          <p:cNvSpPr/>
          <p:nvPr/>
        </p:nvSpPr>
        <p:spPr>
          <a:xfrm>
            <a:off x="3337560" y="1444752"/>
            <a:ext cx="2606040" cy="3749039"/>
          </a:xfrm>
          <a:prstGeom prst="roundRect">
            <a:avLst>
              <a:gd name="adj" fmla="val 4000"/>
            </a:avLst>
          </a:prstGeom>
          <a:solidFill>
            <a:srgbClr val="F6F8FB"/>
          </a:solidFill>
          <a:ln w="9525">
            <a:solidFill>
              <a:srgbClr val="587F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337560" y="1444752"/>
            <a:ext cx="2606040" cy="73152"/>
          </a:xfrm>
          <a:prstGeom prst="roundRect">
            <a:avLst>
              <a:gd name="adj" fmla="val 50000"/>
            </a:avLst>
          </a:prstGeom>
          <a:solidFill>
            <a:srgbClr val="587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11296" y="1719072"/>
            <a:ext cx="2286000" cy="274320"/>
          </a:xfrm>
          <a:prstGeom prst="rect">
            <a:avLst/>
          </a:prstGeom>
          <a:noFill/>
        </p:spPr>
        <p:txBody>
          <a:bodyPr wrap="square" lIns="0" rIns="0" tIns="0" bIns="0" anchor="t">
            <a:spAutoFit/>
          </a:bodyPr>
          <a:lstStyle/>
          <a:p>
            <a:pPr algn="l">
              <a:lnSpc>
                <a:spcPct val="110000"/>
              </a:lnSpc>
              <a:spcAft>
                <a:spcPts val="0"/>
              </a:spcAft>
            </a:pPr>
            <a:r>
              <a:rPr sz="975" b="1">
                <a:solidFill>
                  <a:srgbClr val="587FB8"/>
                </a:solidFill>
                <a:latin typeface="Arial"/>
              </a:rPr>
              <a:t>WEEKS 5–8</a:t>
            </a:r>
          </a:p>
        </p:txBody>
      </p:sp>
      <p:sp>
        <p:nvSpPr>
          <p:cNvPr id="17" name="TextBox 16"/>
          <p:cNvSpPr txBox="1"/>
          <p:nvPr/>
        </p:nvSpPr>
        <p:spPr>
          <a:xfrm>
            <a:off x="3511296" y="2011680"/>
            <a:ext cx="2286000" cy="640080"/>
          </a:xfrm>
          <a:prstGeom prst="rect">
            <a:avLst/>
          </a:prstGeom>
          <a:noFill/>
        </p:spPr>
        <p:txBody>
          <a:bodyPr wrap="square" lIns="0" rIns="0" tIns="0" bIns="0" anchor="t">
            <a:spAutoFit/>
          </a:bodyPr>
          <a:lstStyle/>
          <a:p>
            <a:pPr algn="l">
              <a:lnSpc>
                <a:spcPct val="110000"/>
              </a:lnSpc>
              <a:spcAft>
                <a:spcPts val="0"/>
              </a:spcAft>
            </a:pPr>
            <a:r>
              <a:rPr sz="1650" b="1">
                <a:solidFill>
                  <a:srgbClr val="10243E"/>
                </a:solidFill>
                <a:latin typeface="Arial"/>
              </a:rPr>
              <a:t>Feature profiling · RQ1</a:t>
            </a:r>
          </a:p>
        </p:txBody>
      </p:sp>
      <p:sp>
        <p:nvSpPr>
          <p:cNvPr id="18" name="TextBox 17"/>
          <p:cNvSpPr txBox="1"/>
          <p:nvPr/>
        </p:nvSpPr>
        <p:spPr>
          <a:xfrm>
            <a:off x="3511296" y="2788920"/>
            <a:ext cx="2286000" cy="1554480"/>
          </a:xfrm>
          <a:prstGeom prst="rect">
            <a:avLst/>
          </a:prstGeom>
          <a:noFill/>
        </p:spPr>
        <p:txBody>
          <a:bodyPr wrap="square" lIns="0" rIns="0" tIns="0" bIns="0" anchor="t">
            <a:spAutoFit/>
          </a:bodyPr>
          <a:lstStyle/>
          <a:p>
            <a:pPr algn="l">
              <a:lnSpc>
                <a:spcPct val="110000"/>
              </a:lnSpc>
              <a:spcAft>
                <a:spcPts val="600"/>
              </a:spcAft>
            </a:pPr>
            <a:r>
              <a:rPr sz="1125" b="0">
                <a:solidFill>
                  <a:srgbClr val="5C6678"/>
                </a:solidFill>
                <a:latin typeface="Arial"/>
              </a:rPr>
              <a:t>•  Lexical + syntactic features (spaCy)</a:t>
            </a:r>
          </a:p>
          <a:p>
            <a:pPr algn="l">
              <a:lnSpc>
                <a:spcPct val="110000"/>
              </a:lnSpc>
              <a:spcAft>
                <a:spcPts val="600"/>
              </a:spcAft>
            </a:pPr>
            <a:r>
              <a:rPr sz="1125" b="0">
                <a:solidFill>
                  <a:srgbClr val="5C6678"/>
                </a:solidFill>
                <a:latin typeface="Arial"/>
              </a:rPr>
              <a:t>•  Per-document decay on one scale</a:t>
            </a:r>
          </a:p>
          <a:p>
            <a:pPr algn="l">
              <a:lnSpc>
                <a:spcPct val="110000"/>
              </a:lnSpc>
              <a:spcAft>
                <a:spcPts val="600"/>
              </a:spcAft>
            </a:pPr>
            <a:r>
              <a:rPr sz="1125" b="0">
                <a:solidFill>
                  <a:srgbClr val="5C6678"/>
                </a:solidFill>
                <a:latin typeface="Arial"/>
              </a:rPr>
              <a:t>•  Preliminary answer to RQ1</a:t>
            </a:r>
          </a:p>
        </p:txBody>
      </p:sp>
      <p:sp>
        <p:nvSpPr>
          <p:cNvPr id="19" name="Rectangle 18"/>
          <p:cNvSpPr/>
          <p:nvPr/>
        </p:nvSpPr>
        <p:spPr>
          <a:xfrm>
            <a:off x="3511296" y="4526280"/>
            <a:ext cx="2258568" cy="9144"/>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511296" y="4681728"/>
            <a:ext cx="1005840" cy="310896"/>
          </a:xfrm>
          <a:prstGeom prst="roundRect">
            <a:avLst>
              <a:gd name="adj" fmla="val 50000"/>
            </a:avLst>
          </a:prstGeom>
          <a:solidFill>
            <a:srgbClr val="587FB8"/>
          </a:solidFill>
          <a:ln w="9525">
            <a:solidFill>
              <a:srgbClr val="587F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11296" y="4718304"/>
            <a:ext cx="1005840" cy="274320"/>
          </a:xfrm>
          <a:prstGeom prst="rect">
            <a:avLst/>
          </a:prstGeom>
          <a:noFill/>
        </p:spPr>
        <p:txBody>
          <a:bodyPr wrap="square" lIns="0" rIns="0" tIns="0" bIns="0" anchor="t">
            <a:spAutoFit/>
          </a:bodyPr>
          <a:lstStyle/>
          <a:p>
            <a:pPr algn="ctr">
              <a:lnSpc>
                <a:spcPct val="110000"/>
              </a:lnSpc>
              <a:spcAft>
                <a:spcPts val="0"/>
              </a:spcAft>
            </a:pPr>
            <a:r>
              <a:rPr sz="1050" b="1">
                <a:solidFill>
                  <a:srgbClr val="FFFFFF"/>
                </a:solidFill>
                <a:latin typeface="Arial"/>
              </a:rPr>
              <a:t>Done</a:t>
            </a:r>
          </a:p>
        </p:txBody>
      </p:sp>
      <p:sp>
        <p:nvSpPr>
          <p:cNvPr id="22" name="Rounded Rectangle 21"/>
          <p:cNvSpPr/>
          <p:nvPr/>
        </p:nvSpPr>
        <p:spPr>
          <a:xfrm>
            <a:off x="6126479" y="1444752"/>
            <a:ext cx="2606040" cy="3749039"/>
          </a:xfrm>
          <a:prstGeom prst="roundRect">
            <a:avLst>
              <a:gd name="adj" fmla="val 4000"/>
            </a:avLst>
          </a:prstGeom>
          <a:solidFill>
            <a:srgbClr val="F6F8FB"/>
          </a:solidFill>
          <a:ln w="9525">
            <a:solidFill>
              <a:srgbClr val="2E7D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126479" y="1444752"/>
            <a:ext cx="2606040" cy="73152"/>
          </a:xfrm>
          <a:prstGeom prst="roundRect">
            <a:avLst>
              <a:gd name="adj" fmla="val 50000"/>
            </a:avLst>
          </a:prstGeom>
          <a:solidFill>
            <a:srgbClr val="2E7D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0216" y="1719072"/>
            <a:ext cx="2286000" cy="274320"/>
          </a:xfrm>
          <a:prstGeom prst="rect">
            <a:avLst/>
          </a:prstGeom>
          <a:noFill/>
        </p:spPr>
        <p:txBody>
          <a:bodyPr wrap="square" lIns="0" rIns="0" tIns="0" bIns="0" anchor="t">
            <a:spAutoFit/>
          </a:bodyPr>
          <a:lstStyle/>
          <a:p>
            <a:pPr algn="l">
              <a:lnSpc>
                <a:spcPct val="110000"/>
              </a:lnSpc>
              <a:spcAft>
                <a:spcPts val="0"/>
              </a:spcAft>
            </a:pPr>
            <a:r>
              <a:rPr sz="975" b="1">
                <a:solidFill>
                  <a:srgbClr val="2E7D6A"/>
                </a:solidFill>
                <a:latin typeface="Arial"/>
              </a:rPr>
              <a:t>WEEKS 9–12</a:t>
            </a:r>
          </a:p>
        </p:txBody>
      </p:sp>
      <p:sp>
        <p:nvSpPr>
          <p:cNvPr id="25" name="TextBox 24"/>
          <p:cNvSpPr txBox="1"/>
          <p:nvPr/>
        </p:nvSpPr>
        <p:spPr>
          <a:xfrm>
            <a:off x="6300216" y="2011680"/>
            <a:ext cx="2286000" cy="640080"/>
          </a:xfrm>
          <a:prstGeom prst="rect">
            <a:avLst/>
          </a:prstGeom>
          <a:noFill/>
        </p:spPr>
        <p:txBody>
          <a:bodyPr wrap="square" lIns="0" rIns="0" tIns="0" bIns="0" anchor="t">
            <a:spAutoFit/>
          </a:bodyPr>
          <a:lstStyle/>
          <a:p>
            <a:pPr algn="l">
              <a:lnSpc>
                <a:spcPct val="110000"/>
              </a:lnSpc>
              <a:spcAft>
                <a:spcPts val="0"/>
              </a:spcAft>
            </a:pPr>
            <a:r>
              <a:rPr sz="1650" b="1">
                <a:solidFill>
                  <a:srgbClr val="10243E"/>
                </a:solidFill>
                <a:latin typeface="Arial"/>
              </a:rPr>
              <a:t>Identity forensics · RQ2, RQ3</a:t>
            </a:r>
          </a:p>
        </p:txBody>
      </p:sp>
      <p:sp>
        <p:nvSpPr>
          <p:cNvPr id="26" name="TextBox 25"/>
          <p:cNvSpPr txBox="1"/>
          <p:nvPr/>
        </p:nvSpPr>
        <p:spPr>
          <a:xfrm>
            <a:off x="6300216" y="2788920"/>
            <a:ext cx="2286000" cy="1554480"/>
          </a:xfrm>
          <a:prstGeom prst="rect">
            <a:avLst/>
          </a:prstGeom>
          <a:noFill/>
        </p:spPr>
        <p:txBody>
          <a:bodyPr wrap="square" lIns="0" rIns="0" tIns="0" bIns="0" anchor="t">
            <a:spAutoFit/>
          </a:bodyPr>
          <a:lstStyle/>
          <a:p>
            <a:pPr algn="l">
              <a:lnSpc>
                <a:spcPct val="110000"/>
              </a:lnSpc>
              <a:spcAft>
                <a:spcPts val="600"/>
              </a:spcAft>
            </a:pPr>
            <a:r>
              <a:rPr sz="1125" b="0">
                <a:solidFill>
                  <a:srgbClr val="5C6678"/>
                </a:solidFill>
                <a:latin typeface="Arial"/>
              </a:rPr>
              <a:t>•  Attribution: SVM + RoBERTa</a:t>
            </a:r>
          </a:p>
          <a:p>
            <a:pPr algn="l">
              <a:lnSpc>
                <a:spcPct val="110000"/>
              </a:lnSpc>
              <a:spcAft>
                <a:spcPts val="600"/>
              </a:spcAft>
            </a:pPr>
            <a:r>
              <a:rPr sz="1125" b="0">
                <a:solidFill>
                  <a:srgbClr val="5C6678"/>
                </a:solidFill>
                <a:latin typeface="Arial"/>
              </a:rPr>
              <a:t>•  Point of no return per paraphraser</a:t>
            </a:r>
          </a:p>
          <a:p>
            <a:pPr algn="l">
              <a:lnSpc>
                <a:spcPct val="110000"/>
              </a:lnSpc>
              <a:spcAft>
                <a:spcPts val="600"/>
              </a:spcAft>
            </a:pPr>
            <a:r>
              <a:rPr sz="1125" b="0">
                <a:solidFill>
                  <a:srgbClr val="5C6678"/>
                </a:solidFill>
                <a:latin typeface="Arial"/>
              </a:rPr>
              <a:t>•  Paraphraser fingerprinting</a:t>
            </a:r>
          </a:p>
        </p:txBody>
      </p:sp>
      <p:sp>
        <p:nvSpPr>
          <p:cNvPr id="27" name="Rectangle 26"/>
          <p:cNvSpPr/>
          <p:nvPr/>
        </p:nvSpPr>
        <p:spPr>
          <a:xfrm>
            <a:off x="6300216" y="4526280"/>
            <a:ext cx="2258568" cy="9144"/>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00216" y="4681728"/>
            <a:ext cx="1005840" cy="310896"/>
          </a:xfrm>
          <a:prstGeom prst="roundRect">
            <a:avLst>
              <a:gd name="adj" fmla="val 50000"/>
            </a:avLst>
          </a:prstGeom>
          <a:solidFill>
            <a:srgbClr val="FFFFFF"/>
          </a:solidFill>
          <a:ln w="9525">
            <a:solidFill>
              <a:srgbClr val="2E7D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00216" y="4718304"/>
            <a:ext cx="1005840" cy="274320"/>
          </a:xfrm>
          <a:prstGeom prst="rect">
            <a:avLst/>
          </a:prstGeom>
          <a:noFill/>
        </p:spPr>
        <p:txBody>
          <a:bodyPr wrap="square" lIns="0" rIns="0" tIns="0" bIns="0" anchor="t">
            <a:spAutoFit/>
          </a:bodyPr>
          <a:lstStyle/>
          <a:p>
            <a:pPr algn="ctr">
              <a:lnSpc>
                <a:spcPct val="110000"/>
              </a:lnSpc>
              <a:spcAft>
                <a:spcPts val="0"/>
              </a:spcAft>
            </a:pPr>
            <a:r>
              <a:rPr sz="1050" b="1">
                <a:solidFill>
                  <a:srgbClr val="2E7D6A"/>
                </a:solidFill>
                <a:latin typeface="Arial"/>
              </a:rPr>
              <a:t>Next</a:t>
            </a:r>
          </a:p>
        </p:txBody>
      </p:sp>
      <p:sp>
        <p:nvSpPr>
          <p:cNvPr id="30" name="Rounded Rectangle 29"/>
          <p:cNvSpPr/>
          <p:nvPr/>
        </p:nvSpPr>
        <p:spPr>
          <a:xfrm>
            <a:off x="8915399" y="1444752"/>
            <a:ext cx="2606040" cy="3749039"/>
          </a:xfrm>
          <a:prstGeom prst="roundRect">
            <a:avLst>
              <a:gd name="adj" fmla="val 4000"/>
            </a:avLst>
          </a:prstGeom>
          <a:solidFill>
            <a:srgbClr val="F6F8FB"/>
          </a:solidFill>
          <a:ln w="9525">
            <a:solidFill>
              <a:srgbClr val="D8A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915399" y="1444752"/>
            <a:ext cx="2606040" cy="73152"/>
          </a:xfrm>
          <a:prstGeom prst="roundRect">
            <a:avLst>
              <a:gd name="adj" fmla="val 50000"/>
            </a:avLst>
          </a:prstGeom>
          <a:solidFill>
            <a:srgbClr val="D8A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89135" y="1719072"/>
            <a:ext cx="2286000" cy="274320"/>
          </a:xfrm>
          <a:prstGeom prst="rect">
            <a:avLst/>
          </a:prstGeom>
          <a:noFill/>
        </p:spPr>
        <p:txBody>
          <a:bodyPr wrap="square" lIns="0" rIns="0" tIns="0" bIns="0" anchor="t">
            <a:spAutoFit/>
          </a:bodyPr>
          <a:lstStyle/>
          <a:p>
            <a:pPr algn="l">
              <a:lnSpc>
                <a:spcPct val="110000"/>
              </a:lnSpc>
              <a:spcAft>
                <a:spcPts val="0"/>
              </a:spcAft>
            </a:pPr>
            <a:r>
              <a:rPr sz="975" b="1">
                <a:solidFill>
                  <a:srgbClr val="D8A33A"/>
                </a:solidFill>
                <a:latin typeface="Arial"/>
              </a:rPr>
              <a:t>WEEKS 13–14</a:t>
            </a:r>
          </a:p>
        </p:txBody>
      </p:sp>
      <p:sp>
        <p:nvSpPr>
          <p:cNvPr id="33" name="TextBox 32"/>
          <p:cNvSpPr txBox="1"/>
          <p:nvPr/>
        </p:nvSpPr>
        <p:spPr>
          <a:xfrm>
            <a:off x="9089135" y="2011680"/>
            <a:ext cx="2286000" cy="640080"/>
          </a:xfrm>
          <a:prstGeom prst="rect">
            <a:avLst/>
          </a:prstGeom>
          <a:noFill/>
        </p:spPr>
        <p:txBody>
          <a:bodyPr wrap="square" lIns="0" rIns="0" tIns="0" bIns="0" anchor="t">
            <a:spAutoFit/>
          </a:bodyPr>
          <a:lstStyle/>
          <a:p>
            <a:pPr algn="l">
              <a:lnSpc>
                <a:spcPct val="110000"/>
              </a:lnSpc>
              <a:spcAft>
                <a:spcPts val="0"/>
              </a:spcAft>
            </a:pPr>
            <a:r>
              <a:rPr sz="1650" b="1">
                <a:solidFill>
                  <a:srgbClr val="10243E"/>
                </a:solidFill>
                <a:latin typeface="Arial"/>
              </a:rPr>
              <a:t>Synthesis</a:t>
            </a:r>
          </a:p>
        </p:txBody>
      </p:sp>
      <p:sp>
        <p:nvSpPr>
          <p:cNvPr id="34" name="TextBox 33"/>
          <p:cNvSpPr txBox="1"/>
          <p:nvPr/>
        </p:nvSpPr>
        <p:spPr>
          <a:xfrm>
            <a:off x="9089135" y="2788920"/>
            <a:ext cx="2286000" cy="1554480"/>
          </a:xfrm>
          <a:prstGeom prst="rect">
            <a:avLst/>
          </a:prstGeom>
          <a:noFill/>
        </p:spPr>
        <p:txBody>
          <a:bodyPr wrap="square" lIns="0" rIns="0" tIns="0" bIns="0" anchor="t">
            <a:spAutoFit/>
          </a:bodyPr>
          <a:lstStyle/>
          <a:p>
            <a:pPr algn="l">
              <a:lnSpc>
                <a:spcPct val="110000"/>
              </a:lnSpc>
              <a:spcAft>
                <a:spcPts val="600"/>
              </a:spcAft>
            </a:pPr>
            <a:r>
              <a:rPr sz="1125" b="0">
                <a:solidFill>
                  <a:srgbClr val="5C6678"/>
                </a:solidFill>
                <a:latin typeface="Arial"/>
              </a:rPr>
              <a:t>•  Identity-trajectory visuals</a:t>
            </a:r>
          </a:p>
          <a:p>
            <a:pPr algn="l">
              <a:lnSpc>
                <a:spcPct val="110000"/>
              </a:lnSpc>
              <a:spcAft>
                <a:spcPts val="600"/>
              </a:spcAft>
            </a:pPr>
            <a:r>
              <a:rPr sz="1125" b="0">
                <a:solidFill>
                  <a:srgbClr val="5C6678"/>
                </a:solidFill>
                <a:latin typeface="Arial"/>
              </a:rPr>
              <a:t>•  Streamlit dashboard</a:t>
            </a:r>
          </a:p>
          <a:p>
            <a:pPr algn="l">
              <a:lnSpc>
                <a:spcPct val="110000"/>
              </a:lnSpc>
              <a:spcAft>
                <a:spcPts val="600"/>
              </a:spcAft>
            </a:pPr>
            <a:r>
              <a:rPr sz="1125" b="0">
                <a:solidFill>
                  <a:srgbClr val="5C6678"/>
                </a:solidFill>
                <a:latin typeface="Arial"/>
              </a:rPr>
              <a:t>•  ACL-format paper</a:t>
            </a:r>
          </a:p>
        </p:txBody>
      </p:sp>
      <p:sp>
        <p:nvSpPr>
          <p:cNvPr id="35" name="Rectangle 34"/>
          <p:cNvSpPr/>
          <p:nvPr/>
        </p:nvSpPr>
        <p:spPr>
          <a:xfrm>
            <a:off x="9089135" y="4526280"/>
            <a:ext cx="2258568" cy="9144"/>
          </a:xfrm>
          <a:prstGeom prst="rect">
            <a:avLst/>
          </a:prstGeom>
          <a:solidFill>
            <a:srgbClr val="D9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089135" y="4681728"/>
            <a:ext cx="1005840" cy="310896"/>
          </a:xfrm>
          <a:prstGeom prst="roundRect">
            <a:avLst>
              <a:gd name="adj" fmla="val 50000"/>
            </a:avLst>
          </a:prstGeom>
          <a:solidFill>
            <a:srgbClr val="FFFFFF"/>
          </a:solidFill>
          <a:ln w="9525">
            <a:solidFill>
              <a:srgbClr val="D8A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89135" y="4718304"/>
            <a:ext cx="1005840" cy="274320"/>
          </a:xfrm>
          <a:prstGeom prst="rect">
            <a:avLst/>
          </a:prstGeom>
          <a:noFill/>
        </p:spPr>
        <p:txBody>
          <a:bodyPr wrap="square" lIns="0" rIns="0" tIns="0" bIns="0" anchor="t">
            <a:spAutoFit/>
          </a:bodyPr>
          <a:lstStyle/>
          <a:p>
            <a:pPr algn="ctr">
              <a:lnSpc>
                <a:spcPct val="110000"/>
              </a:lnSpc>
              <a:spcAft>
                <a:spcPts val="0"/>
              </a:spcAft>
            </a:pPr>
            <a:r>
              <a:rPr sz="1050" b="1">
                <a:solidFill>
                  <a:srgbClr val="D8A33A"/>
                </a:solidFill>
                <a:latin typeface="Arial"/>
              </a:rPr>
              <a:t>Planned</a:t>
            </a:r>
          </a:p>
        </p:txBody>
      </p:sp>
      <p:sp>
        <p:nvSpPr>
          <p:cNvPr id="38" name="TextBox 37"/>
          <p:cNvSpPr txBox="1"/>
          <p:nvPr/>
        </p:nvSpPr>
        <p:spPr>
          <a:xfrm>
            <a:off x="548640" y="5440680"/>
            <a:ext cx="10972800" cy="274320"/>
          </a:xfrm>
          <a:prstGeom prst="rect">
            <a:avLst/>
          </a:prstGeom>
          <a:noFill/>
        </p:spPr>
        <p:txBody>
          <a:bodyPr wrap="square" lIns="0" rIns="0" tIns="0" bIns="0" anchor="t">
            <a:spAutoFit/>
          </a:bodyPr>
          <a:lstStyle/>
          <a:p>
            <a:pPr algn="l">
              <a:lnSpc>
                <a:spcPct val="110000"/>
              </a:lnSpc>
              <a:spcAft>
                <a:spcPts val="0"/>
              </a:spcAft>
            </a:pPr>
            <a:r>
              <a:rPr sz="1050" b="1">
                <a:solidFill>
                  <a:srgbClr val="2F67C7"/>
                </a:solidFill>
                <a:latin typeface="Arial"/>
              </a:rPr>
              <a:t>Repository</a:t>
            </a:r>
          </a:p>
        </p:txBody>
      </p:sp>
      <p:sp>
        <p:nvSpPr>
          <p:cNvPr id="39" name="TextBox 38"/>
          <p:cNvSpPr txBox="1"/>
          <p:nvPr/>
        </p:nvSpPr>
        <p:spPr>
          <a:xfrm>
            <a:off x="548640" y="5715000"/>
            <a:ext cx="11155680" cy="365760"/>
          </a:xfrm>
          <a:prstGeom prst="rect">
            <a:avLst/>
          </a:prstGeom>
          <a:noFill/>
        </p:spPr>
        <p:txBody>
          <a:bodyPr wrap="square" lIns="0" rIns="0" tIns="0" bIns="0" anchor="t">
            <a:spAutoFit/>
          </a:bodyPr>
          <a:lstStyle/>
          <a:p>
            <a:pPr algn="l">
              <a:lnSpc>
                <a:spcPct val="110000"/>
              </a:lnSpc>
              <a:spcAft>
                <a:spcPts val="0"/>
              </a:spcAft>
            </a:pPr>
            <a:r>
              <a:rPr sz="1200" b="0">
                <a:solidFill>
                  <a:srgbClr val="10243E"/>
                </a:solidFill>
                <a:latin typeface="Arial"/>
              </a:rPr>
              <a:t>src/ (data · features · similarity · visualization)  •  experiments/  •  figures/  •  notebooks/ 01–05  •  paper/  —  every step runs from the README</a:t>
            </a:r>
          </a:p>
        </p:txBody>
      </p:sp>
      <p:sp>
        <p:nvSpPr>
          <p:cNvPr id="40" name="TextBox 39"/>
          <p:cNvSpPr txBox="1"/>
          <p:nvPr/>
        </p:nvSpPr>
        <p:spPr>
          <a:xfrm>
            <a:off x="512064" y="6446520"/>
            <a:ext cx="11155680" cy="274320"/>
          </a:xfrm>
          <a:prstGeom prst="rect">
            <a:avLst/>
          </a:prstGeom>
          <a:noFill/>
        </p:spPr>
        <p:txBody>
          <a:bodyPr wrap="square" lIns="0" rIns="0" tIns="0" bIns="0" anchor="t">
            <a:spAutoFit/>
          </a:bodyPr>
          <a:lstStyle/>
          <a:p>
            <a:pPr algn="l">
              <a:lnSpc>
                <a:spcPct val="110000"/>
              </a:lnSpc>
              <a:spcAft>
                <a:spcPts val="0"/>
              </a:spcAft>
            </a:pPr>
            <a:r>
              <a:rPr sz="825" b="0">
                <a:solidFill>
                  <a:srgbClr val="5C6678"/>
                </a:solidFill>
                <a:latin typeface="Arial"/>
              </a:rPr>
              <a:t>Checkpoints: Week 2 data loads + T0→T3 shown  ·  Week 4 baseline similarity  ·  Week 6 five stylometric features + decay plot  ·  Week 8 RQ1 drafted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12064" y="320040"/>
            <a:ext cx="548640" cy="320040"/>
          </a:xfrm>
          <a:prstGeom prst="rect">
            <a:avLst/>
          </a:prstGeom>
          <a:noFill/>
        </p:spPr>
        <p:txBody>
          <a:bodyPr wrap="square" lIns="0" rIns="0" tIns="0" bIns="0" anchor="t">
            <a:spAutoFit/>
          </a:bodyPr>
          <a:lstStyle/>
          <a:p>
            <a:pPr algn="l">
              <a:lnSpc>
                <a:spcPct val="110000"/>
              </a:lnSpc>
              <a:spcAft>
                <a:spcPts val="0"/>
              </a:spcAft>
            </a:pPr>
            <a:r>
              <a:rPr sz="1125" b="1">
                <a:solidFill>
                  <a:srgbClr val="2F67C7"/>
                </a:solidFill>
                <a:latin typeface="Arial"/>
              </a:rPr>
              <a:t>03</a:t>
            </a:r>
          </a:p>
        </p:txBody>
      </p:sp>
      <p:sp>
        <p:nvSpPr>
          <p:cNvPr id="3" name="TextBox 2"/>
          <p:cNvSpPr txBox="1"/>
          <p:nvPr/>
        </p:nvSpPr>
        <p:spPr>
          <a:xfrm>
            <a:off x="1069848" y="246888"/>
            <a:ext cx="10424160" cy="548640"/>
          </a:xfrm>
          <a:prstGeom prst="rect">
            <a:avLst/>
          </a:prstGeom>
          <a:noFill/>
        </p:spPr>
        <p:txBody>
          <a:bodyPr wrap="square" lIns="0" rIns="0" tIns="0" bIns="0" anchor="t">
            <a:spAutoFit/>
          </a:bodyPr>
          <a:lstStyle/>
          <a:p>
            <a:pPr algn="l">
              <a:lnSpc>
                <a:spcPct val="110000"/>
              </a:lnSpc>
              <a:spcAft>
                <a:spcPts val="0"/>
              </a:spcAft>
            </a:pPr>
            <a:r>
              <a:rPr sz="2325" b="1">
                <a:solidFill>
                  <a:srgbClr val="10243E"/>
                </a:solidFill>
                <a:latin typeface="Arial"/>
              </a:rPr>
              <a:t>Research questions</a:t>
            </a:r>
          </a:p>
        </p:txBody>
      </p:sp>
      <p:sp>
        <p:nvSpPr>
          <p:cNvPr id="4" name="TextBox 3"/>
          <p:cNvSpPr txBox="1"/>
          <p:nvPr/>
        </p:nvSpPr>
        <p:spPr>
          <a:xfrm>
            <a:off x="1069848" y="758952"/>
            <a:ext cx="10424160" cy="274320"/>
          </a:xfrm>
          <a:prstGeom prst="rect">
            <a:avLst/>
          </a:prstGeom>
          <a:noFill/>
        </p:spPr>
        <p:txBody>
          <a:bodyPr wrap="square" lIns="0" rIns="0" tIns="0" bIns="0" anchor="t">
            <a:spAutoFit/>
          </a:bodyPr>
          <a:lstStyle/>
          <a:p>
            <a:pPr algn="l">
              <a:lnSpc>
                <a:spcPct val="110000"/>
              </a:lnSpc>
              <a:spcAft>
                <a:spcPts val="0"/>
              </a:spcAft>
            </a:pPr>
            <a:r>
              <a:rPr sz="1050" b="0">
                <a:solidFill>
                  <a:srgbClr val="5C6678"/>
                </a:solidFill>
                <a:latin typeface="Arial"/>
              </a:rPr>
              <a:t>One corpus, three questions about identity under iterative paraphrasing</a:t>
            </a:r>
          </a:p>
        </p:txBody>
      </p:sp>
      <p:sp>
        <p:nvSpPr>
          <p:cNvPr id="5" name="Rectangle 4"/>
          <p:cNvSpPr/>
          <p:nvPr/>
        </p:nvSpPr>
        <p:spPr>
          <a:xfrm>
            <a:off x="512064" y="1069848"/>
            <a:ext cx="11164824" cy="18288"/>
          </a:xfrm>
          <a:prstGeom prst="rect">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44752"/>
            <a:ext cx="3566160" cy="3429000"/>
          </a:xfrm>
          <a:prstGeom prst="roundRect">
            <a:avLst>
              <a:gd name="adj" fmla="val 4000"/>
            </a:avLst>
          </a:prstGeom>
          <a:solidFill>
            <a:srgbClr val="F6F8FB"/>
          </a:solidFill>
          <a:ln w="9525">
            <a:solidFill>
              <a:srgbClr val="2F67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444752"/>
            <a:ext cx="3566160" cy="73152"/>
          </a:xfrm>
          <a:prstGeom prst="roundRect">
            <a:avLst>
              <a:gd name="adj" fmla="val 50000"/>
            </a:avLst>
          </a:prstGeom>
          <a:solidFill>
            <a:srgbClr val="2F6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3108960" cy="365760"/>
          </a:xfrm>
          <a:prstGeom prst="rect">
            <a:avLst/>
          </a:prstGeom>
          <a:noFill/>
        </p:spPr>
        <p:txBody>
          <a:bodyPr wrap="square" lIns="0" rIns="0" tIns="0" bIns="0" anchor="t">
            <a:spAutoFit/>
          </a:bodyPr>
          <a:lstStyle/>
          <a:p>
            <a:pPr algn="l">
              <a:lnSpc>
                <a:spcPct val="110000"/>
              </a:lnSpc>
              <a:spcAft>
                <a:spcPts val="0"/>
              </a:spcAft>
            </a:pPr>
            <a:r>
              <a:rPr sz="2600" b="1">
                <a:solidFill>
                  <a:srgbClr val="2F67C7"/>
                </a:solidFill>
                <a:latin typeface="Arial"/>
              </a:rPr>
              <a:t>RQ1</a:t>
            </a:r>
          </a:p>
        </p:txBody>
      </p:sp>
      <p:sp>
        <p:nvSpPr>
          <p:cNvPr id="9" name="TextBox 8"/>
          <p:cNvSpPr txBox="1"/>
          <p:nvPr/>
        </p:nvSpPr>
        <p:spPr>
          <a:xfrm>
            <a:off x="777240" y="2331720"/>
            <a:ext cx="3108960" cy="457200"/>
          </a:xfrm>
          <a:prstGeom prst="rect">
            <a:avLst/>
          </a:prstGeom>
          <a:noFill/>
        </p:spPr>
        <p:txBody>
          <a:bodyPr wrap="square" lIns="0" rIns="0" tIns="0" bIns="0" anchor="t">
            <a:spAutoFit/>
          </a:bodyPr>
          <a:lstStyle/>
          <a:p>
            <a:pPr algn="l">
              <a:lnSpc>
                <a:spcPct val="110000"/>
              </a:lnSpc>
              <a:spcAft>
                <a:spcPts val="0"/>
              </a:spcAft>
            </a:pPr>
            <a:r>
              <a:rPr sz="1700" b="1">
                <a:solidFill>
                  <a:srgbClr val="10243E"/>
                </a:solidFill>
                <a:latin typeface="Arial"/>
              </a:rPr>
              <a:t>Style vs. content decay</a:t>
            </a:r>
          </a:p>
        </p:txBody>
      </p:sp>
      <p:sp>
        <p:nvSpPr>
          <p:cNvPr id="10" name="TextBox 9"/>
          <p:cNvSpPr txBox="1"/>
          <p:nvPr/>
        </p:nvSpPr>
        <p:spPr>
          <a:xfrm>
            <a:off x="777240" y="2880360"/>
            <a:ext cx="3108960" cy="1737360"/>
          </a:xfrm>
          <a:prstGeom prst="rect">
            <a:avLst/>
          </a:prstGeom>
          <a:noFill/>
        </p:spPr>
        <p:txBody>
          <a:bodyPr wrap="square" lIns="0" rIns="0" tIns="0" bIns="0" anchor="t">
            <a:spAutoFit/>
          </a:bodyPr>
          <a:lstStyle/>
          <a:p>
            <a:pPr algn="l">
              <a:lnSpc>
                <a:spcPct val="110000"/>
              </a:lnSpc>
              <a:spcAft>
                <a:spcPts val="0"/>
              </a:spcAft>
            </a:pPr>
            <a:r>
              <a:rPr sz="1275" b="0">
                <a:solidFill>
                  <a:srgbClr val="5C6678"/>
                </a:solidFill>
                <a:latin typeface="Arial"/>
              </a:rPr>
              <a:t>Which “planks” are replaced first: stylistic features (POS, dependency depth, punctuation, vocabulary) or semantic content (SBERT, BERTScore)?</a:t>
            </a:r>
          </a:p>
        </p:txBody>
      </p:sp>
      <p:sp>
        <p:nvSpPr>
          <p:cNvPr id="11" name="TextBox 10"/>
          <p:cNvSpPr txBox="1"/>
          <p:nvPr/>
        </p:nvSpPr>
        <p:spPr>
          <a:xfrm>
            <a:off x="777240" y="4434840"/>
            <a:ext cx="3108960" cy="274320"/>
          </a:xfrm>
          <a:prstGeom prst="rect">
            <a:avLst/>
          </a:prstGeom>
          <a:noFill/>
        </p:spPr>
        <p:txBody>
          <a:bodyPr wrap="square" lIns="0" rIns="0" tIns="0" bIns="0" anchor="t">
            <a:spAutoFit/>
          </a:bodyPr>
          <a:lstStyle/>
          <a:p>
            <a:pPr algn="l">
              <a:lnSpc>
                <a:spcPct val="110000"/>
              </a:lnSpc>
              <a:spcAft>
                <a:spcPts val="0"/>
              </a:spcAft>
            </a:pPr>
            <a:r>
              <a:rPr sz="1050" b="1">
                <a:solidFill>
                  <a:srgbClr val="2F67C7"/>
                </a:solidFill>
                <a:latin typeface="Arial"/>
              </a:rPr>
              <a:t>Preliminary answer today</a:t>
            </a:r>
          </a:p>
        </p:txBody>
      </p:sp>
      <p:sp>
        <p:nvSpPr>
          <p:cNvPr id="12" name="Rounded Rectangle 11"/>
          <p:cNvSpPr/>
          <p:nvPr/>
        </p:nvSpPr>
        <p:spPr>
          <a:xfrm>
            <a:off x="4297679" y="1444752"/>
            <a:ext cx="3566160" cy="3429000"/>
          </a:xfrm>
          <a:prstGeom prst="roundRect">
            <a:avLst>
              <a:gd name="adj" fmla="val 4000"/>
            </a:avLst>
          </a:prstGeom>
          <a:solidFill>
            <a:srgbClr val="F6F8FB"/>
          </a:solidFill>
          <a:ln w="9525">
            <a:solidFill>
              <a:srgbClr val="976B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297679" y="1444752"/>
            <a:ext cx="3566160" cy="73152"/>
          </a:xfrm>
          <a:prstGeom prst="roundRect">
            <a:avLst>
              <a:gd name="adj" fmla="val 50000"/>
            </a:avLst>
          </a:prstGeom>
          <a:solidFill>
            <a:srgbClr val="976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79" y="1737360"/>
            <a:ext cx="3108960" cy="365760"/>
          </a:xfrm>
          <a:prstGeom prst="rect">
            <a:avLst/>
          </a:prstGeom>
          <a:noFill/>
        </p:spPr>
        <p:txBody>
          <a:bodyPr wrap="square" lIns="0" rIns="0" tIns="0" bIns="0" anchor="t">
            <a:spAutoFit/>
          </a:bodyPr>
          <a:lstStyle/>
          <a:p>
            <a:pPr algn="l">
              <a:lnSpc>
                <a:spcPct val="110000"/>
              </a:lnSpc>
              <a:spcAft>
                <a:spcPts val="0"/>
              </a:spcAft>
            </a:pPr>
            <a:r>
              <a:rPr sz="2600" b="1">
                <a:solidFill>
                  <a:srgbClr val="976B18"/>
                </a:solidFill>
                <a:latin typeface="Arial"/>
              </a:rPr>
              <a:t>RQ2</a:t>
            </a:r>
          </a:p>
        </p:txBody>
      </p:sp>
      <p:sp>
        <p:nvSpPr>
          <p:cNvPr id="15" name="TextBox 14"/>
          <p:cNvSpPr txBox="1"/>
          <p:nvPr/>
        </p:nvSpPr>
        <p:spPr>
          <a:xfrm>
            <a:off x="4526279" y="2331720"/>
            <a:ext cx="3108960" cy="457200"/>
          </a:xfrm>
          <a:prstGeom prst="rect">
            <a:avLst/>
          </a:prstGeom>
          <a:noFill/>
        </p:spPr>
        <p:txBody>
          <a:bodyPr wrap="square" lIns="0" rIns="0" tIns="0" bIns="0" anchor="t">
            <a:spAutoFit/>
          </a:bodyPr>
          <a:lstStyle/>
          <a:p>
            <a:pPr algn="l">
              <a:lnSpc>
                <a:spcPct val="110000"/>
              </a:lnSpc>
              <a:spcAft>
                <a:spcPts val="0"/>
              </a:spcAft>
            </a:pPr>
            <a:r>
              <a:rPr sz="1700" b="1">
                <a:solidFill>
                  <a:srgbClr val="10243E"/>
                </a:solidFill>
                <a:latin typeface="Arial"/>
              </a:rPr>
              <a:t>The point of no return</a:t>
            </a:r>
          </a:p>
        </p:txBody>
      </p:sp>
      <p:sp>
        <p:nvSpPr>
          <p:cNvPr id="16" name="TextBox 15"/>
          <p:cNvSpPr txBox="1"/>
          <p:nvPr/>
        </p:nvSpPr>
        <p:spPr>
          <a:xfrm>
            <a:off x="4526279" y="2880360"/>
            <a:ext cx="3108960" cy="1737360"/>
          </a:xfrm>
          <a:prstGeom prst="rect">
            <a:avLst/>
          </a:prstGeom>
          <a:noFill/>
        </p:spPr>
        <p:txBody>
          <a:bodyPr wrap="square" lIns="0" rIns="0" tIns="0" bIns="0" anchor="t">
            <a:spAutoFit/>
          </a:bodyPr>
          <a:lstStyle/>
          <a:p>
            <a:pPr algn="l">
              <a:lnSpc>
                <a:spcPct val="110000"/>
              </a:lnSpc>
              <a:spcAft>
                <a:spcPts val="0"/>
              </a:spcAft>
            </a:pPr>
            <a:r>
              <a:rPr sz="1275" b="0">
                <a:solidFill>
                  <a:srgbClr val="5C6678"/>
                </a:solidFill>
                <a:latin typeface="Arial"/>
              </a:rPr>
              <a:t>At which iteration does the text lose its original identity? Does attribution accuracy drop sharply at T1 or gradually?</a:t>
            </a:r>
          </a:p>
        </p:txBody>
      </p:sp>
      <p:sp>
        <p:nvSpPr>
          <p:cNvPr id="17" name="TextBox 16"/>
          <p:cNvSpPr txBox="1"/>
          <p:nvPr/>
        </p:nvSpPr>
        <p:spPr>
          <a:xfrm>
            <a:off x="4526279" y="4434840"/>
            <a:ext cx="3108960" cy="274320"/>
          </a:xfrm>
          <a:prstGeom prst="rect">
            <a:avLst/>
          </a:prstGeom>
          <a:noFill/>
        </p:spPr>
        <p:txBody>
          <a:bodyPr wrap="square" lIns="0" rIns="0" tIns="0" bIns="0" anchor="t">
            <a:spAutoFit/>
          </a:bodyPr>
          <a:lstStyle/>
          <a:p>
            <a:pPr algn="l">
              <a:lnSpc>
                <a:spcPct val="110000"/>
              </a:lnSpc>
              <a:spcAft>
                <a:spcPts val="0"/>
              </a:spcAft>
            </a:pPr>
            <a:r>
              <a:rPr sz="1050" b="1">
                <a:solidFill>
                  <a:srgbClr val="976B18"/>
                </a:solidFill>
                <a:latin typeface="Arial"/>
              </a:rPr>
              <a:t>Weeks 9–11</a:t>
            </a:r>
          </a:p>
        </p:txBody>
      </p:sp>
      <p:sp>
        <p:nvSpPr>
          <p:cNvPr id="18" name="Rounded Rectangle 17"/>
          <p:cNvSpPr/>
          <p:nvPr/>
        </p:nvSpPr>
        <p:spPr>
          <a:xfrm>
            <a:off x="8046719" y="1444752"/>
            <a:ext cx="3566160" cy="3429000"/>
          </a:xfrm>
          <a:prstGeom prst="roundRect">
            <a:avLst>
              <a:gd name="adj" fmla="val 4000"/>
            </a:avLst>
          </a:prstGeom>
          <a:solidFill>
            <a:srgbClr val="F6F8FB"/>
          </a:solidFill>
          <a:ln w="9525">
            <a:solidFill>
              <a:srgbClr val="2E7D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046719" y="1444752"/>
            <a:ext cx="3566160" cy="73152"/>
          </a:xfrm>
          <a:prstGeom prst="roundRect">
            <a:avLst>
              <a:gd name="adj" fmla="val 50000"/>
            </a:avLst>
          </a:prstGeom>
          <a:solidFill>
            <a:srgbClr val="2E7D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19" y="1737360"/>
            <a:ext cx="3108960" cy="365760"/>
          </a:xfrm>
          <a:prstGeom prst="rect">
            <a:avLst/>
          </a:prstGeom>
          <a:noFill/>
        </p:spPr>
        <p:txBody>
          <a:bodyPr wrap="square" lIns="0" rIns="0" tIns="0" bIns="0" anchor="t">
            <a:spAutoFit/>
          </a:bodyPr>
          <a:lstStyle/>
          <a:p>
            <a:pPr algn="l">
              <a:lnSpc>
                <a:spcPct val="110000"/>
              </a:lnSpc>
              <a:spcAft>
                <a:spcPts val="0"/>
              </a:spcAft>
            </a:pPr>
            <a:r>
              <a:rPr sz="2600" b="1">
                <a:solidFill>
                  <a:srgbClr val="2E7D6A"/>
                </a:solidFill>
                <a:latin typeface="Arial"/>
              </a:rPr>
              <a:t>RQ3</a:t>
            </a:r>
          </a:p>
        </p:txBody>
      </p:sp>
      <p:sp>
        <p:nvSpPr>
          <p:cNvPr id="21" name="TextBox 20"/>
          <p:cNvSpPr txBox="1"/>
          <p:nvPr/>
        </p:nvSpPr>
        <p:spPr>
          <a:xfrm>
            <a:off x="8275319" y="2331720"/>
            <a:ext cx="3108960" cy="457200"/>
          </a:xfrm>
          <a:prstGeom prst="rect">
            <a:avLst/>
          </a:prstGeom>
          <a:noFill/>
        </p:spPr>
        <p:txBody>
          <a:bodyPr wrap="square" lIns="0" rIns="0" tIns="0" bIns="0" anchor="t">
            <a:spAutoFit/>
          </a:bodyPr>
          <a:lstStyle/>
          <a:p>
            <a:pPr algn="l">
              <a:lnSpc>
                <a:spcPct val="110000"/>
              </a:lnSpc>
              <a:spcAft>
                <a:spcPts val="0"/>
              </a:spcAft>
            </a:pPr>
            <a:r>
              <a:rPr sz="1700" b="1">
                <a:solidFill>
                  <a:srgbClr val="10243E"/>
                </a:solidFill>
                <a:latin typeface="Arial"/>
              </a:rPr>
              <a:t>Paraphraser fingerprints</a:t>
            </a:r>
          </a:p>
        </p:txBody>
      </p:sp>
      <p:sp>
        <p:nvSpPr>
          <p:cNvPr id="22" name="TextBox 21"/>
          <p:cNvSpPr txBox="1"/>
          <p:nvPr/>
        </p:nvSpPr>
        <p:spPr>
          <a:xfrm>
            <a:off x="8275319" y="2880360"/>
            <a:ext cx="3108960" cy="1737360"/>
          </a:xfrm>
          <a:prstGeom prst="rect">
            <a:avLst/>
          </a:prstGeom>
          <a:noFill/>
        </p:spPr>
        <p:txBody>
          <a:bodyPr wrap="square" lIns="0" rIns="0" tIns="0" bIns="0" anchor="t">
            <a:spAutoFit/>
          </a:bodyPr>
          <a:lstStyle/>
          <a:p>
            <a:pPr algn="l">
              <a:lnSpc>
                <a:spcPct val="110000"/>
              </a:lnSpc>
              <a:spcAft>
                <a:spcPts val="0"/>
              </a:spcAft>
            </a:pPr>
            <a:r>
              <a:rPr sz="1275" b="0">
                <a:solidFill>
                  <a:srgbClr val="5C6678"/>
                </a:solidFill>
                <a:latin typeface="Arial"/>
              </a:rPr>
              <a:t>Do ChatGPT, PaLM2, Pegasus and DIPPER leave distinct “wood grain”? Can we tell which model replaced the planks?</a:t>
            </a:r>
          </a:p>
        </p:txBody>
      </p:sp>
      <p:sp>
        <p:nvSpPr>
          <p:cNvPr id="23" name="TextBox 22"/>
          <p:cNvSpPr txBox="1"/>
          <p:nvPr/>
        </p:nvSpPr>
        <p:spPr>
          <a:xfrm>
            <a:off x="8275319" y="4434840"/>
            <a:ext cx="3108960" cy="274320"/>
          </a:xfrm>
          <a:prstGeom prst="rect">
            <a:avLst/>
          </a:prstGeom>
          <a:noFill/>
        </p:spPr>
        <p:txBody>
          <a:bodyPr wrap="square" lIns="0" rIns="0" tIns="0" bIns="0" anchor="t">
            <a:spAutoFit/>
          </a:bodyPr>
          <a:lstStyle/>
          <a:p>
            <a:pPr algn="l">
              <a:lnSpc>
                <a:spcPct val="110000"/>
              </a:lnSpc>
              <a:spcAft>
                <a:spcPts val="0"/>
              </a:spcAft>
            </a:pPr>
            <a:r>
              <a:rPr sz="1050" b="1">
                <a:solidFill>
                  <a:srgbClr val="2E7D6A"/>
                </a:solidFill>
                <a:latin typeface="Arial"/>
              </a:rPr>
              <a:t>Weeks 10–12 · early signal today</a:t>
            </a:r>
          </a:p>
        </p:txBody>
      </p:sp>
      <p:sp>
        <p:nvSpPr>
          <p:cNvPr id="24" name="TextBox 23"/>
          <p:cNvSpPr txBox="1"/>
          <p:nvPr/>
        </p:nvSpPr>
        <p:spPr>
          <a:xfrm>
            <a:off x="512064" y="6446520"/>
            <a:ext cx="11155680" cy="274320"/>
          </a:xfrm>
          <a:prstGeom prst="rect">
            <a:avLst/>
          </a:prstGeom>
          <a:noFill/>
        </p:spPr>
        <p:txBody>
          <a:bodyPr wrap="square" lIns="0" rIns="0" tIns="0" bIns="0" anchor="t">
            <a:spAutoFit/>
          </a:bodyPr>
          <a:lstStyle/>
          <a:p>
            <a:pPr algn="l">
              <a:lnSpc>
                <a:spcPct val="110000"/>
              </a:lnSpc>
              <a:spcAft>
                <a:spcPts val="0"/>
              </a:spcAft>
            </a:pPr>
            <a:r>
              <a:rPr sz="825" b="0">
                <a:solidFill>
                  <a:srgbClr val="5C6678"/>
                </a:solidFill>
                <a:latin typeface="Arial"/>
              </a:rPr>
              <a:t>Contribution: a decay curve that separates human-author signal loss from model-fingerprint gain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12064" y="320040"/>
            <a:ext cx="548640" cy="320040"/>
          </a:xfrm>
          <a:prstGeom prst="rect">
            <a:avLst/>
          </a:prstGeom>
          <a:noFill/>
        </p:spPr>
        <p:txBody>
          <a:bodyPr wrap="square" lIns="0" rIns="0" tIns="0" bIns="0" anchor="t">
            <a:spAutoFit/>
          </a:bodyPr>
          <a:lstStyle/>
          <a:p>
            <a:pPr algn="l">
              <a:lnSpc>
                <a:spcPct val="110000"/>
              </a:lnSpc>
              <a:spcAft>
                <a:spcPts val="0"/>
              </a:spcAft>
            </a:pPr>
            <a:r>
              <a:rPr sz="1125" b="1">
                <a:solidFill>
                  <a:srgbClr val="2F67C7"/>
                </a:solidFill>
                <a:latin typeface="Arial"/>
              </a:rPr>
              <a:t>04</a:t>
            </a:r>
          </a:p>
        </p:txBody>
      </p:sp>
      <p:sp>
        <p:nvSpPr>
          <p:cNvPr id="3" name="TextBox 2"/>
          <p:cNvSpPr txBox="1"/>
          <p:nvPr/>
        </p:nvSpPr>
        <p:spPr>
          <a:xfrm>
            <a:off x="1069848" y="246888"/>
            <a:ext cx="10424160" cy="548640"/>
          </a:xfrm>
          <a:prstGeom prst="rect">
            <a:avLst/>
          </a:prstGeom>
          <a:noFill/>
        </p:spPr>
        <p:txBody>
          <a:bodyPr wrap="square" lIns="0" rIns="0" tIns="0" bIns="0" anchor="t">
            <a:spAutoFit/>
          </a:bodyPr>
          <a:lstStyle/>
          <a:p>
            <a:pPr algn="l">
              <a:lnSpc>
                <a:spcPct val="110000"/>
              </a:lnSpc>
              <a:spcAft>
                <a:spcPts val="0"/>
              </a:spcAft>
            </a:pPr>
            <a:r>
              <a:rPr sz="2325" b="1">
                <a:solidFill>
                  <a:srgbClr val="10243E"/>
                </a:solidFill>
                <a:latin typeface="Arial"/>
              </a:rPr>
              <a:t>The Ship of Theseus corpus</a:t>
            </a:r>
          </a:p>
        </p:txBody>
      </p:sp>
      <p:sp>
        <p:nvSpPr>
          <p:cNvPr id="4" name="TextBox 3"/>
          <p:cNvSpPr txBox="1"/>
          <p:nvPr/>
        </p:nvSpPr>
        <p:spPr>
          <a:xfrm>
            <a:off x="1069848" y="758952"/>
            <a:ext cx="10424160" cy="274320"/>
          </a:xfrm>
          <a:prstGeom prst="rect">
            <a:avLst/>
          </a:prstGeom>
          <a:noFill/>
        </p:spPr>
        <p:txBody>
          <a:bodyPr wrap="square" lIns="0" rIns="0" tIns="0" bIns="0" anchor="t">
            <a:spAutoFit/>
          </a:bodyPr>
          <a:lstStyle/>
          <a:p>
            <a:pPr algn="l">
              <a:lnSpc>
                <a:spcPct val="110000"/>
              </a:lnSpc>
              <a:spcAft>
                <a:spcPts val="0"/>
              </a:spcAft>
            </a:pPr>
            <a:r>
              <a:rPr sz="1050" b="0">
                <a:solidFill>
                  <a:srgbClr val="5C6678"/>
                </a:solidFill>
                <a:latin typeface="Arial"/>
              </a:rPr>
              <a:t>Tripto et al., ACL 2024 — three dimensions, two kinds of files</a:t>
            </a:r>
          </a:p>
        </p:txBody>
      </p:sp>
      <p:sp>
        <p:nvSpPr>
          <p:cNvPr id="5" name="Rectangle 4"/>
          <p:cNvSpPr/>
          <p:nvPr/>
        </p:nvSpPr>
        <p:spPr>
          <a:xfrm>
            <a:off x="512064" y="1069848"/>
            <a:ext cx="11164824" cy="18288"/>
          </a:xfrm>
          <a:prstGeom prst="rect">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731520" cy="731520"/>
          </a:xfrm>
          <a:prstGeom prst="rect">
            <a:avLst/>
          </a:prstGeom>
          <a:noFill/>
        </p:spPr>
        <p:txBody>
          <a:bodyPr wrap="square" lIns="0" rIns="0" tIns="0" bIns="0" anchor="t">
            <a:spAutoFit/>
          </a:bodyPr>
          <a:lstStyle/>
          <a:p>
            <a:pPr algn="l">
              <a:lnSpc>
                <a:spcPct val="110000"/>
              </a:lnSpc>
              <a:spcAft>
                <a:spcPts val="0"/>
              </a:spcAft>
            </a:pPr>
            <a:r>
              <a:rPr sz="3900" b="1">
                <a:solidFill>
                  <a:srgbClr val="10243E"/>
                </a:solidFill>
                <a:latin typeface="Arial"/>
              </a:rPr>
              <a:t>7</a:t>
            </a:r>
          </a:p>
        </p:txBody>
      </p:sp>
      <p:sp>
        <p:nvSpPr>
          <p:cNvPr id="7" name="TextBox 6"/>
          <p:cNvSpPr txBox="1"/>
          <p:nvPr/>
        </p:nvSpPr>
        <p:spPr>
          <a:xfrm>
            <a:off x="1325880" y="1481328"/>
            <a:ext cx="4114800" cy="365760"/>
          </a:xfrm>
          <a:prstGeom prst="rect">
            <a:avLst/>
          </a:prstGeom>
          <a:noFill/>
        </p:spPr>
        <p:txBody>
          <a:bodyPr wrap="square" lIns="0" rIns="0" tIns="0" bIns="0" anchor="t">
            <a:spAutoFit/>
          </a:bodyPr>
          <a:lstStyle/>
          <a:p>
            <a:pPr algn="l">
              <a:lnSpc>
                <a:spcPct val="110000"/>
              </a:lnSpc>
              <a:spcAft>
                <a:spcPts val="0"/>
              </a:spcAft>
            </a:pPr>
            <a:r>
              <a:rPr sz="1575" b="1">
                <a:solidFill>
                  <a:srgbClr val="2F67C7"/>
                </a:solidFill>
                <a:latin typeface="Arial"/>
              </a:rPr>
              <a:t>datasets</a:t>
            </a:r>
          </a:p>
        </p:txBody>
      </p:sp>
      <p:sp>
        <p:nvSpPr>
          <p:cNvPr id="8" name="TextBox 7"/>
          <p:cNvSpPr txBox="1"/>
          <p:nvPr/>
        </p:nvSpPr>
        <p:spPr>
          <a:xfrm>
            <a:off x="1325880" y="1828800"/>
            <a:ext cx="4297680" cy="548640"/>
          </a:xfrm>
          <a:prstGeom prst="rect">
            <a:avLst/>
          </a:prstGeom>
          <a:noFill/>
        </p:spPr>
        <p:txBody>
          <a:bodyPr wrap="square" lIns="0" rIns="0" tIns="0" bIns="0" anchor="t">
            <a:spAutoFit/>
          </a:bodyPr>
          <a:lstStyle/>
          <a:p>
            <a:pPr algn="l">
              <a:lnSpc>
                <a:spcPct val="110000"/>
              </a:lnSpc>
              <a:spcAft>
                <a:spcPts val="0"/>
              </a:spcAft>
            </a:pPr>
            <a:r>
              <a:rPr sz="1100" b="0">
                <a:solidFill>
                  <a:srgbClr val="5C6678"/>
                </a:solidFill>
                <a:latin typeface="Arial"/>
              </a:rPr>
              <a:t>xsum · yelp · cmv · eli5 · sci_gen · tldr · wp</a:t>
            </a:r>
          </a:p>
          <a:p>
            <a:pPr algn="l">
              <a:lnSpc>
                <a:spcPct val="110000"/>
              </a:lnSpc>
              <a:spcAft>
                <a:spcPts val="0"/>
              </a:spcAft>
            </a:pPr>
            <a:r>
              <a:rPr sz="1100" b="0">
                <a:solidFill>
                  <a:srgbClr val="5C6678"/>
                </a:solidFill>
                <a:latin typeface="Arial"/>
              </a:rPr>
              <a:t>news, reviews, opinion, Q&amp;A, science, summaries, stories</a:t>
            </a:r>
          </a:p>
        </p:txBody>
      </p:sp>
      <p:sp>
        <p:nvSpPr>
          <p:cNvPr id="9" name="TextBox 8"/>
          <p:cNvSpPr txBox="1"/>
          <p:nvPr/>
        </p:nvSpPr>
        <p:spPr>
          <a:xfrm>
            <a:off x="548640" y="2450591"/>
            <a:ext cx="731520" cy="731520"/>
          </a:xfrm>
          <a:prstGeom prst="rect">
            <a:avLst/>
          </a:prstGeom>
          <a:noFill/>
        </p:spPr>
        <p:txBody>
          <a:bodyPr wrap="square" lIns="0" rIns="0" tIns="0" bIns="0" anchor="t">
            <a:spAutoFit/>
          </a:bodyPr>
          <a:lstStyle/>
          <a:p>
            <a:pPr algn="l">
              <a:lnSpc>
                <a:spcPct val="110000"/>
              </a:lnSpc>
              <a:spcAft>
                <a:spcPts val="0"/>
              </a:spcAft>
            </a:pPr>
            <a:r>
              <a:rPr sz="3900" b="1">
                <a:solidFill>
                  <a:srgbClr val="10243E"/>
                </a:solidFill>
                <a:latin typeface="Arial"/>
              </a:rPr>
              <a:t>7</a:t>
            </a:r>
          </a:p>
        </p:txBody>
      </p:sp>
      <p:sp>
        <p:nvSpPr>
          <p:cNvPr id="10" name="TextBox 9"/>
          <p:cNvSpPr txBox="1"/>
          <p:nvPr/>
        </p:nvSpPr>
        <p:spPr>
          <a:xfrm>
            <a:off x="1325880" y="2560320"/>
            <a:ext cx="4114800" cy="365760"/>
          </a:xfrm>
          <a:prstGeom prst="rect">
            <a:avLst/>
          </a:prstGeom>
          <a:noFill/>
        </p:spPr>
        <p:txBody>
          <a:bodyPr wrap="square" lIns="0" rIns="0" tIns="0" bIns="0" anchor="t">
            <a:spAutoFit/>
          </a:bodyPr>
          <a:lstStyle/>
          <a:p>
            <a:pPr algn="l">
              <a:lnSpc>
                <a:spcPct val="110000"/>
              </a:lnSpc>
              <a:spcAft>
                <a:spcPts val="0"/>
              </a:spcAft>
            </a:pPr>
            <a:r>
              <a:rPr sz="1575" b="1">
                <a:solidFill>
                  <a:srgbClr val="2F67C7"/>
                </a:solidFill>
                <a:latin typeface="Arial"/>
              </a:rPr>
              <a:t>sources (who wrote T0)</a:t>
            </a:r>
          </a:p>
        </p:txBody>
      </p:sp>
      <p:sp>
        <p:nvSpPr>
          <p:cNvPr id="11" name="TextBox 10"/>
          <p:cNvSpPr txBox="1"/>
          <p:nvPr/>
        </p:nvSpPr>
        <p:spPr>
          <a:xfrm>
            <a:off x="1325880" y="2907791"/>
            <a:ext cx="4297680" cy="548640"/>
          </a:xfrm>
          <a:prstGeom prst="rect">
            <a:avLst/>
          </a:prstGeom>
          <a:noFill/>
        </p:spPr>
        <p:txBody>
          <a:bodyPr wrap="square" lIns="0" rIns="0" tIns="0" bIns="0" anchor="t">
            <a:spAutoFit/>
          </a:bodyPr>
          <a:lstStyle/>
          <a:p>
            <a:pPr algn="l">
              <a:lnSpc>
                <a:spcPct val="110000"/>
              </a:lnSpc>
              <a:spcAft>
                <a:spcPts val="0"/>
              </a:spcAft>
            </a:pPr>
            <a:r>
              <a:rPr sz="1100" b="0">
                <a:solidFill>
                  <a:srgbClr val="5C6678"/>
                </a:solidFill>
                <a:latin typeface="Arial"/>
              </a:rPr>
              <a:t>Human + 6 LLMs: OpenAI, LLaMA, PaLM,</a:t>
            </a:r>
          </a:p>
          <a:p>
            <a:pPr algn="l">
              <a:lnSpc>
                <a:spcPct val="110000"/>
              </a:lnSpc>
              <a:spcAft>
                <a:spcPts val="0"/>
              </a:spcAft>
            </a:pPr>
            <a:r>
              <a:rPr sz="1100" b="0">
                <a:solidFill>
                  <a:srgbClr val="5C6678"/>
                </a:solidFill>
                <a:latin typeface="Arial"/>
              </a:rPr>
              <a:t>Tsinghua, BigScience, Eleuther-AI</a:t>
            </a:r>
          </a:p>
        </p:txBody>
      </p:sp>
      <p:sp>
        <p:nvSpPr>
          <p:cNvPr id="12" name="TextBox 11"/>
          <p:cNvSpPr txBox="1"/>
          <p:nvPr/>
        </p:nvSpPr>
        <p:spPr>
          <a:xfrm>
            <a:off x="548640" y="3529584"/>
            <a:ext cx="731520" cy="731520"/>
          </a:xfrm>
          <a:prstGeom prst="rect">
            <a:avLst/>
          </a:prstGeom>
          <a:noFill/>
        </p:spPr>
        <p:txBody>
          <a:bodyPr wrap="square" lIns="0" rIns="0" tIns="0" bIns="0" anchor="t">
            <a:spAutoFit/>
          </a:bodyPr>
          <a:lstStyle/>
          <a:p>
            <a:pPr algn="l">
              <a:lnSpc>
                <a:spcPct val="110000"/>
              </a:lnSpc>
              <a:spcAft>
                <a:spcPts val="0"/>
              </a:spcAft>
            </a:pPr>
            <a:r>
              <a:rPr sz="3900" b="1">
                <a:solidFill>
                  <a:srgbClr val="10243E"/>
                </a:solidFill>
                <a:latin typeface="Arial"/>
              </a:rPr>
              <a:t>7</a:t>
            </a:r>
          </a:p>
        </p:txBody>
      </p:sp>
      <p:sp>
        <p:nvSpPr>
          <p:cNvPr id="13" name="TextBox 12"/>
          <p:cNvSpPr txBox="1"/>
          <p:nvPr/>
        </p:nvSpPr>
        <p:spPr>
          <a:xfrm>
            <a:off x="1325880" y="3639312"/>
            <a:ext cx="4114800" cy="365760"/>
          </a:xfrm>
          <a:prstGeom prst="rect">
            <a:avLst/>
          </a:prstGeom>
          <a:noFill/>
        </p:spPr>
        <p:txBody>
          <a:bodyPr wrap="square" lIns="0" rIns="0" tIns="0" bIns="0" anchor="t">
            <a:spAutoFit/>
          </a:bodyPr>
          <a:lstStyle/>
          <a:p>
            <a:pPr algn="l">
              <a:lnSpc>
                <a:spcPct val="110000"/>
              </a:lnSpc>
              <a:spcAft>
                <a:spcPts val="0"/>
              </a:spcAft>
            </a:pPr>
            <a:r>
              <a:rPr sz="1575" b="1">
                <a:solidFill>
                  <a:srgbClr val="2F67C7"/>
                </a:solidFill>
                <a:latin typeface="Arial"/>
              </a:rPr>
              <a:t>paraphraser settings</a:t>
            </a:r>
          </a:p>
        </p:txBody>
      </p:sp>
      <p:sp>
        <p:nvSpPr>
          <p:cNvPr id="14" name="TextBox 13"/>
          <p:cNvSpPr txBox="1"/>
          <p:nvPr/>
        </p:nvSpPr>
        <p:spPr>
          <a:xfrm>
            <a:off x="1325880" y="3986783"/>
            <a:ext cx="4297680" cy="548640"/>
          </a:xfrm>
          <a:prstGeom prst="rect">
            <a:avLst/>
          </a:prstGeom>
          <a:noFill/>
        </p:spPr>
        <p:txBody>
          <a:bodyPr wrap="square" lIns="0" rIns="0" tIns="0" bIns="0" anchor="t">
            <a:spAutoFit/>
          </a:bodyPr>
          <a:lstStyle/>
          <a:p>
            <a:pPr algn="l">
              <a:lnSpc>
                <a:spcPct val="110000"/>
              </a:lnSpc>
              <a:spcAft>
                <a:spcPts val="0"/>
              </a:spcAft>
            </a:pPr>
            <a:r>
              <a:rPr sz="1100" b="0">
                <a:solidFill>
                  <a:srgbClr val="5C6678"/>
                </a:solidFill>
                <a:latin typeface="Arial"/>
              </a:rPr>
              <a:t>ChatGPT · PaLM2 · DIPPER (default, low, high)</a:t>
            </a:r>
          </a:p>
          <a:p>
            <a:pPr algn="l">
              <a:lnSpc>
                <a:spcPct val="110000"/>
              </a:lnSpc>
              <a:spcAft>
                <a:spcPts val="0"/>
              </a:spcAft>
            </a:pPr>
            <a:r>
              <a:rPr sz="1100" b="0">
                <a:solidFill>
                  <a:srgbClr val="5C6678"/>
                </a:solidFill>
                <a:latin typeface="Arial"/>
              </a:rPr>
              <a:t>· Pegasus (full, slight) — each applied 3×</a:t>
            </a:r>
          </a:p>
        </p:txBody>
      </p:sp>
      <p:sp>
        <p:nvSpPr>
          <p:cNvPr id="15" name="Rounded Rectangle 14"/>
          <p:cNvSpPr/>
          <p:nvPr/>
        </p:nvSpPr>
        <p:spPr>
          <a:xfrm>
            <a:off x="5897880" y="1417320"/>
            <a:ext cx="5760720" cy="3200400"/>
          </a:xfrm>
          <a:prstGeom prst="roundRect">
            <a:avLst>
              <a:gd name="adj" fmla="val 4000"/>
            </a:avLst>
          </a:prstGeom>
          <a:solidFill>
            <a:srgbClr val="F6F8FB"/>
          </a:solidFill>
          <a:ln w="9525">
            <a:solidFill>
              <a:srgbClr val="2F67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897880" y="1417320"/>
            <a:ext cx="5760720" cy="73152"/>
          </a:xfrm>
          <a:prstGeom prst="roundRect">
            <a:avLst>
              <a:gd name="adj" fmla="val 50000"/>
            </a:avLst>
          </a:prstGeom>
          <a:solidFill>
            <a:srgbClr val="2F6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72200" y="1664208"/>
            <a:ext cx="5303520" cy="365760"/>
          </a:xfrm>
          <a:prstGeom prst="rect">
            <a:avLst/>
          </a:prstGeom>
          <a:noFill/>
        </p:spPr>
        <p:txBody>
          <a:bodyPr wrap="square" lIns="0" rIns="0" tIns="0" bIns="0" anchor="t">
            <a:spAutoFit/>
          </a:bodyPr>
          <a:lstStyle/>
          <a:p>
            <a:pPr algn="l">
              <a:lnSpc>
                <a:spcPct val="110000"/>
              </a:lnSpc>
              <a:spcAft>
                <a:spcPts val="0"/>
              </a:spcAft>
            </a:pPr>
            <a:r>
              <a:rPr sz="1725" b="1">
                <a:solidFill>
                  <a:srgbClr val="10243E"/>
                </a:solidFill>
                <a:latin typeface="Arial"/>
              </a:rPr>
              <a:t>Two kinds of files per dataset</a:t>
            </a:r>
          </a:p>
        </p:txBody>
      </p:sp>
      <p:graphicFrame>
        <p:nvGraphicFramePr>
          <p:cNvPr id="18" name="Table 17"/>
          <p:cNvGraphicFramePr>
            <a:graphicFrameLocks noGrp="1"/>
          </p:cNvGraphicFramePr>
          <p:nvPr/>
        </p:nvGraphicFramePr>
        <p:xfrm>
          <a:off x="6172200" y="2194560"/>
          <a:ext cx="5212079" cy="1828800"/>
        </p:xfrm>
        <a:graphic>
          <a:graphicData uri="http://schemas.openxmlformats.org/drawingml/2006/table">
            <a:tbl>
              <a:tblPr firstRow="1" bandRow="1">
                <a:tableStyleId>{5C22544A-7EE6-4342-B048-85BDC9FD1C3A}</a:tableStyleId>
              </a:tblPr>
              <a:tblGrid>
                <a:gridCol w="1234440"/>
                <a:gridCol w="2103120"/>
                <a:gridCol w="1874519"/>
              </a:tblGrid>
              <a:tr h="457200">
                <a:tc>
                  <a:txBody>
                    <a:bodyPr/>
                    <a:lstStyle/>
                    <a:p>
                      <a:pPr algn="l"/>
                      <a:r>
                        <a:rPr sz="1150" b="1">
                          <a:solidFill>
                            <a:srgbClr val="FFFFFF"/>
                          </a:solidFill>
                          <a:latin typeface="Arial"/>
                        </a:rPr>
                        <a:t/>
                      </a:r>
                    </a:p>
                  </a:txBody>
                  <a:tcPr marL="73152" marR="73152" marT="18288" marB="18288" anchor="ctr">
                    <a:solidFill>
                      <a:srgbClr val="10243E"/>
                    </a:solidFill>
                  </a:tcPr>
                </a:tc>
                <a:tc>
                  <a:txBody>
                    <a:bodyPr/>
                    <a:lstStyle/>
                    <a:p>
                      <a:pPr algn="ctr"/>
                      <a:r>
                        <a:rPr sz="1150" b="1">
                          <a:solidFill>
                            <a:srgbClr val="FFFFFF"/>
                          </a:solidFill>
                          <a:latin typeface="Arial"/>
                        </a:rPr>
                        <a:t>Paraphrased files</a:t>
                      </a:r>
                    </a:p>
                  </a:txBody>
                  <a:tcPr marL="73152" marR="73152" marT="18288" marB="18288" anchor="ctr">
                    <a:solidFill>
                      <a:srgbClr val="10243E"/>
                    </a:solidFill>
                  </a:tcPr>
                </a:tc>
                <a:tc>
                  <a:txBody>
                    <a:bodyPr/>
                    <a:lstStyle/>
                    <a:p>
                      <a:pPr algn="ctr"/>
                      <a:r>
                        <a:rPr sz="1150" b="1">
                          <a:solidFill>
                            <a:srgbClr val="FFFFFF"/>
                          </a:solidFill>
                          <a:latin typeface="Arial"/>
                        </a:rPr>
                        <a:t>Train files</a:t>
                      </a:r>
                    </a:p>
                  </a:txBody>
                  <a:tcPr marL="73152" marR="73152" marT="18288" marB="18288" anchor="ctr">
                    <a:solidFill>
                      <a:srgbClr val="10243E"/>
                    </a:solidFill>
                  </a:tcPr>
                </a:tc>
              </a:tr>
              <a:tr h="457200">
                <a:tc>
                  <a:txBody>
                    <a:bodyPr/>
                    <a:lstStyle/>
                    <a:p>
                      <a:pPr algn="l"/>
                      <a:r>
                        <a:rPr sz="1150" b="0">
                          <a:solidFill>
                            <a:srgbClr val="172033"/>
                          </a:solidFill>
                          <a:latin typeface="Arial"/>
                        </a:rPr>
                        <a:t>Contents</a:t>
                      </a:r>
                    </a:p>
                  </a:txBody>
                  <a:tcPr marL="73152" marR="73152" marT="18288" marB="18288" anchor="ctr">
                    <a:solidFill>
                      <a:srgbClr val="FFFFFF"/>
                    </a:solidFill>
                  </a:tcPr>
                </a:tc>
                <a:tc>
                  <a:txBody>
                    <a:bodyPr/>
                    <a:lstStyle/>
                    <a:p>
                      <a:pPr algn="ctr"/>
                      <a:r>
                        <a:rPr sz="1150" b="0">
                          <a:solidFill>
                            <a:srgbClr val="172033"/>
                          </a:solidFill>
                          <a:latin typeface="Arial"/>
                        </a:rPr>
                        <a:t>T0 + 21 paraphrases</a:t>
                      </a:r>
                    </a:p>
                  </a:txBody>
                  <a:tcPr marL="73152" marR="73152" marT="18288" marB="18288" anchor="ctr">
                    <a:solidFill>
                      <a:srgbClr val="FFFFFF"/>
                    </a:solidFill>
                  </a:tcPr>
                </a:tc>
                <a:tc>
                  <a:txBody>
                    <a:bodyPr/>
                    <a:lstStyle/>
                    <a:p>
                      <a:pPr algn="ctr"/>
                      <a:r>
                        <a:rPr sz="1150" b="0">
                          <a:solidFill>
                            <a:srgbClr val="172033"/>
                          </a:solidFill>
                          <a:latin typeface="Arial"/>
                        </a:rPr>
                        <a:t>Originals only</a:t>
                      </a:r>
                    </a:p>
                  </a:txBody>
                  <a:tcPr marL="73152" marR="73152" marT="18288" marB="18288" anchor="ctr">
                    <a:solidFill>
                      <a:srgbClr val="FFFFFF"/>
                    </a:solidFill>
                  </a:tcPr>
                </a:tc>
              </a:tr>
              <a:tr h="457200">
                <a:tc>
                  <a:txBody>
                    <a:bodyPr/>
                    <a:lstStyle/>
                    <a:p>
                      <a:pPr algn="l"/>
                      <a:r>
                        <a:rPr sz="1150" b="0">
                          <a:solidFill>
                            <a:srgbClr val="172033"/>
                          </a:solidFill>
                          <a:latin typeface="Arial"/>
                        </a:rPr>
                        <a:t>Rows</a:t>
                      </a:r>
                    </a:p>
                  </a:txBody>
                  <a:tcPr marL="73152" marR="73152" marT="18288" marB="18288" anchor="ctr">
                    <a:solidFill>
                      <a:srgbClr val="F6F8FB"/>
                    </a:solidFill>
                  </a:tcPr>
                </a:tc>
                <a:tc>
                  <a:txBody>
                    <a:bodyPr/>
                    <a:lstStyle/>
                    <a:p>
                      <a:pPr algn="ctr"/>
                      <a:r>
                        <a:rPr sz="1150" b="0">
                          <a:solidFill>
                            <a:srgbClr val="172033"/>
                          </a:solidFill>
                          <a:latin typeface="Arial"/>
                        </a:rPr>
                        <a:t>≈ 420,000</a:t>
                      </a:r>
                    </a:p>
                  </a:txBody>
                  <a:tcPr marL="73152" marR="73152" marT="18288" marB="18288" anchor="ctr">
                    <a:solidFill>
                      <a:srgbClr val="F6F8FB"/>
                    </a:solidFill>
                  </a:tcPr>
                </a:tc>
                <a:tc>
                  <a:txBody>
                    <a:bodyPr/>
                    <a:lstStyle/>
                    <a:p>
                      <a:pPr algn="ctr"/>
                      <a:r>
                        <a:rPr sz="1150" b="0">
                          <a:solidFill>
                            <a:srgbClr val="172033"/>
                          </a:solidFill>
                          <a:latin typeface="Arial"/>
                        </a:rPr>
                        <a:t>≈ 19,500</a:t>
                      </a:r>
                    </a:p>
                  </a:txBody>
                  <a:tcPr marL="73152" marR="73152" marT="18288" marB="18288" anchor="ctr">
                    <a:solidFill>
                      <a:srgbClr val="F6F8FB"/>
                    </a:solidFill>
                  </a:tcPr>
                </a:tc>
              </a:tr>
              <a:tr h="457200">
                <a:tc>
                  <a:txBody>
                    <a:bodyPr/>
                    <a:lstStyle/>
                    <a:p>
                      <a:pPr algn="l"/>
                      <a:r>
                        <a:rPr sz="1150" b="0">
                          <a:solidFill>
                            <a:srgbClr val="172033"/>
                          </a:solidFill>
                          <a:latin typeface="Arial"/>
                        </a:rPr>
                        <a:t>Used for</a:t>
                      </a:r>
                    </a:p>
                  </a:txBody>
                  <a:tcPr marL="73152" marR="73152" marT="18288" marB="18288" anchor="ctr">
                    <a:solidFill>
                      <a:srgbClr val="FFFFFF"/>
                    </a:solidFill>
                  </a:tcPr>
                </a:tc>
                <a:tc>
                  <a:txBody>
                    <a:bodyPr/>
                    <a:lstStyle/>
                    <a:p>
                      <a:pPr algn="ctr"/>
                      <a:r>
                        <a:rPr sz="1150" b="0">
                          <a:solidFill>
                            <a:srgbClr val="172033"/>
                          </a:solidFill>
                          <a:latin typeface="Arial"/>
                        </a:rPr>
                        <a:t>RQ1, RQ3, RQ2 test</a:t>
                      </a:r>
                    </a:p>
                  </a:txBody>
                  <a:tcPr marL="73152" marR="73152" marT="18288" marB="18288" anchor="ctr">
                    <a:solidFill>
                      <a:srgbClr val="FFFFFF"/>
                    </a:solidFill>
                  </a:tcPr>
                </a:tc>
                <a:tc>
                  <a:txBody>
                    <a:bodyPr/>
                    <a:lstStyle/>
                    <a:p>
                      <a:pPr algn="ctr"/>
                      <a:r>
                        <a:rPr sz="1150" b="0">
                          <a:solidFill>
                            <a:srgbClr val="172033"/>
                          </a:solidFill>
                          <a:latin typeface="Arial"/>
                        </a:rPr>
                        <a:t>RQ2 training</a:t>
                      </a:r>
                    </a:p>
                  </a:txBody>
                  <a:tcPr marL="73152" marR="73152" marT="18288" marB="18288" anchor="ctr">
                    <a:solidFill>
                      <a:srgbClr val="FFFFFF"/>
                    </a:solidFill>
                  </a:tcPr>
                </a:tc>
              </a:tr>
            </a:tbl>
          </a:graphicData>
        </a:graphic>
      </p:graphicFrame>
      <p:sp>
        <p:nvSpPr>
          <p:cNvPr id="19" name="TextBox 18"/>
          <p:cNvSpPr txBox="1"/>
          <p:nvPr/>
        </p:nvSpPr>
        <p:spPr>
          <a:xfrm>
            <a:off x="6172200" y="4114800"/>
            <a:ext cx="5303520" cy="365760"/>
          </a:xfrm>
          <a:prstGeom prst="rect">
            <a:avLst/>
          </a:prstGeom>
          <a:noFill/>
        </p:spPr>
        <p:txBody>
          <a:bodyPr wrap="square" lIns="0" rIns="0" tIns="0" bIns="0" anchor="t">
            <a:spAutoFit/>
          </a:bodyPr>
          <a:lstStyle/>
          <a:p>
            <a:pPr algn="l">
              <a:lnSpc>
                <a:spcPct val="110000"/>
              </a:lnSpc>
              <a:spcAft>
                <a:spcPts val="0"/>
              </a:spcAft>
            </a:pPr>
            <a:r>
              <a:rPr sz="1125" b="1">
                <a:solidFill>
                  <a:srgbClr val="2E7D6A"/>
                </a:solidFill>
                <a:latin typeface="Arial"/>
              </a:rPr>
              <a:t>No document appears in both (verified) → leakage-free RQ2 design</a:t>
            </a:r>
          </a:p>
        </p:txBody>
      </p:sp>
      <p:sp>
        <p:nvSpPr>
          <p:cNvPr id="20" name="TextBox 19"/>
          <p:cNvSpPr txBox="1"/>
          <p:nvPr/>
        </p:nvSpPr>
        <p:spPr>
          <a:xfrm>
            <a:off x="548640" y="4983480"/>
            <a:ext cx="3474720" cy="548640"/>
          </a:xfrm>
          <a:prstGeom prst="rect">
            <a:avLst/>
          </a:prstGeom>
          <a:noFill/>
        </p:spPr>
        <p:txBody>
          <a:bodyPr wrap="square" lIns="0" rIns="0" tIns="0" bIns="0" anchor="t">
            <a:spAutoFit/>
          </a:bodyPr>
          <a:lstStyle/>
          <a:p>
            <a:pPr algn="l">
              <a:lnSpc>
                <a:spcPct val="110000"/>
              </a:lnSpc>
              <a:spcAft>
                <a:spcPts val="0"/>
              </a:spcAft>
            </a:pPr>
            <a:r>
              <a:rPr sz="3000" b="1">
                <a:solidFill>
                  <a:srgbClr val="10243E"/>
                </a:solidFill>
                <a:latin typeface="Arial"/>
              </a:rPr>
              <a:t>16,386</a:t>
            </a:r>
          </a:p>
        </p:txBody>
      </p:sp>
      <p:sp>
        <p:nvSpPr>
          <p:cNvPr id="21" name="TextBox 20"/>
          <p:cNvSpPr txBox="1"/>
          <p:nvPr/>
        </p:nvSpPr>
        <p:spPr>
          <a:xfrm>
            <a:off x="548640" y="5596128"/>
            <a:ext cx="3474720" cy="365760"/>
          </a:xfrm>
          <a:prstGeom prst="rect">
            <a:avLst/>
          </a:prstGeom>
          <a:noFill/>
        </p:spPr>
        <p:txBody>
          <a:bodyPr wrap="square" lIns="0" rIns="0" tIns="0" bIns="0" anchor="t">
            <a:spAutoFit/>
          </a:bodyPr>
          <a:lstStyle/>
          <a:p>
            <a:pPr algn="l">
              <a:lnSpc>
                <a:spcPct val="110000"/>
              </a:lnSpc>
              <a:spcAft>
                <a:spcPts val="0"/>
              </a:spcAft>
            </a:pPr>
            <a:r>
              <a:rPr sz="1200" b="0">
                <a:solidFill>
                  <a:srgbClr val="5C6678"/>
                </a:solidFill>
                <a:latin typeface="Arial"/>
              </a:rPr>
              <a:t>aligned T0→T3 chains</a:t>
            </a:r>
          </a:p>
        </p:txBody>
      </p:sp>
      <p:sp>
        <p:nvSpPr>
          <p:cNvPr id="22" name="TextBox 21"/>
          <p:cNvSpPr txBox="1"/>
          <p:nvPr/>
        </p:nvSpPr>
        <p:spPr>
          <a:xfrm>
            <a:off x="4297679" y="4983480"/>
            <a:ext cx="3474720" cy="548640"/>
          </a:xfrm>
          <a:prstGeom prst="rect">
            <a:avLst/>
          </a:prstGeom>
          <a:noFill/>
        </p:spPr>
        <p:txBody>
          <a:bodyPr wrap="square" lIns="0" rIns="0" tIns="0" bIns="0" anchor="t">
            <a:spAutoFit/>
          </a:bodyPr>
          <a:lstStyle/>
          <a:p>
            <a:pPr algn="l">
              <a:lnSpc>
                <a:spcPct val="110000"/>
              </a:lnSpc>
              <a:spcAft>
                <a:spcPts val="0"/>
              </a:spcAft>
            </a:pPr>
            <a:r>
              <a:rPr sz="3000" b="1">
                <a:solidFill>
                  <a:srgbClr val="10243E"/>
                </a:solidFill>
                <a:latin typeface="Arial"/>
              </a:rPr>
              <a:t>19,200</a:t>
            </a:r>
          </a:p>
        </p:txBody>
      </p:sp>
      <p:sp>
        <p:nvSpPr>
          <p:cNvPr id="23" name="TextBox 22"/>
          <p:cNvSpPr txBox="1"/>
          <p:nvPr/>
        </p:nvSpPr>
        <p:spPr>
          <a:xfrm>
            <a:off x="4297679" y="5596128"/>
            <a:ext cx="3474720" cy="365760"/>
          </a:xfrm>
          <a:prstGeom prst="rect">
            <a:avLst/>
          </a:prstGeom>
          <a:noFill/>
        </p:spPr>
        <p:txBody>
          <a:bodyPr wrap="square" lIns="0" rIns="0" tIns="0" bIns="0" anchor="t">
            <a:spAutoFit/>
          </a:bodyPr>
          <a:lstStyle/>
          <a:p>
            <a:pPr algn="l">
              <a:lnSpc>
                <a:spcPct val="110000"/>
              </a:lnSpc>
              <a:spcAft>
                <a:spcPts val="0"/>
              </a:spcAft>
            </a:pPr>
            <a:r>
              <a:rPr sz="1200" b="0">
                <a:solidFill>
                  <a:srgbClr val="5C6678"/>
                </a:solidFill>
                <a:latin typeface="Arial"/>
              </a:rPr>
              <a:t>training texts</a:t>
            </a:r>
          </a:p>
        </p:txBody>
      </p:sp>
      <p:sp>
        <p:nvSpPr>
          <p:cNvPr id="24" name="TextBox 23"/>
          <p:cNvSpPr txBox="1"/>
          <p:nvPr/>
        </p:nvSpPr>
        <p:spPr>
          <a:xfrm>
            <a:off x="8046719" y="4983480"/>
            <a:ext cx="3474720" cy="548640"/>
          </a:xfrm>
          <a:prstGeom prst="rect">
            <a:avLst/>
          </a:prstGeom>
          <a:noFill/>
        </p:spPr>
        <p:txBody>
          <a:bodyPr wrap="square" lIns="0" rIns="0" tIns="0" bIns="0" anchor="t">
            <a:spAutoFit/>
          </a:bodyPr>
          <a:lstStyle/>
          <a:p>
            <a:pPr algn="l">
              <a:lnSpc>
                <a:spcPct val="110000"/>
              </a:lnSpc>
              <a:spcAft>
                <a:spcPts val="0"/>
              </a:spcAft>
            </a:pPr>
            <a:r>
              <a:rPr sz="3000" b="1">
                <a:solidFill>
                  <a:srgbClr val="10243E"/>
                </a:solidFill>
                <a:latin typeface="Arial"/>
              </a:rPr>
              <a:t>700</a:t>
            </a:r>
          </a:p>
        </p:txBody>
      </p:sp>
      <p:sp>
        <p:nvSpPr>
          <p:cNvPr id="25" name="TextBox 24"/>
          <p:cNvSpPr txBox="1"/>
          <p:nvPr/>
        </p:nvSpPr>
        <p:spPr>
          <a:xfrm>
            <a:off x="8046719" y="5596128"/>
            <a:ext cx="3474720" cy="365760"/>
          </a:xfrm>
          <a:prstGeom prst="rect">
            <a:avLst/>
          </a:prstGeom>
          <a:noFill/>
        </p:spPr>
        <p:txBody>
          <a:bodyPr wrap="square" lIns="0" rIns="0" tIns="0" bIns="0" anchor="t">
            <a:spAutoFit/>
          </a:bodyPr>
          <a:lstStyle/>
          <a:p>
            <a:pPr algn="l">
              <a:lnSpc>
                <a:spcPct val="110000"/>
              </a:lnSpc>
              <a:spcAft>
                <a:spcPts val="0"/>
              </a:spcAft>
            </a:pPr>
            <a:r>
              <a:rPr sz="1200" b="0">
                <a:solidFill>
                  <a:srgbClr val="5C6678"/>
                </a:solidFill>
                <a:latin typeface="Arial"/>
              </a:rPr>
              <a:t>Human docs analysed (100 / domain)</a:t>
            </a:r>
          </a:p>
        </p:txBody>
      </p:sp>
      <p:sp>
        <p:nvSpPr>
          <p:cNvPr id="26" name="TextBox 25"/>
          <p:cNvSpPr txBox="1"/>
          <p:nvPr/>
        </p:nvSpPr>
        <p:spPr>
          <a:xfrm>
            <a:off x="512064" y="6446520"/>
            <a:ext cx="11155680" cy="274320"/>
          </a:xfrm>
          <a:prstGeom prst="rect">
            <a:avLst/>
          </a:prstGeom>
          <a:noFill/>
        </p:spPr>
        <p:txBody>
          <a:bodyPr wrap="square" lIns="0" rIns="0" tIns="0" bIns="0" anchor="t">
            <a:spAutoFit/>
          </a:bodyPr>
          <a:lstStyle/>
          <a:p>
            <a:pPr algn="l">
              <a:lnSpc>
                <a:spcPct val="110000"/>
              </a:lnSpc>
              <a:spcAft>
                <a:spcPts val="0"/>
              </a:spcAft>
            </a:pPr>
            <a:r>
              <a:rPr sz="825" b="0">
                <a:solidFill>
                  <a:srgbClr val="5C6678"/>
                </a:solidFill>
                <a:latin typeface="Arial"/>
              </a:rPr>
              <a:t>Each record: source, key (links every version to its origin), text, version_name (original, chatgpt, chatgpt_chatgpt,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12064" y="320040"/>
            <a:ext cx="548640" cy="320040"/>
          </a:xfrm>
          <a:prstGeom prst="rect">
            <a:avLst/>
          </a:prstGeom>
          <a:noFill/>
        </p:spPr>
        <p:txBody>
          <a:bodyPr wrap="square" lIns="0" rIns="0" tIns="0" bIns="0" anchor="t">
            <a:spAutoFit/>
          </a:bodyPr>
          <a:lstStyle/>
          <a:p>
            <a:pPr algn="l">
              <a:lnSpc>
                <a:spcPct val="110000"/>
              </a:lnSpc>
              <a:spcAft>
                <a:spcPts val="0"/>
              </a:spcAft>
            </a:pPr>
            <a:r>
              <a:rPr sz="1125" b="1">
                <a:solidFill>
                  <a:srgbClr val="2F67C7"/>
                </a:solidFill>
                <a:latin typeface="Arial"/>
              </a:rPr>
              <a:t>05</a:t>
            </a:r>
          </a:p>
        </p:txBody>
      </p:sp>
      <p:sp>
        <p:nvSpPr>
          <p:cNvPr id="3" name="TextBox 2"/>
          <p:cNvSpPr txBox="1"/>
          <p:nvPr/>
        </p:nvSpPr>
        <p:spPr>
          <a:xfrm>
            <a:off x="1069848" y="246888"/>
            <a:ext cx="10424160" cy="548640"/>
          </a:xfrm>
          <a:prstGeom prst="rect">
            <a:avLst/>
          </a:prstGeom>
          <a:noFill/>
        </p:spPr>
        <p:txBody>
          <a:bodyPr wrap="square" lIns="0" rIns="0" tIns="0" bIns="0" anchor="t">
            <a:spAutoFit/>
          </a:bodyPr>
          <a:lstStyle/>
          <a:p>
            <a:pPr algn="l">
              <a:lnSpc>
                <a:spcPct val="110000"/>
              </a:lnSpc>
              <a:spcAft>
                <a:spcPts val="0"/>
              </a:spcAft>
            </a:pPr>
            <a:r>
              <a:rPr sz="2325" b="1">
                <a:solidFill>
                  <a:srgbClr val="10243E"/>
                </a:solidFill>
                <a:latin typeface="Arial"/>
              </a:rPr>
              <a:t>Preprocessing pipeline</a:t>
            </a:r>
          </a:p>
        </p:txBody>
      </p:sp>
      <p:sp>
        <p:nvSpPr>
          <p:cNvPr id="4" name="TextBox 3"/>
          <p:cNvSpPr txBox="1"/>
          <p:nvPr/>
        </p:nvSpPr>
        <p:spPr>
          <a:xfrm>
            <a:off x="1069848" y="758952"/>
            <a:ext cx="10424160" cy="274320"/>
          </a:xfrm>
          <a:prstGeom prst="rect">
            <a:avLst/>
          </a:prstGeom>
          <a:noFill/>
        </p:spPr>
        <p:txBody>
          <a:bodyPr wrap="square" lIns="0" rIns="0" tIns="0" bIns="0" anchor="t">
            <a:spAutoFit/>
          </a:bodyPr>
          <a:lstStyle/>
          <a:p>
            <a:pPr algn="l">
              <a:lnSpc>
                <a:spcPct val="110000"/>
              </a:lnSpc>
              <a:spcAft>
                <a:spcPts val="0"/>
              </a:spcAft>
            </a:pPr>
            <a:r>
              <a:rPr sz="1050" b="0">
                <a:solidFill>
                  <a:srgbClr val="5C6678"/>
                </a:solidFill>
                <a:latin typeface="Arial"/>
              </a:rPr>
              <a:t>One logged script for all 14 files: src/data/preprocess.py</a:t>
            </a:r>
          </a:p>
        </p:txBody>
      </p:sp>
      <p:sp>
        <p:nvSpPr>
          <p:cNvPr id="5" name="Rectangle 4"/>
          <p:cNvSpPr/>
          <p:nvPr/>
        </p:nvSpPr>
        <p:spPr>
          <a:xfrm>
            <a:off x="512064" y="1069848"/>
            <a:ext cx="11164824" cy="18288"/>
          </a:xfrm>
          <a:prstGeom prst="rect">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17320"/>
            <a:ext cx="1664208" cy="2514600"/>
          </a:xfrm>
          <a:prstGeom prst="roundRect">
            <a:avLst>
              <a:gd name="adj" fmla="val 4000"/>
            </a:avLst>
          </a:prstGeom>
          <a:solidFill>
            <a:srgbClr val="F6F8FB"/>
          </a:solidFill>
          <a:ln w="9525">
            <a:solidFill>
              <a:srgbClr val="2F67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417320"/>
            <a:ext cx="1664208" cy="73152"/>
          </a:xfrm>
          <a:prstGeom prst="roundRect">
            <a:avLst>
              <a:gd name="adj" fmla="val 50000"/>
            </a:avLst>
          </a:prstGeom>
          <a:solidFill>
            <a:srgbClr val="2F6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645920"/>
            <a:ext cx="457200" cy="365760"/>
          </a:xfrm>
          <a:prstGeom prst="rect">
            <a:avLst/>
          </a:prstGeom>
          <a:noFill/>
        </p:spPr>
        <p:txBody>
          <a:bodyPr wrap="square" lIns="0" rIns="0" tIns="0" bIns="0" anchor="t">
            <a:spAutoFit/>
          </a:bodyPr>
          <a:lstStyle/>
          <a:p>
            <a:pPr algn="l">
              <a:lnSpc>
                <a:spcPct val="110000"/>
              </a:lnSpc>
              <a:spcAft>
                <a:spcPts val="0"/>
              </a:spcAft>
            </a:pPr>
            <a:r>
              <a:rPr sz="2000" b="1">
                <a:solidFill>
                  <a:srgbClr val="2F67C7"/>
                </a:solidFill>
                <a:latin typeface="Arial"/>
              </a:rPr>
              <a:t>1</a:t>
            </a:r>
          </a:p>
        </p:txBody>
      </p:sp>
      <p:sp>
        <p:nvSpPr>
          <p:cNvPr id="9" name="TextBox 8"/>
          <p:cNvSpPr txBox="1"/>
          <p:nvPr/>
        </p:nvSpPr>
        <p:spPr>
          <a:xfrm>
            <a:off x="704088" y="2103120"/>
            <a:ext cx="1417320" cy="365760"/>
          </a:xfrm>
          <a:prstGeom prst="rect">
            <a:avLst/>
          </a:prstGeom>
          <a:noFill/>
        </p:spPr>
        <p:txBody>
          <a:bodyPr wrap="square" lIns="0" rIns="0" tIns="0" bIns="0" anchor="t">
            <a:spAutoFit/>
          </a:bodyPr>
          <a:lstStyle/>
          <a:p>
            <a:pPr algn="l">
              <a:lnSpc>
                <a:spcPct val="110000"/>
              </a:lnSpc>
              <a:spcAft>
                <a:spcPts val="0"/>
              </a:spcAft>
            </a:pPr>
            <a:r>
              <a:rPr sz="1425" b="1">
                <a:solidFill>
                  <a:srgbClr val="10243E"/>
                </a:solidFill>
                <a:latin typeface="Arial"/>
              </a:rPr>
              <a:t>Load</a:t>
            </a:r>
          </a:p>
        </p:txBody>
      </p:sp>
      <p:sp>
        <p:nvSpPr>
          <p:cNvPr id="10" name="TextBox 9"/>
          <p:cNvSpPr txBox="1"/>
          <p:nvPr/>
        </p:nvSpPr>
        <p:spPr>
          <a:xfrm>
            <a:off x="704088" y="2514600"/>
            <a:ext cx="1417320" cy="1371600"/>
          </a:xfrm>
          <a:prstGeom prst="rect">
            <a:avLst/>
          </a:prstGeom>
          <a:noFill/>
        </p:spPr>
        <p:txBody>
          <a:bodyPr wrap="square" lIns="0" rIns="0" tIns="0" bIns="0" anchor="t">
            <a:spAutoFit/>
          </a:bodyPr>
          <a:lstStyle/>
          <a:p>
            <a:pPr algn="l">
              <a:lnSpc>
                <a:spcPct val="110000"/>
              </a:lnSpc>
              <a:spcAft>
                <a:spcPts val="0"/>
              </a:spcAft>
            </a:pPr>
            <a:r>
              <a:rPr sz="1050" b="0">
                <a:solidFill>
                  <a:srgbClr val="5C6678"/>
                </a:solidFill>
                <a:latin typeface="Arial"/>
              </a:rPr>
              <a:t>420k rows,</a:t>
            </a:r>
          </a:p>
          <a:p>
            <a:pPr algn="l">
              <a:lnSpc>
                <a:spcPct val="110000"/>
              </a:lnSpc>
              <a:spcAft>
                <a:spcPts val="0"/>
              </a:spcAft>
            </a:pPr>
            <a:r>
              <a:rPr sz="1050" b="0">
                <a:solidFill>
                  <a:srgbClr val="5C6678"/>
                </a:solidFill>
                <a:latin typeface="Arial"/>
              </a:rPr>
              <a:t>7 sources,</a:t>
            </a:r>
          </a:p>
          <a:p>
            <a:pPr algn="l">
              <a:lnSpc>
                <a:spcPct val="110000"/>
              </a:lnSpc>
              <a:spcAft>
                <a:spcPts val="0"/>
              </a:spcAft>
            </a:pPr>
            <a:r>
              <a:rPr sz="1050" b="0">
                <a:solidFill>
                  <a:srgbClr val="5C6678"/>
                </a:solidFill>
                <a:latin typeface="Arial"/>
              </a:rPr>
              <a:t>22 versions</a:t>
            </a:r>
          </a:p>
        </p:txBody>
      </p:sp>
      <p:sp>
        <p:nvSpPr>
          <p:cNvPr id="11" name="TextBox 10"/>
          <p:cNvSpPr txBox="1"/>
          <p:nvPr/>
        </p:nvSpPr>
        <p:spPr>
          <a:xfrm>
            <a:off x="2194560" y="2377440"/>
            <a:ext cx="274320" cy="365760"/>
          </a:xfrm>
          <a:prstGeom prst="rect">
            <a:avLst/>
          </a:prstGeom>
          <a:noFill/>
        </p:spPr>
        <p:txBody>
          <a:bodyPr wrap="square" lIns="0" rIns="0" tIns="0" bIns="0" anchor="t">
            <a:spAutoFit/>
          </a:bodyPr>
          <a:lstStyle/>
          <a:p>
            <a:pPr algn="ctr">
              <a:lnSpc>
                <a:spcPct val="110000"/>
              </a:lnSpc>
              <a:spcAft>
                <a:spcPts val="0"/>
              </a:spcAft>
            </a:pPr>
            <a:r>
              <a:rPr sz="2250" b="1">
                <a:solidFill>
                  <a:srgbClr val="D8A33A"/>
                </a:solidFill>
                <a:latin typeface="Arial"/>
              </a:rPr>
              <a:t>›</a:t>
            </a:r>
          </a:p>
        </p:txBody>
      </p:sp>
      <p:sp>
        <p:nvSpPr>
          <p:cNvPr id="12" name="Rounded Rectangle 11"/>
          <p:cNvSpPr/>
          <p:nvPr/>
        </p:nvSpPr>
        <p:spPr>
          <a:xfrm>
            <a:off x="2441448" y="1417320"/>
            <a:ext cx="1664208" cy="2514600"/>
          </a:xfrm>
          <a:prstGeom prst="roundRect">
            <a:avLst>
              <a:gd name="adj" fmla="val 4000"/>
            </a:avLst>
          </a:prstGeom>
          <a:solidFill>
            <a:srgbClr val="F6F8FB"/>
          </a:solidFill>
          <a:ln w="9525">
            <a:solidFill>
              <a:srgbClr val="587F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441448" y="1417320"/>
            <a:ext cx="1664208" cy="73152"/>
          </a:xfrm>
          <a:prstGeom prst="roundRect">
            <a:avLst>
              <a:gd name="adj" fmla="val 50000"/>
            </a:avLst>
          </a:prstGeom>
          <a:solidFill>
            <a:srgbClr val="587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96896" y="1645920"/>
            <a:ext cx="457200" cy="365760"/>
          </a:xfrm>
          <a:prstGeom prst="rect">
            <a:avLst/>
          </a:prstGeom>
          <a:noFill/>
        </p:spPr>
        <p:txBody>
          <a:bodyPr wrap="square" lIns="0" rIns="0" tIns="0" bIns="0" anchor="t">
            <a:spAutoFit/>
          </a:bodyPr>
          <a:lstStyle/>
          <a:p>
            <a:pPr algn="l">
              <a:lnSpc>
                <a:spcPct val="110000"/>
              </a:lnSpc>
              <a:spcAft>
                <a:spcPts val="0"/>
              </a:spcAft>
            </a:pPr>
            <a:r>
              <a:rPr sz="2000" b="1">
                <a:solidFill>
                  <a:srgbClr val="2F67C7"/>
                </a:solidFill>
                <a:latin typeface="Arial"/>
              </a:rPr>
              <a:t>2</a:t>
            </a:r>
          </a:p>
        </p:txBody>
      </p:sp>
      <p:sp>
        <p:nvSpPr>
          <p:cNvPr id="15" name="TextBox 14"/>
          <p:cNvSpPr txBox="1"/>
          <p:nvPr/>
        </p:nvSpPr>
        <p:spPr>
          <a:xfrm>
            <a:off x="2596896" y="2103120"/>
            <a:ext cx="1417320" cy="365760"/>
          </a:xfrm>
          <a:prstGeom prst="rect">
            <a:avLst/>
          </a:prstGeom>
          <a:noFill/>
        </p:spPr>
        <p:txBody>
          <a:bodyPr wrap="square" lIns="0" rIns="0" tIns="0" bIns="0" anchor="t">
            <a:spAutoFit/>
          </a:bodyPr>
          <a:lstStyle/>
          <a:p>
            <a:pPr algn="l">
              <a:lnSpc>
                <a:spcPct val="110000"/>
              </a:lnSpc>
              <a:spcAft>
                <a:spcPts val="0"/>
              </a:spcAft>
            </a:pPr>
            <a:r>
              <a:rPr sz="1425" b="1">
                <a:solidFill>
                  <a:srgbClr val="10243E"/>
                </a:solidFill>
                <a:latin typeface="Arial"/>
              </a:rPr>
              <a:t>Clean</a:t>
            </a:r>
          </a:p>
        </p:txBody>
      </p:sp>
      <p:sp>
        <p:nvSpPr>
          <p:cNvPr id="16" name="TextBox 15"/>
          <p:cNvSpPr txBox="1"/>
          <p:nvPr/>
        </p:nvSpPr>
        <p:spPr>
          <a:xfrm>
            <a:off x="2596896" y="2514600"/>
            <a:ext cx="1417320" cy="1371600"/>
          </a:xfrm>
          <a:prstGeom prst="rect">
            <a:avLst/>
          </a:prstGeom>
          <a:noFill/>
        </p:spPr>
        <p:txBody>
          <a:bodyPr wrap="square" lIns="0" rIns="0" tIns="0" bIns="0" anchor="t">
            <a:spAutoFit/>
          </a:bodyPr>
          <a:lstStyle/>
          <a:p>
            <a:pPr algn="l">
              <a:lnSpc>
                <a:spcPct val="110000"/>
              </a:lnSpc>
              <a:spcAft>
                <a:spcPts val="0"/>
              </a:spcAft>
            </a:pPr>
            <a:r>
              <a:rPr sz="1050" b="0">
                <a:solidFill>
                  <a:srgbClr val="5C6678"/>
                </a:solidFill>
                <a:latin typeface="Arial"/>
              </a:rPr>
              <a:t>Unicode, quotes,</a:t>
            </a:r>
          </a:p>
          <a:p>
            <a:pPr algn="l">
              <a:lnSpc>
                <a:spcPct val="110000"/>
              </a:lnSpc>
              <a:spcAft>
                <a:spcPts val="0"/>
              </a:spcAft>
            </a:pPr>
            <a:r>
              <a:rPr sz="1050" b="0">
                <a:solidFill>
                  <a:srgbClr val="5C6678"/>
                </a:solidFill>
                <a:latin typeface="Arial"/>
              </a:rPr>
              <a:t>whitespace,</a:t>
            </a:r>
          </a:p>
          <a:p>
            <a:pPr algn="l">
              <a:lnSpc>
                <a:spcPct val="110000"/>
              </a:lnSpc>
              <a:spcAft>
                <a:spcPts val="0"/>
              </a:spcAft>
            </a:pPr>
            <a:r>
              <a:rPr sz="1050" b="0">
                <a:solidFill>
                  <a:srgbClr val="5C6678"/>
                </a:solidFill>
                <a:latin typeface="Arial"/>
              </a:rPr>
              <a:t>HTML — ≈44% of</a:t>
            </a:r>
          </a:p>
          <a:p>
            <a:pPr algn="l">
              <a:lnSpc>
                <a:spcPct val="110000"/>
              </a:lnSpc>
              <a:spcAft>
                <a:spcPts val="0"/>
              </a:spcAft>
            </a:pPr>
            <a:r>
              <a:rPr sz="1050" b="0">
                <a:solidFill>
                  <a:srgbClr val="5C6678"/>
                </a:solidFill>
                <a:latin typeface="Arial"/>
              </a:rPr>
              <a:t>rows fixed</a:t>
            </a:r>
          </a:p>
        </p:txBody>
      </p:sp>
      <p:sp>
        <p:nvSpPr>
          <p:cNvPr id="17" name="TextBox 16"/>
          <p:cNvSpPr txBox="1"/>
          <p:nvPr/>
        </p:nvSpPr>
        <p:spPr>
          <a:xfrm>
            <a:off x="4087368" y="2377440"/>
            <a:ext cx="274320" cy="365760"/>
          </a:xfrm>
          <a:prstGeom prst="rect">
            <a:avLst/>
          </a:prstGeom>
          <a:noFill/>
        </p:spPr>
        <p:txBody>
          <a:bodyPr wrap="square" lIns="0" rIns="0" tIns="0" bIns="0" anchor="t">
            <a:spAutoFit/>
          </a:bodyPr>
          <a:lstStyle/>
          <a:p>
            <a:pPr algn="ctr">
              <a:lnSpc>
                <a:spcPct val="110000"/>
              </a:lnSpc>
              <a:spcAft>
                <a:spcPts val="0"/>
              </a:spcAft>
            </a:pPr>
            <a:r>
              <a:rPr sz="2250" b="1">
                <a:solidFill>
                  <a:srgbClr val="D8A33A"/>
                </a:solidFill>
                <a:latin typeface="Arial"/>
              </a:rPr>
              <a:t>›</a:t>
            </a:r>
          </a:p>
        </p:txBody>
      </p:sp>
      <p:sp>
        <p:nvSpPr>
          <p:cNvPr id="18" name="Rounded Rectangle 17"/>
          <p:cNvSpPr/>
          <p:nvPr/>
        </p:nvSpPr>
        <p:spPr>
          <a:xfrm>
            <a:off x="4334255" y="1417320"/>
            <a:ext cx="1664208" cy="2514600"/>
          </a:xfrm>
          <a:prstGeom prst="roundRect">
            <a:avLst>
              <a:gd name="adj" fmla="val 4000"/>
            </a:avLst>
          </a:prstGeom>
          <a:solidFill>
            <a:srgbClr val="F6F8FB"/>
          </a:solidFill>
          <a:ln w="9525">
            <a:solidFill>
              <a:srgbClr val="2F67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334255" y="1417320"/>
            <a:ext cx="1664208" cy="73152"/>
          </a:xfrm>
          <a:prstGeom prst="roundRect">
            <a:avLst>
              <a:gd name="adj" fmla="val 50000"/>
            </a:avLst>
          </a:prstGeom>
          <a:solidFill>
            <a:srgbClr val="2F6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9703" y="1645920"/>
            <a:ext cx="457200" cy="365760"/>
          </a:xfrm>
          <a:prstGeom prst="rect">
            <a:avLst/>
          </a:prstGeom>
          <a:noFill/>
        </p:spPr>
        <p:txBody>
          <a:bodyPr wrap="square" lIns="0" rIns="0" tIns="0" bIns="0" anchor="t">
            <a:spAutoFit/>
          </a:bodyPr>
          <a:lstStyle/>
          <a:p>
            <a:pPr algn="l">
              <a:lnSpc>
                <a:spcPct val="110000"/>
              </a:lnSpc>
              <a:spcAft>
                <a:spcPts val="0"/>
              </a:spcAft>
            </a:pPr>
            <a:r>
              <a:rPr sz="2000" b="1">
                <a:solidFill>
                  <a:srgbClr val="2F67C7"/>
                </a:solidFill>
                <a:latin typeface="Arial"/>
              </a:rPr>
              <a:t>3</a:t>
            </a:r>
          </a:p>
        </p:txBody>
      </p:sp>
      <p:sp>
        <p:nvSpPr>
          <p:cNvPr id="21" name="TextBox 20"/>
          <p:cNvSpPr txBox="1"/>
          <p:nvPr/>
        </p:nvSpPr>
        <p:spPr>
          <a:xfrm>
            <a:off x="4489703" y="2103120"/>
            <a:ext cx="1417320" cy="365760"/>
          </a:xfrm>
          <a:prstGeom prst="rect">
            <a:avLst/>
          </a:prstGeom>
          <a:noFill/>
        </p:spPr>
        <p:txBody>
          <a:bodyPr wrap="square" lIns="0" rIns="0" tIns="0" bIns="0" anchor="t">
            <a:spAutoFit/>
          </a:bodyPr>
          <a:lstStyle/>
          <a:p>
            <a:pPr algn="l">
              <a:lnSpc>
                <a:spcPct val="110000"/>
              </a:lnSpc>
              <a:spcAft>
                <a:spcPts val="0"/>
              </a:spcAft>
            </a:pPr>
            <a:r>
              <a:rPr sz="1425" b="1">
                <a:solidFill>
                  <a:srgbClr val="10243E"/>
                </a:solidFill>
                <a:latin typeface="Arial"/>
              </a:rPr>
              <a:t>Align</a:t>
            </a:r>
          </a:p>
        </p:txBody>
      </p:sp>
      <p:sp>
        <p:nvSpPr>
          <p:cNvPr id="22" name="TextBox 21"/>
          <p:cNvSpPr txBox="1"/>
          <p:nvPr/>
        </p:nvSpPr>
        <p:spPr>
          <a:xfrm>
            <a:off x="4489703" y="2514600"/>
            <a:ext cx="1417320" cy="1371600"/>
          </a:xfrm>
          <a:prstGeom prst="rect">
            <a:avLst/>
          </a:prstGeom>
          <a:noFill/>
        </p:spPr>
        <p:txBody>
          <a:bodyPr wrap="square" lIns="0" rIns="0" tIns="0" bIns="0" anchor="t">
            <a:spAutoFit/>
          </a:bodyPr>
          <a:lstStyle/>
          <a:p>
            <a:pPr algn="l">
              <a:lnSpc>
                <a:spcPct val="110000"/>
              </a:lnSpc>
              <a:spcAft>
                <a:spcPts val="0"/>
              </a:spcAft>
            </a:pPr>
            <a:r>
              <a:rPr sz="1050" b="0">
                <a:solidFill>
                  <a:srgbClr val="5C6678"/>
                </a:solidFill>
                <a:latin typeface="Arial"/>
              </a:rPr>
              <a:t>One row per doc</a:t>
            </a:r>
          </a:p>
          <a:p>
            <a:pPr algn="l">
              <a:lnSpc>
                <a:spcPct val="110000"/>
              </a:lnSpc>
              <a:spcAft>
                <a:spcPts val="0"/>
              </a:spcAft>
            </a:pPr>
            <a:r>
              <a:rPr sz="1050" b="0">
                <a:solidFill>
                  <a:srgbClr val="5C6678"/>
                </a:solidFill>
                <a:latin typeface="Arial"/>
              </a:rPr>
              <a:t>with all 21</a:t>
            </a:r>
          </a:p>
          <a:p>
            <a:pPr algn="l">
              <a:lnSpc>
                <a:spcPct val="110000"/>
              </a:lnSpc>
              <a:spcAft>
                <a:spcPts val="0"/>
              </a:spcAft>
            </a:pPr>
            <a:r>
              <a:rPr sz="1050" b="0">
                <a:solidFill>
                  <a:srgbClr val="5C6678"/>
                </a:solidFill>
                <a:latin typeface="Arial"/>
              </a:rPr>
              <a:t>paraphrases;</a:t>
            </a:r>
          </a:p>
          <a:p>
            <a:pPr algn="l">
              <a:lnSpc>
                <a:spcPct val="110000"/>
              </a:lnSpc>
              <a:spcAft>
                <a:spcPts val="0"/>
              </a:spcAft>
            </a:pPr>
            <a:r>
              <a:rPr sz="1050" b="0">
                <a:solidFill>
                  <a:srgbClr val="5C6678"/>
                </a:solidFill>
                <a:latin typeface="Arial"/>
              </a:rPr>
              <a:t>complete chains</a:t>
            </a:r>
          </a:p>
        </p:txBody>
      </p:sp>
      <p:sp>
        <p:nvSpPr>
          <p:cNvPr id="23" name="TextBox 22"/>
          <p:cNvSpPr txBox="1"/>
          <p:nvPr/>
        </p:nvSpPr>
        <p:spPr>
          <a:xfrm>
            <a:off x="5980175" y="2377440"/>
            <a:ext cx="274320" cy="365760"/>
          </a:xfrm>
          <a:prstGeom prst="rect">
            <a:avLst/>
          </a:prstGeom>
          <a:noFill/>
        </p:spPr>
        <p:txBody>
          <a:bodyPr wrap="square" lIns="0" rIns="0" tIns="0" bIns="0" anchor="t">
            <a:spAutoFit/>
          </a:bodyPr>
          <a:lstStyle/>
          <a:p>
            <a:pPr algn="ctr">
              <a:lnSpc>
                <a:spcPct val="110000"/>
              </a:lnSpc>
              <a:spcAft>
                <a:spcPts val="0"/>
              </a:spcAft>
            </a:pPr>
            <a:r>
              <a:rPr sz="2250" b="1">
                <a:solidFill>
                  <a:srgbClr val="D8A33A"/>
                </a:solidFill>
                <a:latin typeface="Arial"/>
              </a:rPr>
              <a:t>›</a:t>
            </a:r>
          </a:p>
        </p:txBody>
      </p:sp>
      <p:sp>
        <p:nvSpPr>
          <p:cNvPr id="24" name="Rounded Rectangle 23"/>
          <p:cNvSpPr/>
          <p:nvPr/>
        </p:nvSpPr>
        <p:spPr>
          <a:xfrm>
            <a:off x="6227063" y="1417320"/>
            <a:ext cx="1664208" cy="2514600"/>
          </a:xfrm>
          <a:prstGeom prst="roundRect">
            <a:avLst>
              <a:gd name="adj" fmla="val 4000"/>
            </a:avLst>
          </a:prstGeom>
          <a:solidFill>
            <a:srgbClr val="F6F8FB"/>
          </a:solidFill>
          <a:ln w="9525">
            <a:solidFill>
              <a:srgbClr val="587F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227063" y="1417320"/>
            <a:ext cx="1664208" cy="73152"/>
          </a:xfrm>
          <a:prstGeom prst="roundRect">
            <a:avLst>
              <a:gd name="adj" fmla="val 50000"/>
            </a:avLst>
          </a:prstGeom>
          <a:solidFill>
            <a:srgbClr val="587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82511" y="1645920"/>
            <a:ext cx="457200" cy="365760"/>
          </a:xfrm>
          <a:prstGeom prst="rect">
            <a:avLst/>
          </a:prstGeom>
          <a:noFill/>
        </p:spPr>
        <p:txBody>
          <a:bodyPr wrap="square" lIns="0" rIns="0" tIns="0" bIns="0" anchor="t">
            <a:spAutoFit/>
          </a:bodyPr>
          <a:lstStyle/>
          <a:p>
            <a:pPr algn="l">
              <a:lnSpc>
                <a:spcPct val="110000"/>
              </a:lnSpc>
              <a:spcAft>
                <a:spcPts val="0"/>
              </a:spcAft>
            </a:pPr>
            <a:r>
              <a:rPr sz="2000" b="1">
                <a:solidFill>
                  <a:srgbClr val="2F67C7"/>
                </a:solidFill>
                <a:latin typeface="Arial"/>
              </a:rPr>
              <a:t>4</a:t>
            </a:r>
          </a:p>
        </p:txBody>
      </p:sp>
      <p:sp>
        <p:nvSpPr>
          <p:cNvPr id="27" name="TextBox 26"/>
          <p:cNvSpPr txBox="1"/>
          <p:nvPr/>
        </p:nvSpPr>
        <p:spPr>
          <a:xfrm>
            <a:off x="6382511" y="2103120"/>
            <a:ext cx="1417320" cy="365760"/>
          </a:xfrm>
          <a:prstGeom prst="rect">
            <a:avLst/>
          </a:prstGeom>
          <a:noFill/>
        </p:spPr>
        <p:txBody>
          <a:bodyPr wrap="square" lIns="0" rIns="0" tIns="0" bIns="0" anchor="t">
            <a:spAutoFit/>
          </a:bodyPr>
          <a:lstStyle/>
          <a:p>
            <a:pPr algn="l">
              <a:lnSpc>
                <a:spcPct val="110000"/>
              </a:lnSpc>
              <a:spcAft>
                <a:spcPts val="0"/>
              </a:spcAft>
            </a:pPr>
            <a:r>
              <a:rPr sz="1425" b="1">
                <a:solidFill>
                  <a:srgbClr val="10243E"/>
                </a:solidFill>
                <a:latin typeface="Arial"/>
              </a:rPr>
              <a:t>Filter</a:t>
            </a:r>
          </a:p>
        </p:txBody>
      </p:sp>
      <p:sp>
        <p:nvSpPr>
          <p:cNvPr id="28" name="TextBox 27"/>
          <p:cNvSpPr txBox="1"/>
          <p:nvPr/>
        </p:nvSpPr>
        <p:spPr>
          <a:xfrm>
            <a:off x="6382511" y="2514600"/>
            <a:ext cx="1417320" cy="1371600"/>
          </a:xfrm>
          <a:prstGeom prst="rect">
            <a:avLst/>
          </a:prstGeom>
          <a:noFill/>
        </p:spPr>
        <p:txBody>
          <a:bodyPr wrap="square" lIns="0" rIns="0" tIns="0" bIns="0" anchor="t">
            <a:spAutoFit/>
          </a:bodyPr>
          <a:lstStyle/>
          <a:p>
            <a:pPr algn="l">
              <a:lnSpc>
                <a:spcPct val="110000"/>
              </a:lnSpc>
              <a:spcAft>
                <a:spcPts val="0"/>
              </a:spcAft>
            </a:pPr>
            <a:r>
              <a:rPr sz="1050" b="0">
                <a:solidFill>
                  <a:srgbClr val="5C6678"/>
                </a:solidFill>
                <a:latin typeface="Arial"/>
              </a:rPr>
              <a:t>Drop T0 with</a:t>
            </a:r>
          </a:p>
          <a:p>
            <a:pPr algn="l">
              <a:lnSpc>
                <a:spcPct val="110000"/>
              </a:lnSpc>
              <a:spcAft>
                <a:spcPts val="0"/>
              </a:spcAft>
            </a:pPr>
            <a:r>
              <a:rPr sz="1050" b="0">
                <a:solidFill>
                  <a:srgbClr val="5C6678"/>
                </a:solidFill>
                <a:latin typeface="Arial"/>
              </a:rPr>
              <a:t>&lt; 30 words</a:t>
            </a:r>
          </a:p>
          <a:p>
            <a:pPr algn="l">
              <a:lnSpc>
                <a:spcPct val="110000"/>
              </a:lnSpc>
              <a:spcAft>
                <a:spcPts val="0"/>
              </a:spcAft>
            </a:pPr>
            <a:r>
              <a:rPr sz="1050" b="0">
                <a:solidFill>
                  <a:srgbClr val="5C6678"/>
                </a:solidFill>
                <a:latin typeface="Arial"/>
              </a:rPr>
              <a:t>(≈2%)</a:t>
            </a:r>
          </a:p>
        </p:txBody>
      </p:sp>
      <p:sp>
        <p:nvSpPr>
          <p:cNvPr id="29" name="TextBox 28"/>
          <p:cNvSpPr txBox="1"/>
          <p:nvPr/>
        </p:nvSpPr>
        <p:spPr>
          <a:xfrm>
            <a:off x="7872983" y="2377440"/>
            <a:ext cx="274320" cy="365760"/>
          </a:xfrm>
          <a:prstGeom prst="rect">
            <a:avLst/>
          </a:prstGeom>
          <a:noFill/>
        </p:spPr>
        <p:txBody>
          <a:bodyPr wrap="square" lIns="0" rIns="0" tIns="0" bIns="0" anchor="t">
            <a:spAutoFit/>
          </a:bodyPr>
          <a:lstStyle/>
          <a:p>
            <a:pPr algn="ctr">
              <a:lnSpc>
                <a:spcPct val="110000"/>
              </a:lnSpc>
              <a:spcAft>
                <a:spcPts val="0"/>
              </a:spcAft>
            </a:pPr>
            <a:r>
              <a:rPr sz="2250" b="1">
                <a:solidFill>
                  <a:srgbClr val="D8A33A"/>
                </a:solidFill>
                <a:latin typeface="Arial"/>
              </a:rPr>
              <a:t>›</a:t>
            </a:r>
          </a:p>
        </p:txBody>
      </p:sp>
      <p:sp>
        <p:nvSpPr>
          <p:cNvPr id="30" name="Rounded Rectangle 29"/>
          <p:cNvSpPr/>
          <p:nvPr/>
        </p:nvSpPr>
        <p:spPr>
          <a:xfrm>
            <a:off x="8119871" y="1417320"/>
            <a:ext cx="1664208" cy="2514600"/>
          </a:xfrm>
          <a:prstGeom prst="roundRect">
            <a:avLst>
              <a:gd name="adj" fmla="val 4000"/>
            </a:avLst>
          </a:prstGeom>
          <a:solidFill>
            <a:srgbClr val="F6F8FB"/>
          </a:solidFill>
          <a:ln w="9525">
            <a:solidFill>
              <a:srgbClr val="2F67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119871" y="1417320"/>
            <a:ext cx="1664208" cy="73152"/>
          </a:xfrm>
          <a:prstGeom prst="roundRect">
            <a:avLst>
              <a:gd name="adj" fmla="val 50000"/>
            </a:avLst>
          </a:prstGeom>
          <a:solidFill>
            <a:srgbClr val="2F6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75319" y="1645920"/>
            <a:ext cx="457200" cy="365760"/>
          </a:xfrm>
          <a:prstGeom prst="rect">
            <a:avLst/>
          </a:prstGeom>
          <a:noFill/>
        </p:spPr>
        <p:txBody>
          <a:bodyPr wrap="square" lIns="0" rIns="0" tIns="0" bIns="0" anchor="t">
            <a:spAutoFit/>
          </a:bodyPr>
          <a:lstStyle/>
          <a:p>
            <a:pPr algn="l">
              <a:lnSpc>
                <a:spcPct val="110000"/>
              </a:lnSpc>
              <a:spcAft>
                <a:spcPts val="0"/>
              </a:spcAft>
            </a:pPr>
            <a:r>
              <a:rPr sz="2000" b="1">
                <a:solidFill>
                  <a:srgbClr val="2F67C7"/>
                </a:solidFill>
                <a:latin typeface="Arial"/>
              </a:rPr>
              <a:t>5</a:t>
            </a:r>
          </a:p>
        </p:txBody>
      </p:sp>
      <p:sp>
        <p:nvSpPr>
          <p:cNvPr id="33" name="TextBox 32"/>
          <p:cNvSpPr txBox="1"/>
          <p:nvPr/>
        </p:nvSpPr>
        <p:spPr>
          <a:xfrm>
            <a:off x="8275319" y="2103120"/>
            <a:ext cx="1417320" cy="365760"/>
          </a:xfrm>
          <a:prstGeom prst="rect">
            <a:avLst/>
          </a:prstGeom>
          <a:noFill/>
        </p:spPr>
        <p:txBody>
          <a:bodyPr wrap="square" lIns="0" rIns="0" tIns="0" bIns="0" anchor="t">
            <a:spAutoFit/>
          </a:bodyPr>
          <a:lstStyle/>
          <a:p>
            <a:pPr algn="l">
              <a:lnSpc>
                <a:spcPct val="110000"/>
              </a:lnSpc>
              <a:spcAft>
                <a:spcPts val="0"/>
              </a:spcAft>
            </a:pPr>
            <a:r>
              <a:rPr sz="1425" b="1">
                <a:solidFill>
                  <a:srgbClr val="10243E"/>
                </a:solidFill>
                <a:latin typeface="Arial"/>
              </a:rPr>
              <a:t>Sanity-check</a:t>
            </a:r>
          </a:p>
        </p:txBody>
      </p:sp>
      <p:sp>
        <p:nvSpPr>
          <p:cNvPr id="34" name="TextBox 33"/>
          <p:cNvSpPr txBox="1"/>
          <p:nvPr/>
        </p:nvSpPr>
        <p:spPr>
          <a:xfrm>
            <a:off x="8275319" y="2514600"/>
            <a:ext cx="1417320" cy="1371600"/>
          </a:xfrm>
          <a:prstGeom prst="rect">
            <a:avLst/>
          </a:prstGeom>
          <a:noFill/>
        </p:spPr>
        <p:txBody>
          <a:bodyPr wrap="square" lIns="0" rIns="0" tIns="0" bIns="0" anchor="t">
            <a:spAutoFit/>
          </a:bodyPr>
          <a:lstStyle/>
          <a:p>
            <a:pPr algn="l">
              <a:lnSpc>
                <a:spcPct val="110000"/>
              </a:lnSpc>
              <a:spcAft>
                <a:spcPts val="0"/>
              </a:spcAft>
            </a:pPr>
            <a:r>
              <a:rPr sz="1050" b="0">
                <a:solidFill>
                  <a:srgbClr val="5C6678"/>
                </a:solidFill>
                <a:latin typeface="Arial"/>
              </a:rPr>
              <a:t>No-op steps;</a:t>
            </a:r>
          </a:p>
          <a:p>
            <a:pPr algn="l">
              <a:lnSpc>
                <a:spcPct val="110000"/>
              </a:lnSpc>
              <a:spcAft>
                <a:spcPts val="0"/>
              </a:spcAft>
            </a:pPr>
            <a:r>
              <a:rPr sz="1050" b="0">
                <a:solidFill>
                  <a:srgbClr val="5C6678"/>
                </a:solidFill>
                <a:latin typeface="Arial"/>
              </a:rPr>
              <a:t>unrelated</a:t>
            </a:r>
          </a:p>
          <a:p>
            <a:pPr algn="l">
              <a:lnSpc>
                <a:spcPct val="110000"/>
              </a:lnSpc>
              <a:spcAft>
                <a:spcPts val="0"/>
              </a:spcAft>
            </a:pPr>
            <a:r>
              <a:rPr sz="1050" b="0">
                <a:solidFill>
                  <a:srgbClr val="5C6678"/>
                </a:solidFill>
                <a:latin typeface="Arial"/>
              </a:rPr>
              <a:t>outputs flagged</a:t>
            </a:r>
          </a:p>
        </p:txBody>
      </p:sp>
      <p:sp>
        <p:nvSpPr>
          <p:cNvPr id="35" name="TextBox 34"/>
          <p:cNvSpPr txBox="1"/>
          <p:nvPr/>
        </p:nvSpPr>
        <p:spPr>
          <a:xfrm>
            <a:off x="9765792" y="2377440"/>
            <a:ext cx="274320" cy="365760"/>
          </a:xfrm>
          <a:prstGeom prst="rect">
            <a:avLst/>
          </a:prstGeom>
          <a:noFill/>
        </p:spPr>
        <p:txBody>
          <a:bodyPr wrap="square" lIns="0" rIns="0" tIns="0" bIns="0" anchor="t">
            <a:spAutoFit/>
          </a:bodyPr>
          <a:lstStyle/>
          <a:p>
            <a:pPr algn="ctr">
              <a:lnSpc>
                <a:spcPct val="110000"/>
              </a:lnSpc>
              <a:spcAft>
                <a:spcPts val="0"/>
              </a:spcAft>
            </a:pPr>
            <a:r>
              <a:rPr sz="2250" b="1">
                <a:solidFill>
                  <a:srgbClr val="D8A33A"/>
                </a:solidFill>
                <a:latin typeface="Arial"/>
              </a:rPr>
              <a:t>›</a:t>
            </a:r>
          </a:p>
        </p:txBody>
      </p:sp>
      <p:sp>
        <p:nvSpPr>
          <p:cNvPr id="36" name="Rounded Rectangle 35"/>
          <p:cNvSpPr/>
          <p:nvPr/>
        </p:nvSpPr>
        <p:spPr>
          <a:xfrm>
            <a:off x="10012680" y="1417320"/>
            <a:ext cx="1664208" cy="2514600"/>
          </a:xfrm>
          <a:prstGeom prst="roundRect">
            <a:avLst>
              <a:gd name="adj" fmla="val 4000"/>
            </a:avLst>
          </a:prstGeom>
          <a:solidFill>
            <a:srgbClr val="F6F8FB"/>
          </a:solidFill>
          <a:ln w="9525">
            <a:solidFill>
              <a:srgbClr val="587F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0012680" y="1417320"/>
            <a:ext cx="1664208" cy="73152"/>
          </a:xfrm>
          <a:prstGeom prst="roundRect">
            <a:avLst>
              <a:gd name="adj" fmla="val 50000"/>
            </a:avLst>
          </a:prstGeom>
          <a:solidFill>
            <a:srgbClr val="587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68128" y="1645920"/>
            <a:ext cx="457200" cy="365760"/>
          </a:xfrm>
          <a:prstGeom prst="rect">
            <a:avLst/>
          </a:prstGeom>
          <a:noFill/>
        </p:spPr>
        <p:txBody>
          <a:bodyPr wrap="square" lIns="0" rIns="0" tIns="0" bIns="0" anchor="t">
            <a:spAutoFit/>
          </a:bodyPr>
          <a:lstStyle/>
          <a:p>
            <a:pPr algn="l">
              <a:lnSpc>
                <a:spcPct val="110000"/>
              </a:lnSpc>
              <a:spcAft>
                <a:spcPts val="0"/>
              </a:spcAft>
            </a:pPr>
            <a:r>
              <a:rPr sz="2000" b="1">
                <a:solidFill>
                  <a:srgbClr val="2F67C7"/>
                </a:solidFill>
                <a:latin typeface="Arial"/>
              </a:rPr>
              <a:t>6</a:t>
            </a:r>
          </a:p>
        </p:txBody>
      </p:sp>
      <p:sp>
        <p:nvSpPr>
          <p:cNvPr id="39" name="TextBox 38"/>
          <p:cNvSpPr txBox="1"/>
          <p:nvPr/>
        </p:nvSpPr>
        <p:spPr>
          <a:xfrm>
            <a:off x="10168128" y="2103120"/>
            <a:ext cx="1417320" cy="365760"/>
          </a:xfrm>
          <a:prstGeom prst="rect">
            <a:avLst/>
          </a:prstGeom>
          <a:noFill/>
        </p:spPr>
        <p:txBody>
          <a:bodyPr wrap="square" lIns="0" rIns="0" tIns="0" bIns="0" anchor="t">
            <a:spAutoFit/>
          </a:bodyPr>
          <a:lstStyle/>
          <a:p>
            <a:pPr algn="l">
              <a:lnSpc>
                <a:spcPct val="110000"/>
              </a:lnSpc>
              <a:spcAft>
                <a:spcPts val="0"/>
              </a:spcAft>
            </a:pPr>
            <a:r>
              <a:rPr sz="1425" b="1">
                <a:solidFill>
                  <a:srgbClr val="10243E"/>
                </a:solidFill>
                <a:latin typeface="Arial"/>
              </a:rPr>
              <a:t>Split</a:t>
            </a:r>
          </a:p>
        </p:txBody>
      </p:sp>
      <p:sp>
        <p:nvSpPr>
          <p:cNvPr id="40" name="TextBox 39"/>
          <p:cNvSpPr txBox="1"/>
          <p:nvPr/>
        </p:nvSpPr>
        <p:spPr>
          <a:xfrm>
            <a:off x="10168128" y="2514600"/>
            <a:ext cx="1417320" cy="1371600"/>
          </a:xfrm>
          <a:prstGeom prst="rect">
            <a:avLst/>
          </a:prstGeom>
          <a:noFill/>
        </p:spPr>
        <p:txBody>
          <a:bodyPr wrap="square" lIns="0" rIns="0" tIns="0" bIns="0" anchor="t">
            <a:spAutoFit/>
          </a:bodyPr>
          <a:lstStyle/>
          <a:p>
            <a:pPr algn="l">
              <a:lnSpc>
                <a:spcPct val="110000"/>
              </a:lnSpc>
              <a:spcAft>
                <a:spcPts val="0"/>
              </a:spcAft>
            </a:pPr>
            <a:r>
              <a:rPr sz="1050" b="0">
                <a:solidFill>
                  <a:srgbClr val="5C6678"/>
                </a:solidFill>
                <a:latin typeface="Arial"/>
              </a:rPr>
              <a:t>Train/val by key</a:t>
            </a:r>
          </a:p>
          <a:p>
            <a:pPr algn="l">
              <a:lnSpc>
                <a:spcPct val="110000"/>
              </a:lnSpc>
              <a:spcAft>
                <a:spcPts val="0"/>
              </a:spcAft>
            </a:pPr>
            <a:r>
              <a:rPr sz="1050" b="0">
                <a:solidFill>
                  <a:srgbClr val="5C6678"/>
                </a:solidFill>
                <a:latin typeface="Arial"/>
              </a:rPr>
              <a:t>(85/15) +</a:t>
            </a:r>
          </a:p>
          <a:p>
            <a:pPr algn="l">
              <a:lnSpc>
                <a:spcPct val="110000"/>
              </a:lnSpc>
              <a:spcAft>
                <a:spcPts val="0"/>
              </a:spcAft>
            </a:pPr>
            <a:r>
              <a:rPr sz="1050" b="0">
                <a:solidFill>
                  <a:srgbClr val="5C6678"/>
                </a:solidFill>
                <a:latin typeface="Arial"/>
              </a:rPr>
              <a:t>leakage check</a:t>
            </a:r>
          </a:p>
        </p:txBody>
      </p:sp>
      <p:sp>
        <p:nvSpPr>
          <p:cNvPr id="41" name="Rounded Rectangle 40"/>
          <p:cNvSpPr/>
          <p:nvPr/>
        </p:nvSpPr>
        <p:spPr>
          <a:xfrm>
            <a:off x="548640" y="4206240"/>
            <a:ext cx="5486400" cy="1417320"/>
          </a:xfrm>
          <a:prstGeom prst="roundRect">
            <a:avLst>
              <a:gd name="adj" fmla="val 4000"/>
            </a:avLst>
          </a:prstGeom>
          <a:solidFill>
            <a:srgbClr val="F6F8FB"/>
          </a:solidFill>
          <a:ln w="9525">
            <a:solidFill>
              <a:srgbClr val="2F67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548640" y="4206240"/>
            <a:ext cx="5486400" cy="73152"/>
          </a:xfrm>
          <a:prstGeom prst="roundRect">
            <a:avLst>
              <a:gd name="adj" fmla="val 50000"/>
            </a:avLst>
          </a:prstGeom>
          <a:solidFill>
            <a:srgbClr val="2F6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1520" y="4389120"/>
            <a:ext cx="5120640" cy="274320"/>
          </a:xfrm>
          <a:prstGeom prst="rect">
            <a:avLst/>
          </a:prstGeom>
          <a:noFill/>
        </p:spPr>
        <p:txBody>
          <a:bodyPr wrap="square" lIns="0" rIns="0" tIns="0" bIns="0" anchor="t">
            <a:spAutoFit/>
          </a:bodyPr>
          <a:lstStyle/>
          <a:p>
            <a:pPr algn="l">
              <a:lnSpc>
                <a:spcPct val="110000"/>
              </a:lnSpc>
              <a:spcAft>
                <a:spcPts val="0"/>
              </a:spcAft>
            </a:pPr>
            <a:r>
              <a:rPr sz="975" b="1">
                <a:solidFill>
                  <a:srgbClr val="2F67C7"/>
                </a:solidFill>
                <a:latin typeface="Arial"/>
              </a:rPr>
              <a:t>WHY CLEAN?</a:t>
            </a:r>
          </a:p>
        </p:txBody>
      </p:sp>
      <p:sp>
        <p:nvSpPr>
          <p:cNvPr id="44" name="TextBox 43"/>
          <p:cNvSpPr txBox="1"/>
          <p:nvPr/>
        </p:nvSpPr>
        <p:spPr>
          <a:xfrm>
            <a:off x="731520" y="4645152"/>
            <a:ext cx="5120640" cy="914400"/>
          </a:xfrm>
          <a:prstGeom prst="rect">
            <a:avLst/>
          </a:prstGeom>
          <a:noFill/>
        </p:spPr>
        <p:txBody>
          <a:bodyPr wrap="square" lIns="0" rIns="0" tIns="0" bIns="0" anchor="t">
            <a:spAutoFit/>
          </a:bodyPr>
          <a:lstStyle/>
          <a:p>
            <a:pPr algn="l">
              <a:lnSpc>
                <a:spcPct val="110000"/>
              </a:lnSpc>
              <a:spcAft>
                <a:spcPts val="0"/>
              </a:spcAft>
            </a:pPr>
            <a:r>
              <a:rPr sz="1200" b="0">
                <a:solidFill>
                  <a:srgbClr val="172033"/>
                </a:solidFill>
                <a:latin typeface="Arial"/>
              </a:rPr>
              <a:t>Sources format text differently (DIPPER outputs start with a space; some models use curly quotes). Without cleaning, punctuation features would measure formatting, not style.</a:t>
            </a:r>
          </a:p>
        </p:txBody>
      </p:sp>
      <p:sp>
        <p:nvSpPr>
          <p:cNvPr id="45" name="Rounded Rectangle 44"/>
          <p:cNvSpPr/>
          <p:nvPr/>
        </p:nvSpPr>
        <p:spPr>
          <a:xfrm>
            <a:off x="6172200" y="4206240"/>
            <a:ext cx="5486400" cy="1417320"/>
          </a:xfrm>
          <a:prstGeom prst="roundRect">
            <a:avLst>
              <a:gd name="adj" fmla="val 4000"/>
            </a:avLst>
          </a:prstGeom>
          <a:solidFill>
            <a:srgbClr val="F6F8FB"/>
          </a:solidFill>
          <a:ln w="9525">
            <a:solidFill>
              <a:srgbClr val="C856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6172200" y="4206240"/>
            <a:ext cx="5486400" cy="73152"/>
          </a:xfrm>
          <a:prstGeom prst="roundRect">
            <a:avLst>
              <a:gd name="adj" fmla="val 50000"/>
            </a:avLst>
          </a:prstGeom>
          <a:solidFill>
            <a:srgbClr val="C856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55080" y="4389120"/>
            <a:ext cx="5120640" cy="274320"/>
          </a:xfrm>
          <a:prstGeom prst="rect">
            <a:avLst/>
          </a:prstGeom>
          <a:noFill/>
        </p:spPr>
        <p:txBody>
          <a:bodyPr wrap="square" lIns="0" rIns="0" tIns="0" bIns="0" anchor="t">
            <a:spAutoFit/>
          </a:bodyPr>
          <a:lstStyle/>
          <a:p>
            <a:pPr algn="l">
              <a:lnSpc>
                <a:spcPct val="110000"/>
              </a:lnSpc>
              <a:spcAft>
                <a:spcPts val="0"/>
              </a:spcAft>
            </a:pPr>
            <a:r>
              <a:rPr sz="975" b="1">
                <a:solidFill>
                  <a:srgbClr val="C85656"/>
                </a:solidFill>
                <a:latin typeface="Arial"/>
              </a:rPr>
              <a:t>WHAT WE DELIBERATELY DON'T DO</a:t>
            </a:r>
          </a:p>
        </p:txBody>
      </p:sp>
      <p:sp>
        <p:nvSpPr>
          <p:cNvPr id="48" name="TextBox 47"/>
          <p:cNvSpPr txBox="1"/>
          <p:nvPr/>
        </p:nvSpPr>
        <p:spPr>
          <a:xfrm>
            <a:off x="6355080" y="4645152"/>
            <a:ext cx="5120640" cy="914400"/>
          </a:xfrm>
          <a:prstGeom prst="rect">
            <a:avLst/>
          </a:prstGeom>
          <a:noFill/>
        </p:spPr>
        <p:txBody>
          <a:bodyPr wrap="square" lIns="0" rIns="0" tIns="0" bIns="0" anchor="t">
            <a:spAutoFit/>
          </a:bodyPr>
          <a:lstStyle/>
          <a:p>
            <a:pPr algn="l">
              <a:lnSpc>
                <a:spcPct val="110000"/>
              </a:lnSpc>
              <a:spcAft>
                <a:spcPts val="0"/>
              </a:spcAft>
            </a:pPr>
            <a:r>
              <a:rPr sz="1200" b="0">
                <a:solidFill>
                  <a:srgbClr val="172033"/>
                </a:solidFill>
                <a:latin typeface="Arial"/>
              </a:rPr>
              <a:t>No lower-casing, stop-word removal, stemming or truncation: they would destroy the stylistic signal we measure, and truncating T0 would misalign it with its paraphrases.</a:t>
            </a:r>
          </a:p>
        </p:txBody>
      </p:sp>
      <p:sp>
        <p:nvSpPr>
          <p:cNvPr id="49" name="TextBox 48"/>
          <p:cNvSpPr txBox="1"/>
          <p:nvPr/>
        </p:nvSpPr>
        <p:spPr>
          <a:xfrm>
            <a:off x="512064" y="6446520"/>
            <a:ext cx="11155680" cy="274320"/>
          </a:xfrm>
          <a:prstGeom prst="rect">
            <a:avLst/>
          </a:prstGeom>
          <a:noFill/>
        </p:spPr>
        <p:txBody>
          <a:bodyPr wrap="square" lIns="0" rIns="0" tIns="0" bIns="0" anchor="t">
            <a:spAutoFit/>
          </a:bodyPr>
          <a:lstStyle/>
          <a:p>
            <a:pPr algn="l">
              <a:lnSpc>
                <a:spcPct val="110000"/>
              </a:lnSpc>
              <a:spcAft>
                <a:spcPts val="0"/>
              </a:spcAft>
            </a:pPr>
            <a:r>
              <a:rPr sz="825" b="0">
                <a:solidFill>
                  <a:srgbClr val="5C6678"/>
                </a:solidFill>
                <a:latin typeface="Arial"/>
              </a:rPr>
              <a:t>Chain retention 90–97% for most domains; SciGen 58% and WP 69% (many PaLM chains missing). Log: experiments/logs/preprocess.log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12064" y="320040"/>
            <a:ext cx="548640" cy="320040"/>
          </a:xfrm>
          <a:prstGeom prst="rect">
            <a:avLst/>
          </a:prstGeom>
          <a:noFill/>
        </p:spPr>
        <p:txBody>
          <a:bodyPr wrap="square" lIns="0" rIns="0" tIns="0" bIns="0" anchor="t">
            <a:spAutoFit/>
          </a:bodyPr>
          <a:lstStyle/>
          <a:p>
            <a:pPr algn="l">
              <a:lnSpc>
                <a:spcPct val="110000"/>
              </a:lnSpc>
              <a:spcAft>
                <a:spcPts val="0"/>
              </a:spcAft>
            </a:pPr>
            <a:r>
              <a:rPr sz="1125" b="1">
                <a:solidFill>
                  <a:srgbClr val="2F67C7"/>
                </a:solidFill>
                <a:latin typeface="Arial"/>
              </a:rPr>
              <a:t>06</a:t>
            </a:r>
          </a:p>
        </p:txBody>
      </p:sp>
      <p:sp>
        <p:nvSpPr>
          <p:cNvPr id="3" name="TextBox 2"/>
          <p:cNvSpPr txBox="1"/>
          <p:nvPr/>
        </p:nvSpPr>
        <p:spPr>
          <a:xfrm>
            <a:off x="1069848" y="246888"/>
            <a:ext cx="10424160" cy="548640"/>
          </a:xfrm>
          <a:prstGeom prst="rect">
            <a:avLst/>
          </a:prstGeom>
          <a:noFill/>
        </p:spPr>
        <p:txBody>
          <a:bodyPr wrap="square" lIns="0" rIns="0" tIns="0" bIns="0" anchor="t">
            <a:spAutoFit/>
          </a:bodyPr>
          <a:lstStyle/>
          <a:p>
            <a:pPr algn="l">
              <a:lnSpc>
                <a:spcPct val="110000"/>
              </a:lnSpc>
              <a:spcAft>
                <a:spcPts val="0"/>
              </a:spcAft>
            </a:pPr>
            <a:r>
              <a:rPr sz="2325" b="1">
                <a:solidFill>
                  <a:srgbClr val="10243E"/>
                </a:solidFill>
                <a:latin typeface="Arial"/>
              </a:rPr>
              <a:t>A data-quality finding: DIPPER (high)</a:t>
            </a:r>
          </a:p>
        </p:txBody>
      </p:sp>
      <p:sp>
        <p:nvSpPr>
          <p:cNvPr id="4" name="TextBox 3"/>
          <p:cNvSpPr txBox="1"/>
          <p:nvPr/>
        </p:nvSpPr>
        <p:spPr>
          <a:xfrm>
            <a:off x="1069848" y="758952"/>
            <a:ext cx="10424160" cy="274320"/>
          </a:xfrm>
          <a:prstGeom prst="rect">
            <a:avLst/>
          </a:prstGeom>
          <a:noFill/>
        </p:spPr>
        <p:txBody>
          <a:bodyPr wrap="square" lIns="0" rIns="0" tIns="0" bIns="0" anchor="t">
            <a:spAutoFit/>
          </a:bodyPr>
          <a:lstStyle/>
          <a:p>
            <a:pPr algn="l">
              <a:lnSpc>
                <a:spcPct val="110000"/>
              </a:lnSpc>
              <a:spcAft>
                <a:spcPts val="0"/>
              </a:spcAft>
            </a:pPr>
            <a:r>
              <a:rPr sz="1050" b="0">
                <a:solidFill>
                  <a:srgbClr val="5C6678"/>
                </a:solidFill>
                <a:latin typeface="Arial"/>
              </a:rPr>
              <a:t>Our sanity check caught unusable chains in the released corpus</a:t>
            </a:r>
          </a:p>
        </p:txBody>
      </p:sp>
      <p:sp>
        <p:nvSpPr>
          <p:cNvPr id="5" name="Rectangle 4"/>
          <p:cNvSpPr/>
          <p:nvPr/>
        </p:nvSpPr>
        <p:spPr>
          <a:xfrm>
            <a:off x="512064" y="1069848"/>
            <a:ext cx="11164824" cy="18288"/>
          </a:xfrm>
          <a:prstGeom prst="rect">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17320"/>
            <a:ext cx="5577840" cy="4480560"/>
          </a:xfrm>
          <a:prstGeom prst="roundRect">
            <a:avLst>
              <a:gd name="adj" fmla="val 4000"/>
            </a:avLst>
          </a:prstGeom>
          <a:solidFill>
            <a:srgbClr val="F6F8FB"/>
          </a:solidFill>
          <a:ln w="9525">
            <a:solidFill>
              <a:srgbClr val="C856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417320"/>
            <a:ext cx="5577840" cy="73152"/>
          </a:xfrm>
          <a:prstGeom prst="roundRect">
            <a:avLst>
              <a:gd name="adj" fmla="val 50000"/>
            </a:avLst>
          </a:prstGeom>
          <a:solidFill>
            <a:srgbClr val="C856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91640"/>
            <a:ext cx="5120640" cy="274320"/>
          </a:xfrm>
          <a:prstGeom prst="rect">
            <a:avLst/>
          </a:prstGeom>
          <a:noFill/>
        </p:spPr>
        <p:txBody>
          <a:bodyPr wrap="square" lIns="0" rIns="0" tIns="0" bIns="0" anchor="t">
            <a:spAutoFit/>
          </a:bodyPr>
          <a:lstStyle/>
          <a:p>
            <a:pPr algn="l">
              <a:lnSpc>
                <a:spcPct val="110000"/>
              </a:lnSpc>
              <a:spcAft>
                <a:spcPts val="0"/>
              </a:spcAft>
            </a:pPr>
            <a:r>
              <a:rPr sz="975" b="1">
                <a:solidFill>
                  <a:srgbClr val="C85656"/>
                </a:solidFill>
                <a:latin typeface="Arial"/>
              </a:rPr>
              <a:t>EXAMPLE · XSUM-8070</a:t>
            </a:r>
          </a:p>
        </p:txBody>
      </p:sp>
      <p:sp>
        <p:nvSpPr>
          <p:cNvPr id="9" name="TextBox 8"/>
          <p:cNvSpPr txBox="1"/>
          <p:nvPr/>
        </p:nvSpPr>
        <p:spPr>
          <a:xfrm>
            <a:off x="777240" y="2011680"/>
            <a:ext cx="5120640" cy="274320"/>
          </a:xfrm>
          <a:prstGeom prst="rect">
            <a:avLst/>
          </a:prstGeom>
          <a:noFill/>
        </p:spPr>
        <p:txBody>
          <a:bodyPr wrap="square" lIns="0" rIns="0" tIns="0" bIns="0" anchor="t">
            <a:spAutoFit/>
          </a:bodyPr>
          <a:lstStyle/>
          <a:p>
            <a:pPr algn="l">
              <a:lnSpc>
                <a:spcPct val="110000"/>
              </a:lnSpc>
              <a:spcAft>
                <a:spcPts val="0"/>
              </a:spcAft>
            </a:pPr>
            <a:r>
              <a:rPr sz="1100" b="1">
                <a:solidFill>
                  <a:srgbClr val="2F67C7"/>
                </a:solidFill>
                <a:latin typeface="Arial"/>
              </a:rPr>
              <a:t>T0 (BBC news)</a:t>
            </a:r>
          </a:p>
        </p:txBody>
      </p:sp>
      <p:sp>
        <p:nvSpPr>
          <p:cNvPr id="10" name="TextBox 9"/>
          <p:cNvSpPr txBox="1"/>
          <p:nvPr/>
        </p:nvSpPr>
        <p:spPr>
          <a:xfrm>
            <a:off x="777240" y="2286000"/>
            <a:ext cx="5120640" cy="914400"/>
          </a:xfrm>
          <a:prstGeom prst="rect">
            <a:avLst/>
          </a:prstGeom>
          <a:noFill/>
        </p:spPr>
        <p:txBody>
          <a:bodyPr wrap="square" lIns="0" rIns="0" tIns="0" bIns="0" anchor="t">
            <a:spAutoFit/>
          </a:bodyPr>
          <a:lstStyle/>
          <a:p>
            <a:pPr algn="l">
              <a:lnSpc>
                <a:spcPct val="110000"/>
              </a:lnSpc>
              <a:spcAft>
                <a:spcPts val="0"/>
              </a:spcAft>
            </a:pPr>
            <a:r>
              <a:rPr sz="1200" b="0">
                <a:solidFill>
                  <a:srgbClr val="172033"/>
                </a:solidFill>
                <a:latin typeface="Arial"/>
              </a:rPr>
              <a:t>“Galvani Bioelectronics hopes to bring a new treatment based on the technique before regulators within seven years…”</a:t>
            </a:r>
          </a:p>
        </p:txBody>
      </p:sp>
      <p:sp>
        <p:nvSpPr>
          <p:cNvPr id="11" name="TextBox 10"/>
          <p:cNvSpPr txBox="1"/>
          <p:nvPr/>
        </p:nvSpPr>
        <p:spPr>
          <a:xfrm>
            <a:off x="777240" y="3337560"/>
            <a:ext cx="5120640" cy="274320"/>
          </a:xfrm>
          <a:prstGeom prst="rect">
            <a:avLst/>
          </a:prstGeom>
          <a:noFill/>
        </p:spPr>
        <p:txBody>
          <a:bodyPr wrap="square" lIns="0" rIns="0" tIns="0" bIns="0" anchor="t">
            <a:spAutoFit/>
          </a:bodyPr>
          <a:lstStyle/>
          <a:p>
            <a:pPr algn="l">
              <a:lnSpc>
                <a:spcPct val="110000"/>
              </a:lnSpc>
              <a:spcAft>
                <a:spcPts val="0"/>
              </a:spcAft>
            </a:pPr>
            <a:r>
              <a:rPr sz="1100" b="1">
                <a:solidFill>
                  <a:srgbClr val="C85656"/>
                </a:solidFill>
                <a:latin typeface="Arial"/>
              </a:rPr>
              <a:t>T1 by DIPPER (high)</a:t>
            </a:r>
          </a:p>
        </p:txBody>
      </p:sp>
      <p:sp>
        <p:nvSpPr>
          <p:cNvPr id="12" name="TextBox 11"/>
          <p:cNvSpPr txBox="1"/>
          <p:nvPr/>
        </p:nvSpPr>
        <p:spPr>
          <a:xfrm>
            <a:off x="777240" y="3611880"/>
            <a:ext cx="5120640" cy="1097280"/>
          </a:xfrm>
          <a:prstGeom prst="rect">
            <a:avLst/>
          </a:prstGeom>
          <a:noFill/>
        </p:spPr>
        <p:txBody>
          <a:bodyPr wrap="square" lIns="0" rIns="0" tIns="0" bIns="0" anchor="t">
            <a:spAutoFit/>
          </a:bodyPr>
          <a:lstStyle/>
          <a:p>
            <a:pPr algn="l">
              <a:lnSpc>
                <a:spcPct val="110000"/>
              </a:lnSpc>
              <a:spcAft>
                <a:spcPts val="0"/>
              </a:spcAft>
            </a:pPr>
            <a:r>
              <a:rPr sz="1200" b="0">
                <a:solidFill>
                  <a:srgbClr val="172033"/>
                </a:solidFill>
                <a:latin typeface="Arial"/>
              </a:rPr>
              <a:t>“At the end of the same season when I was admitted to the pramite, the doctor received me, and introduced me into the world…”</a:t>
            </a:r>
          </a:p>
        </p:txBody>
      </p:sp>
      <p:sp>
        <p:nvSpPr>
          <p:cNvPr id="13" name="TextBox 12"/>
          <p:cNvSpPr txBox="1"/>
          <p:nvPr/>
        </p:nvSpPr>
        <p:spPr>
          <a:xfrm>
            <a:off x="777240" y="4937760"/>
            <a:ext cx="5120640" cy="731520"/>
          </a:xfrm>
          <a:prstGeom prst="rect">
            <a:avLst/>
          </a:prstGeom>
          <a:noFill/>
        </p:spPr>
        <p:txBody>
          <a:bodyPr wrap="square" lIns="0" rIns="0" tIns="0" bIns="0" anchor="t">
            <a:spAutoFit/>
          </a:bodyPr>
          <a:lstStyle/>
          <a:p>
            <a:pPr algn="l">
              <a:lnSpc>
                <a:spcPct val="110000"/>
              </a:lnSpc>
              <a:spcAft>
                <a:spcPts val="0"/>
              </a:spcAft>
            </a:pPr>
            <a:r>
              <a:rPr sz="1350" b="1">
                <a:solidFill>
                  <a:srgbClr val="10243E"/>
                </a:solidFill>
                <a:latin typeface="Arial"/>
              </a:rPr>
              <a:t>Fluent text — but unrelated to the source.</a:t>
            </a:r>
          </a:p>
        </p:txBody>
      </p:sp>
      <p:sp>
        <p:nvSpPr>
          <p:cNvPr id="14" name="TextBox 13"/>
          <p:cNvSpPr txBox="1"/>
          <p:nvPr/>
        </p:nvSpPr>
        <p:spPr>
          <a:xfrm>
            <a:off x="6492240" y="1463040"/>
            <a:ext cx="5120640" cy="548640"/>
          </a:xfrm>
          <a:prstGeom prst="rect">
            <a:avLst/>
          </a:prstGeom>
          <a:noFill/>
        </p:spPr>
        <p:txBody>
          <a:bodyPr wrap="square" lIns="0" rIns="0" tIns="0" bIns="0" anchor="t">
            <a:spAutoFit/>
          </a:bodyPr>
          <a:lstStyle/>
          <a:p>
            <a:pPr algn="l">
              <a:lnSpc>
                <a:spcPct val="110000"/>
              </a:lnSpc>
              <a:spcAft>
                <a:spcPts val="0"/>
              </a:spcAft>
            </a:pPr>
            <a:r>
              <a:rPr sz="3000" b="1">
                <a:solidFill>
                  <a:srgbClr val="C85656"/>
                </a:solidFill>
                <a:latin typeface="Arial"/>
              </a:rPr>
              <a:t>54–95%</a:t>
            </a:r>
          </a:p>
        </p:txBody>
      </p:sp>
      <p:sp>
        <p:nvSpPr>
          <p:cNvPr id="15" name="TextBox 14"/>
          <p:cNvSpPr txBox="1"/>
          <p:nvPr/>
        </p:nvSpPr>
        <p:spPr>
          <a:xfrm>
            <a:off x="6492240" y="2084832"/>
            <a:ext cx="5120640" cy="640080"/>
          </a:xfrm>
          <a:prstGeom prst="rect">
            <a:avLst/>
          </a:prstGeom>
          <a:noFill/>
        </p:spPr>
        <p:txBody>
          <a:bodyPr wrap="square" lIns="0" rIns="0" tIns="0" bIns="0" anchor="t">
            <a:spAutoFit/>
          </a:bodyPr>
          <a:lstStyle/>
          <a:p>
            <a:pPr algn="l">
              <a:lnSpc>
                <a:spcPct val="110000"/>
              </a:lnSpc>
              <a:spcAft>
                <a:spcPts val="0"/>
              </a:spcAft>
            </a:pPr>
            <a:r>
              <a:rPr sz="1275" b="0">
                <a:solidFill>
                  <a:srgbClr val="5C6678"/>
                </a:solidFill>
                <a:latin typeface="Arial"/>
              </a:rPr>
              <a:t>of T1 outputs share &lt; 10% of their words with T0, in 5 of 7 domains</a:t>
            </a:r>
          </a:p>
        </p:txBody>
      </p:sp>
      <p:sp>
        <p:nvSpPr>
          <p:cNvPr id="16" name="TextBox 15"/>
          <p:cNvSpPr txBox="1"/>
          <p:nvPr/>
        </p:nvSpPr>
        <p:spPr>
          <a:xfrm>
            <a:off x="6492240" y="2926080"/>
            <a:ext cx="5120640" cy="548640"/>
          </a:xfrm>
          <a:prstGeom prst="rect">
            <a:avLst/>
          </a:prstGeom>
          <a:noFill/>
        </p:spPr>
        <p:txBody>
          <a:bodyPr wrap="square" lIns="0" rIns="0" tIns="0" bIns="0" anchor="t">
            <a:spAutoFit/>
          </a:bodyPr>
          <a:lstStyle/>
          <a:p>
            <a:pPr algn="l">
              <a:lnSpc>
                <a:spcPct val="110000"/>
              </a:lnSpc>
              <a:spcAft>
                <a:spcPts val="0"/>
              </a:spcAft>
            </a:pPr>
            <a:r>
              <a:rPr sz="3000" b="1">
                <a:solidFill>
                  <a:srgbClr val="C85656"/>
                </a:solidFill>
                <a:latin typeface="Arial"/>
              </a:rPr>
              <a:t>0.06</a:t>
            </a:r>
          </a:p>
        </p:txBody>
      </p:sp>
      <p:sp>
        <p:nvSpPr>
          <p:cNvPr id="17" name="TextBox 16"/>
          <p:cNvSpPr txBox="1"/>
          <p:nvPr/>
        </p:nvSpPr>
        <p:spPr>
          <a:xfrm>
            <a:off x="6492240" y="3547872"/>
            <a:ext cx="5120640" cy="640080"/>
          </a:xfrm>
          <a:prstGeom prst="rect">
            <a:avLst/>
          </a:prstGeom>
          <a:noFill/>
        </p:spPr>
        <p:txBody>
          <a:bodyPr wrap="square" lIns="0" rIns="0" tIns="0" bIns="0" anchor="t">
            <a:spAutoFit/>
          </a:bodyPr>
          <a:lstStyle/>
          <a:p>
            <a:pPr algn="l">
              <a:lnSpc>
                <a:spcPct val="110000"/>
              </a:lnSpc>
              <a:spcAft>
                <a:spcPts val="0"/>
              </a:spcAft>
            </a:pPr>
            <a:r>
              <a:rPr sz="1275" b="0">
                <a:solidFill>
                  <a:srgbClr val="5C6678"/>
                </a:solidFill>
                <a:latin typeface="Arial"/>
              </a:rPr>
              <a:t>SBERT similarity to T0 at T3 — the level of unrelated text</a:t>
            </a:r>
          </a:p>
        </p:txBody>
      </p:sp>
      <p:sp>
        <p:nvSpPr>
          <p:cNvPr id="18" name="TextBox 17"/>
          <p:cNvSpPr txBox="1"/>
          <p:nvPr/>
        </p:nvSpPr>
        <p:spPr>
          <a:xfrm>
            <a:off x="6492240" y="4389120"/>
            <a:ext cx="5120640" cy="548640"/>
          </a:xfrm>
          <a:prstGeom prst="rect">
            <a:avLst/>
          </a:prstGeom>
          <a:noFill/>
        </p:spPr>
        <p:txBody>
          <a:bodyPr wrap="square" lIns="0" rIns="0" tIns="0" bIns="0" anchor="t">
            <a:spAutoFit/>
          </a:bodyPr>
          <a:lstStyle/>
          <a:p>
            <a:pPr algn="l">
              <a:lnSpc>
                <a:spcPct val="110000"/>
              </a:lnSpc>
              <a:spcAft>
                <a:spcPts val="0"/>
              </a:spcAft>
            </a:pPr>
            <a:r>
              <a:rPr sz="3000" b="1">
                <a:solidFill>
                  <a:srgbClr val="10243E"/>
                </a:solidFill>
                <a:latin typeface="Arial"/>
              </a:rPr>
              <a:t>Excluded</a:t>
            </a:r>
          </a:p>
        </p:txBody>
      </p:sp>
      <p:sp>
        <p:nvSpPr>
          <p:cNvPr id="19" name="TextBox 18"/>
          <p:cNvSpPr txBox="1"/>
          <p:nvPr/>
        </p:nvSpPr>
        <p:spPr>
          <a:xfrm>
            <a:off x="6492240" y="5010912"/>
            <a:ext cx="5120640" cy="640080"/>
          </a:xfrm>
          <a:prstGeom prst="rect">
            <a:avLst/>
          </a:prstGeom>
          <a:noFill/>
        </p:spPr>
        <p:txBody>
          <a:bodyPr wrap="square" lIns="0" rIns="0" tIns="0" bIns="0" anchor="t">
            <a:spAutoFit/>
          </a:bodyPr>
          <a:lstStyle/>
          <a:p>
            <a:pPr algn="l">
              <a:lnSpc>
                <a:spcPct val="110000"/>
              </a:lnSpc>
              <a:spcAft>
                <a:spcPts val="0"/>
              </a:spcAft>
            </a:pPr>
            <a:r>
              <a:rPr sz="1275" b="0">
                <a:solidFill>
                  <a:srgbClr val="5C6678"/>
                </a:solidFill>
                <a:latin typeface="Arial"/>
              </a:rPr>
              <a:t>from all interpretation; kept in tables, marked †</a:t>
            </a:r>
          </a:p>
        </p:txBody>
      </p:sp>
      <p:sp>
        <p:nvSpPr>
          <p:cNvPr id="20" name="TextBox 19"/>
          <p:cNvSpPr txBox="1"/>
          <p:nvPr/>
        </p:nvSpPr>
        <p:spPr>
          <a:xfrm>
            <a:off x="512064" y="6446520"/>
            <a:ext cx="11155680" cy="274320"/>
          </a:xfrm>
          <a:prstGeom prst="rect">
            <a:avLst/>
          </a:prstGeom>
          <a:noFill/>
        </p:spPr>
        <p:txBody>
          <a:bodyPr wrap="square" lIns="0" rIns="0" tIns="0" bIns="0" anchor="t">
            <a:spAutoFit/>
          </a:bodyPr>
          <a:lstStyle/>
          <a:p>
            <a:pPr algn="l">
              <a:lnSpc>
                <a:spcPct val="110000"/>
              </a:lnSpc>
              <a:spcAft>
                <a:spcPts val="0"/>
              </a:spcAft>
            </a:pPr>
            <a:r>
              <a:rPr sz="825" b="0">
                <a:solidFill>
                  <a:srgbClr val="5C6678"/>
                </a:solidFill>
                <a:latin typeface="Arial"/>
              </a:rPr>
              <a:t>Detected automatically in step 5 of preprocessing; recorded in data/metadata/paraphraser_labels.json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12064" y="320040"/>
            <a:ext cx="548640" cy="320040"/>
          </a:xfrm>
          <a:prstGeom prst="rect">
            <a:avLst/>
          </a:prstGeom>
          <a:noFill/>
        </p:spPr>
        <p:txBody>
          <a:bodyPr wrap="square" lIns="0" rIns="0" tIns="0" bIns="0" anchor="t">
            <a:spAutoFit/>
          </a:bodyPr>
          <a:lstStyle/>
          <a:p>
            <a:pPr algn="l">
              <a:lnSpc>
                <a:spcPct val="110000"/>
              </a:lnSpc>
              <a:spcAft>
                <a:spcPts val="0"/>
              </a:spcAft>
            </a:pPr>
            <a:r>
              <a:rPr sz="1125" b="1">
                <a:solidFill>
                  <a:srgbClr val="2F67C7"/>
                </a:solidFill>
                <a:latin typeface="Arial"/>
              </a:rPr>
              <a:t>07</a:t>
            </a:r>
          </a:p>
        </p:txBody>
      </p:sp>
      <p:sp>
        <p:nvSpPr>
          <p:cNvPr id="3" name="TextBox 2"/>
          <p:cNvSpPr txBox="1"/>
          <p:nvPr/>
        </p:nvSpPr>
        <p:spPr>
          <a:xfrm>
            <a:off x="1069848" y="246888"/>
            <a:ext cx="10424160" cy="548640"/>
          </a:xfrm>
          <a:prstGeom prst="rect">
            <a:avLst/>
          </a:prstGeom>
          <a:noFill/>
        </p:spPr>
        <p:txBody>
          <a:bodyPr wrap="square" lIns="0" rIns="0" tIns="0" bIns="0" anchor="t">
            <a:spAutoFit/>
          </a:bodyPr>
          <a:lstStyle/>
          <a:p>
            <a:pPr algn="l">
              <a:lnSpc>
                <a:spcPct val="110000"/>
              </a:lnSpc>
              <a:spcAft>
                <a:spcPts val="0"/>
              </a:spcAft>
            </a:pPr>
            <a:r>
              <a:rPr sz="2325" b="1">
                <a:solidFill>
                  <a:srgbClr val="10243E"/>
                </a:solidFill>
                <a:latin typeface="Arial"/>
              </a:rPr>
              <a:t>Baseline: wording is replaced, meaning stays</a:t>
            </a:r>
          </a:p>
        </p:txBody>
      </p:sp>
      <p:sp>
        <p:nvSpPr>
          <p:cNvPr id="4" name="TextBox 3"/>
          <p:cNvSpPr txBox="1"/>
          <p:nvPr/>
        </p:nvSpPr>
        <p:spPr>
          <a:xfrm>
            <a:off x="1069848" y="758952"/>
            <a:ext cx="10424160" cy="274320"/>
          </a:xfrm>
          <a:prstGeom prst="rect">
            <a:avLst/>
          </a:prstGeom>
          <a:noFill/>
        </p:spPr>
        <p:txBody>
          <a:bodyPr wrap="square" lIns="0" rIns="0" tIns="0" bIns="0" anchor="t">
            <a:spAutoFit/>
          </a:bodyPr>
          <a:lstStyle/>
          <a:p>
            <a:pPr algn="l">
              <a:lnSpc>
                <a:spcPct val="110000"/>
              </a:lnSpc>
              <a:spcAft>
                <a:spcPts val="0"/>
              </a:spcAft>
            </a:pPr>
            <a:r>
              <a:rPr sz="1050" b="0">
                <a:solidFill>
                  <a:srgbClr val="5C6678"/>
                </a:solidFill>
                <a:latin typeface="Arial"/>
              </a:rPr>
              <a:t>Week 4 checkpoint · each Tk compared with its own T0 · ChatGPT chains, 700 docs</a:t>
            </a:r>
          </a:p>
        </p:txBody>
      </p:sp>
      <p:sp>
        <p:nvSpPr>
          <p:cNvPr id="5" name="Rectangle 4"/>
          <p:cNvSpPr/>
          <p:nvPr/>
        </p:nvSpPr>
        <p:spPr>
          <a:xfrm>
            <a:off x="512064" y="1069848"/>
            <a:ext cx="11164824" cy="18288"/>
          </a:xfrm>
          <a:prstGeom prst="rect">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5852160" cy="274320"/>
          </a:xfrm>
          <a:prstGeom prst="rect">
            <a:avLst/>
          </a:prstGeom>
          <a:noFill/>
        </p:spPr>
        <p:txBody>
          <a:bodyPr wrap="square" lIns="0" rIns="0" tIns="0" bIns="0" anchor="t">
            <a:spAutoFit/>
          </a:bodyPr>
          <a:lstStyle/>
          <a:p>
            <a:pPr algn="l">
              <a:lnSpc>
                <a:spcPct val="110000"/>
              </a:lnSpc>
              <a:spcAft>
                <a:spcPts val="0"/>
              </a:spcAft>
            </a:pPr>
            <a:r>
              <a:rPr sz="975" b="1">
                <a:solidFill>
                  <a:srgbClr val="C85656"/>
                </a:solidFill>
                <a:latin typeface="Arial"/>
              </a:rPr>
              <a:t>SURFACE — HOW MUCH WORDING IS KEPT</a:t>
            </a:r>
          </a:p>
        </p:txBody>
      </p:sp>
      <p:sp>
        <p:nvSpPr>
          <p:cNvPr id="7" name="TextBox 6"/>
          <p:cNvSpPr txBox="1"/>
          <p:nvPr/>
        </p:nvSpPr>
        <p:spPr>
          <a:xfrm>
            <a:off x="548640" y="1645920"/>
            <a:ext cx="5852160" cy="548640"/>
          </a:xfrm>
          <a:prstGeom prst="rect">
            <a:avLst/>
          </a:prstGeom>
          <a:noFill/>
        </p:spPr>
        <p:txBody>
          <a:bodyPr wrap="square" lIns="0" rIns="0" tIns="0" bIns="0" anchor="t">
            <a:spAutoFit/>
          </a:bodyPr>
          <a:lstStyle/>
          <a:p>
            <a:pPr algn="l">
              <a:lnSpc>
                <a:spcPct val="110000"/>
              </a:lnSpc>
              <a:spcAft>
                <a:spcPts val="0"/>
              </a:spcAft>
            </a:pPr>
            <a:r>
              <a:rPr sz="1200" b="0">
                <a:solidFill>
                  <a:srgbClr val="172033"/>
                </a:solidFill>
                <a:latin typeface="Arial"/>
              </a:rPr>
              <a:t>BLEU-4 (n-gram overlap) · ROUGE-L (longest common subsequence)</a:t>
            </a:r>
          </a:p>
        </p:txBody>
      </p:sp>
      <p:sp>
        <p:nvSpPr>
          <p:cNvPr id="8" name="TextBox 7"/>
          <p:cNvSpPr txBox="1"/>
          <p:nvPr/>
        </p:nvSpPr>
        <p:spPr>
          <a:xfrm>
            <a:off x="548640" y="2148840"/>
            <a:ext cx="5852160" cy="274320"/>
          </a:xfrm>
          <a:prstGeom prst="rect">
            <a:avLst/>
          </a:prstGeom>
          <a:noFill/>
        </p:spPr>
        <p:txBody>
          <a:bodyPr wrap="square" lIns="0" rIns="0" tIns="0" bIns="0" anchor="t">
            <a:spAutoFit/>
          </a:bodyPr>
          <a:lstStyle/>
          <a:p>
            <a:pPr algn="l">
              <a:lnSpc>
                <a:spcPct val="110000"/>
              </a:lnSpc>
              <a:spcAft>
                <a:spcPts val="0"/>
              </a:spcAft>
            </a:pPr>
            <a:r>
              <a:rPr sz="975" b="1">
                <a:solidFill>
                  <a:srgbClr val="2E7D6A"/>
                </a:solidFill>
                <a:latin typeface="Arial"/>
              </a:rPr>
              <a:t>MEANING — HOW MUCH CONTENT IS KEPT</a:t>
            </a:r>
          </a:p>
        </p:txBody>
      </p:sp>
      <p:sp>
        <p:nvSpPr>
          <p:cNvPr id="9" name="TextBox 8"/>
          <p:cNvSpPr txBox="1"/>
          <p:nvPr/>
        </p:nvSpPr>
        <p:spPr>
          <a:xfrm>
            <a:off x="548640" y="2423160"/>
            <a:ext cx="5852160" cy="548640"/>
          </a:xfrm>
          <a:prstGeom prst="rect">
            <a:avLst/>
          </a:prstGeom>
          <a:noFill/>
        </p:spPr>
        <p:txBody>
          <a:bodyPr wrap="square" lIns="0" rIns="0" tIns="0" bIns="0" anchor="t">
            <a:spAutoFit/>
          </a:bodyPr>
          <a:lstStyle/>
          <a:p>
            <a:pPr algn="l">
              <a:lnSpc>
                <a:spcPct val="110000"/>
              </a:lnSpc>
              <a:spcAft>
                <a:spcPts val="0"/>
              </a:spcAft>
            </a:pPr>
            <a:r>
              <a:rPr sz="1200" b="0">
                <a:solidFill>
                  <a:srgbClr val="172033"/>
                </a:solidFill>
                <a:latin typeface="Arial"/>
              </a:rPr>
              <a:t>BERTScore (rescaled so unrelated text ≈ 0) · SBERT cosine</a:t>
            </a:r>
          </a:p>
        </p:txBody>
      </p:sp>
      <p:graphicFrame>
        <p:nvGraphicFramePr>
          <p:cNvPr id="10" name="Table 9"/>
          <p:cNvGraphicFramePr>
            <a:graphicFrameLocks noGrp="1"/>
          </p:cNvGraphicFramePr>
          <p:nvPr/>
        </p:nvGraphicFramePr>
        <p:xfrm>
          <a:off x="548640" y="3108960"/>
          <a:ext cx="5852160" cy="2194560"/>
        </p:xfrm>
        <a:graphic>
          <a:graphicData uri="http://schemas.openxmlformats.org/drawingml/2006/table">
            <a:tbl>
              <a:tblPr firstRow="1" bandRow="1">
                <a:tableStyleId>{5C22544A-7EE6-4342-B048-85BDC9FD1C3A}</a:tableStyleId>
              </a:tblPr>
              <a:tblGrid>
                <a:gridCol w="1463040"/>
                <a:gridCol w="1097280"/>
                <a:gridCol w="1097280"/>
                <a:gridCol w="1188720"/>
                <a:gridCol w="1005840"/>
              </a:tblGrid>
              <a:tr h="438912">
                <a:tc>
                  <a:txBody>
                    <a:bodyPr/>
                    <a:lstStyle/>
                    <a:p>
                      <a:pPr algn="l"/>
                      <a:r>
                        <a:rPr sz="1200" b="1">
                          <a:solidFill>
                            <a:srgbClr val="FFFFFF"/>
                          </a:solidFill>
                          <a:latin typeface="Arial"/>
                        </a:rPr>
                        <a:t>Gen.</a:t>
                      </a:r>
                    </a:p>
                  </a:txBody>
                  <a:tcPr marL="73152" marR="73152" marT="18288" marB="18288" anchor="ctr">
                    <a:solidFill>
                      <a:srgbClr val="10243E"/>
                    </a:solidFill>
                  </a:tcPr>
                </a:tc>
                <a:tc>
                  <a:txBody>
                    <a:bodyPr/>
                    <a:lstStyle/>
                    <a:p>
                      <a:pPr algn="ctr"/>
                      <a:r>
                        <a:rPr sz="1200" b="1">
                          <a:solidFill>
                            <a:srgbClr val="FFFFFF"/>
                          </a:solidFill>
                          <a:latin typeface="Arial"/>
                        </a:rPr>
                        <a:t>BLEU-4</a:t>
                      </a:r>
                    </a:p>
                  </a:txBody>
                  <a:tcPr marL="73152" marR="73152" marT="18288" marB="18288" anchor="ctr">
                    <a:solidFill>
                      <a:srgbClr val="10243E"/>
                    </a:solidFill>
                  </a:tcPr>
                </a:tc>
                <a:tc>
                  <a:txBody>
                    <a:bodyPr/>
                    <a:lstStyle/>
                    <a:p>
                      <a:pPr algn="ctr"/>
                      <a:r>
                        <a:rPr sz="1200" b="1">
                          <a:solidFill>
                            <a:srgbClr val="FFFFFF"/>
                          </a:solidFill>
                          <a:latin typeface="Arial"/>
                        </a:rPr>
                        <a:t>ROUGE-L</a:t>
                      </a:r>
                    </a:p>
                  </a:txBody>
                  <a:tcPr marL="73152" marR="73152" marT="18288" marB="18288" anchor="ctr">
                    <a:solidFill>
                      <a:srgbClr val="10243E"/>
                    </a:solidFill>
                  </a:tcPr>
                </a:tc>
                <a:tc>
                  <a:txBody>
                    <a:bodyPr/>
                    <a:lstStyle/>
                    <a:p>
                      <a:pPr algn="ctr"/>
                      <a:r>
                        <a:rPr sz="1200" b="1">
                          <a:solidFill>
                            <a:srgbClr val="FFFFFF"/>
                          </a:solidFill>
                          <a:latin typeface="Arial"/>
                        </a:rPr>
                        <a:t>BERTScore*</a:t>
                      </a:r>
                    </a:p>
                  </a:txBody>
                  <a:tcPr marL="73152" marR="73152" marT="18288" marB="18288" anchor="ctr">
                    <a:solidFill>
                      <a:srgbClr val="10243E"/>
                    </a:solidFill>
                  </a:tcPr>
                </a:tc>
                <a:tc>
                  <a:txBody>
                    <a:bodyPr/>
                    <a:lstStyle/>
                    <a:p>
                      <a:pPr algn="ctr"/>
                      <a:r>
                        <a:rPr sz="1200" b="1">
                          <a:solidFill>
                            <a:srgbClr val="FFFFFF"/>
                          </a:solidFill>
                          <a:latin typeface="Arial"/>
                        </a:rPr>
                        <a:t>SBERT</a:t>
                      </a:r>
                    </a:p>
                  </a:txBody>
                  <a:tcPr marL="73152" marR="73152" marT="18288" marB="18288" anchor="ctr">
                    <a:solidFill>
                      <a:srgbClr val="10243E"/>
                    </a:solidFill>
                  </a:tcPr>
                </a:tc>
              </a:tr>
              <a:tr h="438912">
                <a:tc>
                  <a:txBody>
                    <a:bodyPr/>
                    <a:lstStyle/>
                    <a:p>
                      <a:pPr algn="l"/>
                      <a:r>
                        <a:rPr sz="1200" b="0">
                          <a:solidFill>
                            <a:srgbClr val="172033"/>
                          </a:solidFill>
                          <a:latin typeface="Arial"/>
                        </a:rPr>
                        <a:t>T1</a:t>
                      </a:r>
                    </a:p>
                  </a:txBody>
                  <a:tcPr marL="73152" marR="73152" marT="18288" marB="18288" anchor="ctr">
                    <a:solidFill>
                      <a:srgbClr val="FFFFFF"/>
                    </a:solidFill>
                  </a:tcPr>
                </a:tc>
                <a:tc>
                  <a:txBody>
                    <a:bodyPr/>
                    <a:lstStyle/>
                    <a:p>
                      <a:pPr algn="ctr"/>
                      <a:r>
                        <a:rPr sz="1200" b="0">
                          <a:solidFill>
                            <a:srgbClr val="172033"/>
                          </a:solidFill>
                          <a:latin typeface="Arial"/>
                        </a:rPr>
                        <a:t>0.192</a:t>
                      </a:r>
                    </a:p>
                  </a:txBody>
                  <a:tcPr marL="73152" marR="73152" marT="18288" marB="18288" anchor="ctr">
                    <a:solidFill>
                      <a:srgbClr val="FFFFFF"/>
                    </a:solidFill>
                  </a:tcPr>
                </a:tc>
                <a:tc>
                  <a:txBody>
                    <a:bodyPr/>
                    <a:lstStyle/>
                    <a:p>
                      <a:pPr algn="ctr"/>
                      <a:r>
                        <a:rPr sz="1200" b="0">
                          <a:solidFill>
                            <a:srgbClr val="172033"/>
                          </a:solidFill>
                          <a:latin typeface="Arial"/>
                        </a:rPr>
                        <a:t>0.506</a:t>
                      </a:r>
                    </a:p>
                  </a:txBody>
                  <a:tcPr marL="73152" marR="73152" marT="18288" marB="18288" anchor="ctr">
                    <a:solidFill>
                      <a:srgbClr val="FFFFFF"/>
                    </a:solidFill>
                  </a:tcPr>
                </a:tc>
                <a:tc>
                  <a:txBody>
                    <a:bodyPr/>
                    <a:lstStyle/>
                    <a:p>
                      <a:pPr algn="ctr"/>
                      <a:r>
                        <a:rPr sz="1200" b="0">
                          <a:solidFill>
                            <a:srgbClr val="172033"/>
                          </a:solidFill>
                          <a:latin typeface="Arial"/>
                        </a:rPr>
                        <a:t>0.653</a:t>
                      </a:r>
                    </a:p>
                  </a:txBody>
                  <a:tcPr marL="73152" marR="73152" marT="18288" marB="18288" anchor="ctr">
                    <a:solidFill>
                      <a:srgbClr val="FFFFFF"/>
                    </a:solidFill>
                  </a:tcPr>
                </a:tc>
                <a:tc>
                  <a:txBody>
                    <a:bodyPr/>
                    <a:lstStyle/>
                    <a:p>
                      <a:pPr algn="ctr"/>
                      <a:r>
                        <a:rPr sz="1200" b="0">
                          <a:solidFill>
                            <a:srgbClr val="172033"/>
                          </a:solidFill>
                          <a:latin typeface="Arial"/>
                        </a:rPr>
                        <a:t>0.900</a:t>
                      </a:r>
                    </a:p>
                  </a:txBody>
                  <a:tcPr marL="73152" marR="73152" marT="18288" marB="18288" anchor="ctr">
                    <a:solidFill>
                      <a:srgbClr val="FFFFFF"/>
                    </a:solidFill>
                  </a:tcPr>
                </a:tc>
              </a:tr>
              <a:tr h="438912">
                <a:tc>
                  <a:txBody>
                    <a:bodyPr/>
                    <a:lstStyle/>
                    <a:p>
                      <a:pPr algn="l"/>
                      <a:r>
                        <a:rPr sz="1200" b="0">
                          <a:solidFill>
                            <a:srgbClr val="172033"/>
                          </a:solidFill>
                          <a:latin typeface="Arial"/>
                        </a:rPr>
                        <a:t>T2</a:t>
                      </a:r>
                    </a:p>
                  </a:txBody>
                  <a:tcPr marL="73152" marR="73152" marT="18288" marB="18288" anchor="ctr">
                    <a:solidFill>
                      <a:srgbClr val="F6F8FB"/>
                    </a:solidFill>
                  </a:tcPr>
                </a:tc>
                <a:tc>
                  <a:txBody>
                    <a:bodyPr/>
                    <a:lstStyle/>
                    <a:p>
                      <a:pPr algn="ctr"/>
                      <a:r>
                        <a:rPr sz="1200" b="0">
                          <a:solidFill>
                            <a:srgbClr val="172033"/>
                          </a:solidFill>
                          <a:latin typeface="Arial"/>
                        </a:rPr>
                        <a:t>0.164</a:t>
                      </a:r>
                    </a:p>
                  </a:txBody>
                  <a:tcPr marL="73152" marR="73152" marT="18288" marB="18288" anchor="ctr">
                    <a:solidFill>
                      <a:srgbClr val="F6F8FB"/>
                    </a:solidFill>
                  </a:tcPr>
                </a:tc>
                <a:tc>
                  <a:txBody>
                    <a:bodyPr/>
                    <a:lstStyle/>
                    <a:p>
                      <a:pPr algn="ctr"/>
                      <a:r>
                        <a:rPr sz="1200" b="0">
                          <a:solidFill>
                            <a:srgbClr val="172033"/>
                          </a:solidFill>
                          <a:latin typeface="Arial"/>
                        </a:rPr>
                        <a:t>0.461</a:t>
                      </a:r>
                    </a:p>
                  </a:txBody>
                  <a:tcPr marL="73152" marR="73152" marT="18288" marB="18288" anchor="ctr">
                    <a:solidFill>
                      <a:srgbClr val="F6F8FB"/>
                    </a:solidFill>
                  </a:tcPr>
                </a:tc>
                <a:tc>
                  <a:txBody>
                    <a:bodyPr/>
                    <a:lstStyle/>
                    <a:p>
                      <a:pPr algn="ctr"/>
                      <a:r>
                        <a:rPr sz="1200" b="0">
                          <a:solidFill>
                            <a:srgbClr val="172033"/>
                          </a:solidFill>
                          <a:latin typeface="Arial"/>
                        </a:rPr>
                        <a:t>0.615</a:t>
                      </a:r>
                    </a:p>
                  </a:txBody>
                  <a:tcPr marL="73152" marR="73152" marT="18288" marB="18288" anchor="ctr">
                    <a:solidFill>
                      <a:srgbClr val="F6F8FB"/>
                    </a:solidFill>
                  </a:tcPr>
                </a:tc>
                <a:tc>
                  <a:txBody>
                    <a:bodyPr/>
                    <a:lstStyle/>
                    <a:p>
                      <a:pPr algn="ctr"/>
                      <a:r>
                        <a:rPr sz="1200" b="0">
                          <a:solidFill>
                            <a:srgbClr val="172033"/>
                          </a:solidFill>
                          <a:latin typeface="Arial"/>
                        </a:rPr>
                        <a:t>0.884</a:t>
                      </a:r>
                    </a:p>
                  </a:txBody>
                  <a:tcPr marL="73152" marR="73152" marT="18288" marB="18288" anchor="ctr">
                    <a:solidFill>
                      <a:srgbClr val="F6F8FB"/>
                    </a:solidFill>
                  </a:tcPr>
                </a:tc>
              </a:tr>
              <a:tr h="438912">
                <a:tc>
                  <a:txBody>
                    <a:bodyPr/>
                    <a:lstStyle/>
                    <a:p>
                      <a:pPr algn="l"/>
                      <a:r>
                        <a:rPr sz="1200" b="0">
                          <a:solidFill>
                            <a:srgbClr val="172033"/>
                          </a:solidFill>
                          <a:latin typeface="Arial"/>
                        </a:rPr>
                        <a:t>T3</a:t>
                      </a:r>
                    </a:p>
                  </a:txBody>
                  <a:tcPr marL="73152" marR="73152" marT="18288" marB="18288" anchor="ctr">
                    <a:solidFill>
                      <a:srgbClr val="FFFFFF"/>
                    </a:solidFill>
                  </a:tcPr>
                </a:tc>
                <a:tc>
                  <a:txBody>
                    <a:bodyPr/>
                    <a:lstStyle/>
                    <a:p>
                      <a:pPr algn="ctr"/>
                      <a:r>
                        <a:rPr sz="1200" b="0">
                          <a:solidFill>
                            <a:srgbClr val="172033"/>
                          </a:solidFill>
                          <a:latin typeface="Arial"/>
                        </a:rPr>
                        <a:t>0.137</a:t>
                      </a:r>
                    </a:p>
                  </a:txBody>
                  <a:tcPr marL="73152" marR="73152" marT="18288" marB="18288" anchor="ctr">
                    <a:solidFill>
                      <a:srgbClr val="FFFFFF"/>
                    </a:solidFill>
                  </a:tcPr>
                </a:tc>
                <a:tc>
                  <a:txBody>
                    <a:bodyPr/>
                    <a:lstStyle/>
                    <a:p>
                      <a:pPr algn="ctr"/>
                      <a:r>
                        <a:rPr sz="1200" b="0">
                          <a:solidFill>
                            <a:srgbClr val="172033"/>
                          </a:solidFill>
                          <a:latin typeface="Arial"/>
                        </a:rPr>
                        <a:t>0.425</a:t>
                      </a:r>
                    </a:p>
                  </a:txBody>
                  <a:tcPr marL="73152" marR="73152" marT="18288" marB="18288" anchor="ctr">
                    <a:solidFill>
                      <a:srgbClr val="FFFFFF"/>
                    </a:solidFill>
                  </a:tcPr>
                </a:tc>
                <a:tc>
                  <a:txBody>
                    <a:bodyPr/>
                    <a:lstStyle/>
                    <a:p>
                      <a:pPr algn="ctr"/>
                      <a:r>
                        <a:rPr sz="1200" b="0">
                          <a:solidFill>
                            <a:srgbClr val="172033"/>
                          </a:solidFill>
                          <a:latin typeface="Arial"/>
                        </a:rPr>
                        <a:t>0.592</a:t>
                      </a:r>
                    </a:p>
                  </a:txBody>
                  <a:tcPr marL="73152" marR="73152" marT="18288" marB="18288" anchor="ctr">
                    <a:solidFill>
                      <a:srgbClr val="FFFFFF"/>
                    </a:solidFill>
                  </a:tcPr>
                </a:tc>
                <a:tc>
                  <a:txBody>
                    <a:bodyPr/>
                    <a:lstStyle/>
                    <a:p>
                      <a:pPr algn="ctr"/>
                      <a:r>
                        <a:rPr sz="1200" b="0">
                          <a:solidFill>
                            <a:srgbClr val="172033"/>
                          </a:solidFill>
                          <a:latin typeface="Arial"/>
                        </a:rPr>
                        <a:t>0.875</a:t>
                      </a:r>
                    </a:p>
                  </a:txBody>
                  <a:tcPr marL="73152" marR="73152" marT="18288" marB="18288" anchor="ctr">
                    <a:solidFill>
                      <a:srgbClr val="FFFFFF"/>
                    </a:solidFill>
                  </a:tcPr>
                </a:tc>
              </a:tr>
              <a:tr h="438912">
                <a:tc>
                  <a:txBody>
                    <a:bodyPr/>
                    <a:lstStyle/>
                    <a:p>
                      <a:pPr algn="l"/>
                      <a:r>
                        <a:rPr sz="1200" b="1">
                          <a:solidFill>
                            <a:srgbClr val="172033"/>
                          </a:solidFill>
                          <a:latin typeface="Arial"/>
                        </a:rPr>
                        <a:t>Drop T0→T3</a:t>
                      </a:r>
                    </a:p>
                  </a:txBody>
                  <a:tcPr marL="73152" marR="73152" marT="18288" marB="18288" anchor="ctr">
                    <a:solidFill>
                      <a:srgbClr val="EEF4FC"/>
                    </a:solidFill>
                  </a:tcPr>
                </a:tc>
                <a:tc>
                  <a:txBody>
                    <a:bodyPr/>
                    <a:lstStyle/>
                    <a:p>
                      <a:pPr algn="ctr"/>
                      <a:r>
                        <a:rPr sz="1200" b="1">
                          <a:solidFill>
                            <a:srgbClr val="172033"/>
                          </a:solidFill>
                          <a:latin typeface="Arial"/>
                        </a:rPr>
                        <a:t>86%</a:t>
                      </a:r>
                    </a:p>
                  </a:txBody>
                  <a:tcPr marL="73152" marR="73152" marT="18288" marB="18288" anchor="ctr">
                    <a:solidFill>
                      <a:srgbClr val="EEF4FC"/>
                    </a:solidFill>
                  </a:tcPr>
                </a:tc>
                <a:tc>
                  <a:txBody>
                    <a:bodyPr/>
                    <a:lstStyle/>
                    <a:p>
                      <a:pPr algn="ctr"/>
                      <a:r>
                        <a:rPr sz="1200" b="1">
                          <a:solidFill>
                            <a:srgbClr val="172033"/>
                          </a:solidFill>
                          <a:latin typeface="Arial"/>
                        </a:rPr>
                        <a:t>58%</a:t>
                      </a:r>
                    </a:p>
                  </a:txBody>
                  <a:tcPr marL="73152" marR="73152" marT="18288" marB="18288" anchor="ctr">
                    <a:solidFill>
                      <a:srgbClr val="EEF4FC"/>
                    </a:solidFill>
                  </a:tcPr>
                </a:tc>
                <a:tc>
                  <a:txBody>
                    <a:bodyPr/>
                    <a:lstStyle/>
                    <a:p>
                      <a:pPr algn="ctr"/>
                      <a:r>
                        <a:rPr sz="1200" b="1">
                          <a:solidFill>
                            <a:srgbClr val="172033"/>
                          </a:solidFill>
                          <a:latin typeface="Arial"/>
                        </a:rPr>
                        <a:t>41%</a:t>
                      </a:r>
                    </a:p>
                  </a:txBody>
                  <a:tcPr marL="73152" marR="73152" marT="18288" marB="18288" anchor="ctr">
                    <a:solidFill>
                      <a:srgbClr val="EEF4FC"/>
                    </a:solidFill>
                  </a:tcPr>
                </a:tc>
                <a:tc>
                  <a:txBody>
                    <a:bodyPr/>
                    <a:lstStyle/>
                    <a:p>
                      <a:pPr algn="ctr"/>
                      <a:r>
                        <a:rPr sz="1200" b="1">
                          <a:solidFill>
                            <a:srgbClr val="172033"/>
                          </a:solidFill>
                          <a:latin typeface="Arial"/>
                        </a:rPr>
                        <a:t>12%</a:t>
                      </a:r>
                    </a:p>
                  </a:txBody>
                  <a:tcPr marL="73152" marR="73152" marT="18288" marB="18288" anchor="ctr">
                    <a:solidFill>
                      <a:srgbClr val="EEF4FC"/>
                    </a:solidFill>
                  </a:tcPr>
                </a:tc>
              </a:tr>
            </a:tbl>
          </a:graphicData>
        </a:graphic>
      </p:graphicFrame>
      <p:sp>
        <p:nvSpPr>
          <p:cNvPr id="11" name="TextBox 10"/>
          <p:cNvSpPr txBox="1"/>
          <p:nvPr/>
        </p:nvSpPr>
        <p:spPr>
          <a:xfrm>
            <a:off x="548640" y="5440680"/>
            <a:ext cx="5852160" cy="274320"/>
          </a:xfrm>
          <a:prstGeom prst="rect">
            <a:avLst/>
          </a:prstGeom>
          <a:noFill/>
        </p:spPr>
        <p:txBody>
          <a:bodyPr wrap="square" lIns="0" rIns="0" tIns="0" bIns="0" anchor="t">
            <a:spAutoFit/>
          </a:bodyPr>
          <a:lstStyle/>
          <a:p>
            <a:pPr algn="l">
              <a:lnSpc>
                <a:spcPct val="110000"/>
              </a:lnSpc>
              <a:spcAft>
                <a:spcPts val="0"/>
              </a:spcAft>
            </a:pPr>
            <a:r>
              <a:rPr sz="900" b="0">
                <a:solidFill>
                  <a:srgbClr val="5C6678"/>
                </a:solidFill>
                <a:latin typeface="Arial"/>
              </a:rPr>
              <a:t>* rescaled with BERTScore's official baseline (raw score gives unrelated text ≈ 0.67)</a:t>
            </a:r>
          </a:p>
        </p:txBody>
      </p:sp>
      <p:sp>
        <p:nvSpPr>
          <p:cNvPr id="12" name="Rounded Rectangle 11"/>
          <p:cNvSpPr/>
          <p:nvPr/>
        </p:nvSpPr>
        <p:spPr>
          <a:xfrm>
            <a:off x="6720840" y="1371600"/>
            <a:ext cx="4937760" cy="1234440"/>
          </a:xfrm>
          <a:prstGeom prst="roundRect">
            <a:avLst>
              <a:gd name="adj" fmla="val 4000"/>
            </a:avLst>
          </a:prstGeom>
          <a:solidFill>
            <a:srgbClr val="F6F8FB"/>
          </a:solidFill>
          <a:ln w="9525">
            <a:solidFill>
              <a:srgbClr val="2F67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720840" y="1371600"/>
            <a:ext cx="4937760" cy="73152"/>
          </a:xfrm>
          <a:prstGeom prst="roundRect">
            <a:avLst>
              <a:gd name="adj" fmla="val 50000"/>
            </a:avLst>
          </a:prstGeom>
          <a:solidFill>
            <a:srgbClr val="2F6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03720" y="1554480"/>
            <a:ext cx="4572000" cy="274320"/>
          </a:xfrm>
          <a:prstGeom prst="rect">
            <a:avLst/>
          </a:prstGeom>
          <a:noFill/>
        </p:spPr>
        <p:txBody>
          <a:bodyPr wrap="square" lIns="0" rIns="0" tIns="0" bIns="0" anchor="t">
            <a:spAutoFit/>
          </a:bodyPr>
          <a:lstStyle/>
          <a:p>
            <a:pPr algn="l">
              <a:lnSpc>
                <a:spcPct val="110000"/>
              </a:lnSpc>
              <a:spcAft>
                <a:spcPts val="0"/>
              </a:spcAft>
            </a:pPr>
            <a:r>
              <a:rPr sz="975" b="1">
                <a:solidFill>
                  <a:srgbClr val="2F67C7"/>
                </a:solidFill>
                <a:latin typeface="Arial"/>
              </a:rPr>
              <a:t>ONE PASS DOES MOST OF IT</a:t>
            </a:r>
          </a:p>
        </p:txBody>
      </p:sp>
      <p:sp>
        <p:nvSpPr>
          <p:cNvPr id="15" name="TextBox 14"/>
          <p:cNvSpPr txBox="1"/>
          <p:nvPr/>
        </p:nvSpPr>
        <p:spPr>
          <a:xfrm>
            <a:off x="6903720" y="1810512"/>
            <a:ext cx="4572000" cy="731520"/>
          </a:xfrm>
          <a:prstGeom prst="rect">
            <a:avLst/>
          </a:prstGeom>
          <a:noFill/>
        </p:spPr>
        <p:txBody>
          <a:bodyPr wrap="square" lIns="0" rIns="0" tIns="0" bIns="0" anchor="t">
            <a:spAutoFit/>
          </a:bodyPr>
          <a:lstStyle/>
          <a:p>
            <a:pPr algn="l">
              <a:lnSpc>
                <a:spcPct val="110000"/>
              </a:lnSpc>
              <a:spcAft>
                <a:spcPts val="0"/>
              </a:spcAft>
            </a:pPr>
            <a:r>
              <a:rPr sz="1200" b="0">
                <a:solidFill>
                  <a:srgbClr val="172033"/>
                </a:solidFill>
                <a:latin typeface="Arial"/>
              </a:rPr>
              <a:t>94% of the total BLEU drop happens at T1. Later rounds barely move the scores.</a:t>
            </a:r>
          </a:p>
        </p:txBody>
      </p:sp>
      <p:sp>
        <p:nvSpPr>
          <p:cNvPr id="16" name="Rounded Rectangle 15"/>
          <p:cNvSpPr/>
          <p:nvPr/>
        </p:nvSpPr>
        <p:spPr>
          <a:xfrm>
            <a:off x="6720840" y="2788920"/>
            <a:ext cx="4937760" cy="1234440"/>
          </a:xfrm>
          <a:prstGeom prst="roundRect">
            <a:avLst>
              <a:gd name="adj" fmla="val 4000"/>
            </a:avLst>
          </a:prstGeom>
          <a:solidFill>
            <a:srgbClr val="F6F8FB"/>
          </a:solidFill>
          <a:ln w="9525">
            <a:solidFill>
              <a:srgbClr val="C856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720840" y="2788920"/>
            <a:ext cx="4937760" cy="73152"/>
          </a:xfrm>
          <a:prstGeom prst="roundRect">
            <a:avLst>
              <a:gd name="adj" fmla="val 50000"/>
            </a:avLst>
          </a:prstGeom>
          <a:solidFill>
            <a:srgbClr val="C856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03720" y="2971800"/>
            <a:ext cx="4572000" cy="274320"/>
          </a:xfrm>
          <a:prstGeom prst="rect">
            <a:avLst/>
          </a:prstGeom>
          <a:noFill/>
        </p:spPr>
        <p:txBody>
          <a:bodyPr wrap="square" lIns="0" rIns="0" tIns="0" bIns="0" anchor="t">
            <a:spAutoFit/>
          </a:bodyPr>
          <a:lstStyle/>
          <a:p>
            <a:pPr algn="l">
              <a:lnSpc>
                <a:spcPct val="110000"/>
              </a:lnSpc>
              <a:spcAft>
                <a:spcPts val="0"/>
              </a:spcAft>
            </a:pPr>
            <a:r>
              <a:rPr sz="975" b="1">
                <a:solidFill>
                  <a:srgbClr val="C85656"/>
                </a:solidFill>
                <a:latin typeface="Arial"/>
              </a:rPr>
              <a:t>BLEU IS NOT A MEANING METRIC</a:t>
            </a:r>
          </a:p>
        </p:txBody>
      </p:sp>
      <p:sp>
        <p:nvSpPr>
          <p:cNvPr id="19" name="TextBox 18"/>
          <p:cNvSpPr txBox="1"/>
          <p:nvPr/>
        </p:nvSpPr>
        <p:spPr>
          <a:xfrm>
            <a:off x="6903720" y="3227832"/>
            <a:ext cx="4572000" cy="731520"/>
          </a:xfrm>
          <a:prstGeom prst="rect">
            <a:avLst/>
          </a:prstGeom>
          <a:noFill/>
        </p:spPr>
        <p:txBody>
          <a:bodyPr wrap="square" lIns="0" rIns="0" tIns="0" bIns="0" anchor="t">
            <a:spAutoFit/>
          </a:bodyPr>
          <a:lstStyle/>
          <a:p>
            <a:pPr algn="l">
              <a:lnSpc>
                <a:spcPct val="110000"/>
              </a:lnSpc>
              <a:spcAft>
                <a:spcPts val="0"/>
              </a:spcAft>
            </a:pPr>
            <a:r>
              <a:rPr sz="1200" b="0">
                <a:solidFill>
                  <a:srgbClr val="172033"/>
                </a:solidFill>
                <a:latin typeface="Arial"/>
              </a:rPr>
              <a:t>A faithful paraphrase scores low on BLEU. We read BLEU and ROUGE-L only as “wording kept”.</a:t>
            </a:r>
          </a:p>
        </p:txBody>
      </p:sp>
      <p:sp>
        <p:nvSpPr>
          <p:cNvPr id="20" name="Rounded Rectangle 19"/>
          <p:cNvSpPr/>
          <p:nvPr/>
        </p:nvSpPr>
        <p:spPr>
          <a:xfrm>
            <a:off x="6720840" y="4206240"/>
            <a:ext cx="4937760" cy="1234440"/>
          </a:xfrm>
          <a:prstGeom prst="roundRect">
            <a:avLst>
              <a:gd name="adj" fmla="val 4000"/>
            </a:avLst>
          </a:prstGeom>
          <a:solidFill>
            <a:srgbClr val="F6F8FB"/>
          </a:solidFill>
          <a:ln w="9525">
            <a:solidFill>
              <a:srgbClr val="2E7D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720840" y="4206240"/>
            <a:ext cx="4937760" cy="73152"/>
          </a:xfrm>
          <a:prstGeom prst="roundRect">
            <a:avLst>
              <a:gd name="adj" fmla="val 50000"/>
            </a:avLst>
          </a:prstGeom>
          <a:solidFill>
            <a:srgbClr val="2E7D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03720" y="4389120"/>
            <a:ext cx="4572000" cy="274320"/>
          </a:xfrm>
          <a:prstGeom prst="rect">
            <a:avLst/>
          </a:prstGeom>
          <a:noFill/>
        </p:spPr>
        <p:txBody>
          <a:bodyPr wrap="square" lIns="0" rIns="0" tIns="0" bIns="0" anchor="t">
            <a:spAutoFit/>
          </a:bodyPr>
          <a:lstStyle/>
          <a:p>
            <a:pPr algn="l">
              <a:lnSpc>
                <a:spcPct val="110000"/>
              </a:lnSpc>
              <a:spcAft>
                <a:spcPts val="0"/>
              </a:spcAft>
            </a:pPr>
            <a:r>
              <a:rPr sz="975" b="1">
                <a:solidFill>
                  <a:srgbClr val="2E7D6A"/>
                </a:solidFill>
                <a:latin typeface="Arial"/>
              </a:rPr>
              <a:t>MEANING IS LARGELY INTACT</a:t>
            </a:r>
          </a:p>
        </p:txBody>
      </p:sp>
      <p:sp>
        <p:nvSpPr>
          <p:cNvPr id="23" name="TextBox 22"/>
          <p:cNvSpPr txBox="1"/>
          <p:nvPr/>
        </p:nvSpPr>
        <p:spPr>
          <a:xfrm>
            <a:off x="6903720" y="4645152"/>
            <a:ext cx="4572000" cy="731520"/>
          </a:xfrm>
          <a:prstGeom prst="rect">
            <a:avLst/>
          </a:prstGeom>
          <a:noFill/>
        </p:spPr>
        <p:txBody>
          <a:bodyPr wrap="square" lIns="0" rIns="0" tIns="0" bIns="0" anchor="t">
            <a:spAutoFit/>
          </a:bodyPr>
          <a:lstStyle/>
          <a:p>
            <a:pPr algn="l">
              <a:lnSpc>
                <a:spcPct val="110000"/>
              </a:lnSpc>
              <a:spcAft>
                <a:spcPts val="0"/>
              </a:spcAft>
            </a:pPr>
            <a:r>
              <a:rPr sz="1200" b="0">
                <a:solidFill>
                  <a:srgbClr val="172033"/>
                </a:solidFill>
                <a:latin typeface="Arial"/>
              </a:rPr>
              <a:t>SBERT keeps 88% of its value after three rounds; the ship's hull survives.</a:t>
            </a:r>
          </a:p>
        </p:txBody>
      </p:sp>
      <p:sp>
        <p:nvSpPr>
          <p:cNvPr id="24" name="TextBox 23"/>
          <p:cNvSpPr txBox="1"/>
          <p:nvPr/>
        </p:nvSpPr>
        <p:spPr>
          <a:xfrm>
            <a:off x="512064" y="6446520"/>
            <a:ext cx="11155680" cy="274320"/>
          </a:xfrm>
          <a:prstGeom prst="rect">
            <a:avLst/>
          </a:prstGeom>
          <a:noFill/>
        </p:spPr>
        <p:txBody>
          <a:bodyPr wrap="square" lIns="0" rIns="0" tIns="0" bIns="0" anchor="t">
            <a:spAutoFit/>
          </a:bodyPr>
          <a:lstStyle/>
          <a:p>
            <a:pPr algn="l">
              <a:lnSpc>
                <a:spcPct val="110000"/>
              </a:lnSpc>
              <a:spcAft>
                <a:spcPts val="0"/>
              </a:spcAft>
            </a:pPr>
            <a:r>
              <a:rPr sz="825" b="0">
                <a:solidFill>
                  <a:srgbClr val="5C6678"/>
                </a:solidFill>
                <a:latin typeface="Arial"/>
              </a:rPr>
              <a:t>All 7 paraphrasers + a rule-based WordNet baseline in experiments/baseline_results/paraphraser_comparison.csv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12064" y="320040"/>
            <a:ext cx="548640" cy="320040"/>
          </a:xfrm>
          <a:prstGeom prst="rect">
            <a:avLst/>
          </a:prstGeom>
          <a:noFill/>
        </p:spPr>
        <p:txBody>
          <a:bodyPr wrap="square" lIns="0" rIns="0" tIns="0" bIns="0" anchor="t">
            <a:spAutoFit/>
          </a:bodyPr>
          <a:lstStyle/>
          <a:p>
            <a:pPr algn="l">
              <a:lnSpc>
                <a:spcPct val="110000"/>
              </a:lnSpc>
              <a:spcAft>
                <a:spcPts val="0"/>
              </a:spcAft>
            </a:pPr>
            <a:r>
              <a:rPr sz="1125" b="1">
                <a:solidFill>
                  <a:srgbClr val="2F67C7"/>
                </a:solidFill>
                <a:latin typeface="Arial"/>
              </a:rPr>
              <a:t>08</a:t>
            </a:r>
          </a:p>
        </p:txBody>
      </p:sp>
      <p:sp>
        <p:nvSpPr>
          <p:cNvPr id="3" name="TextBox 2"/>
          <p:cNvSpPr txBox="1"/>
          <p:nvPr/>
        </p:nvSpPr>
        <p:spPr>
          <a:xfrm>
            <a:off x="1069848" y="246888"/>
            <a:ext cx="10424160" cy="548640"/>
          </a:xfrm>
          <a:prstGeom prst="rect">
            <a:avLst/>
          </a:prstGeom>
          <a:noFill/>
        </p:spPr>
        <p:txBody>
          <a:bodyPr wrap="square" lIns="0" rIns="0" tIns="0" bIns="0" anchor="t">
            <a:spAutoFit/>
          </a:bodyPr>
          <a:lstStyle/>
          <a:p>
            <a:pPr algn="l">
              <a:lnSpc>
                <a:spcPct val="110000"/>
              </a:lnSpc>
              <a:spcAft>
                <a:spcPts val="0"/>
              </a:spcAft>
            </a:pPr>
            <a:r>
              <a:rPr sz="2325" b="1">
                <a:solidFill>
                  <a:srgbClr val="10243E"/>
                </a:solidFill>
                <a:latin typeface="Arial"/>
              </a:rPr>
              <a:t>Every paraphraser discards wording faster than meaning</a:t>
            </a:r>
          </a:p>
        </p:txBody>
      </p:sp>
      <p:sp>
        <p:nvSpPr>
          <p:cNvPr id="4" name="TextBox 3"/>
          <p:cNvSpPr txBox="1"/>
          <p:nvPr/>
        </p:nvSpPr>
        <p:spPr>
          <a:xfrm>
            <a:off x="1069848" y="758952"/>
            <a:ext cx="10424160" cy="274320"/>
          </a:xfrm>
          <a:prstGeom prst="rect">
            <a:avLst/>
          </a:prstGeom>
          <a:noFill/>
        </p:spPr>
        <p:txBody>
          <a:bodyPr wrap="square" lIns="0" rIns="0" tIns="0" bIns="0" anchor="t">
            <a:spAutoFit/>
          </a:bodyPr>
          <a:lstStyle/>
          <a:p>
            <a:pPr algn="l">
              <a:lnSpc>
                <a:spcPct val="110000"/>
              </a:lnSpc>
              <a:spcAft>
                <a:spcPts val="0"/>
              </a:spcAft>
            </a:pPr>
            <a:r>
              <a:rPr sz="1050" b="0">
                <a:solidFill>
                  <a:srgbClr val="5C6678"/>
                </a:solidFill>
                <a:latin typeface="Arial"/>
              </a:rPr>
              <a:t>Path T0 → T3 per paraphraser: wording kept (x) vs. meaning kept (y)</a:t>
            </a:r>
          </a:p>
        </p:txBody>
      </p:sp>
      <p:sp>
        <p:nvSpPr>
          <p:cNvPr id="5" name="Rectangle 4"/>
          <p:cNvSpPr/>
          <p:nvPr/>
        </p:nvSpPr>
        <p:spPr>
          <a:xfrm>
            <a:off x="512064" y="1069848"/>
            <a:ext cx="11164824" cy="18288"/>
          </a:xfrm>
          <a:prstGeom prst="rect">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araphraser_trajectories.png"/>
          <p:cNvPicPr>
            <a:picLocks noChangeAspect="1"/>
          </p:cNvPicPr>
          <p:nvPr/>
        </p:nvPicPr>
        <p:blipFill>
          <a:blip r:embed="rId2"/>
          <a:stretch>
            <a:fillRect/>
          </a:stretch>
        </p:blipFill>
        <p:spPr>
          <a:xfrm>
            <a:off x="585689" y="1234440"/>
            <a:ext cx="6509580" cy="5074920"/>
          </a:xfrm>
          <a:prstGeom prst="rect">
            <a:avLst/>
          </a:prstGeom>
        </p:spPr>
      </p:pic>
      <p:sp>
        <p:nvSpPr>
          <p:cNvPr id="7" name="Rounded Rectangle 6"/>
          <p:cNvSpPr/>
          <p:nvPr/>
        </p:nvSpPr>
        <p:spPr>
          <a:xfrm>
            <a:off x="7498079" y="1325880"/>
            <a:ext cx="4160520" cy="1463040"/>
          </a:xfrm>
          <a:prstGeom prst="roundRect">
            <a:avLst>
              <a:gd name="adj" fmla="val 4000"/>
            </a:avLst>
          </a:prstGeom>
          <a:solidFill>
            <a:srgbClr val="F6F8FB"/>
          </a:solidFill>
          <a:ln w="9525">
            <a:solidFill>
              <a:srgbClr val="2F67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79" y="1325880"/>
            <a:ext cx="4160520" cy="73152"/>
          </a:xfrm>
          <a:prstGeom prst="roundRect">
            <a:avLst>
              <a:gd name="adj" fmla="val 50000"/>
            </a:avLst>
          </a:prstGeom>
          <a:solidFill>
            <a:srgbClr val="2F6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59" y="1508760"/>
            <a:ext cx="3794759" cy="274320"/>
          </a:xfrm>
          <a:prstGeom prst="rect">
            <a:avLst/>
          </a:prstGeom>
          <a:noFill/>
        </p:spPr>
        <p:txBody>
          <a:bodyPr wrap="square" lIns="0" rIns="0" tIns="0" bIns="0" anchor="t">
            <a:spAutoFit/>
          </a:bodyPr>
          <a:lstStyle/>
          <a:p>
            <a:pPr algn="l">
              <a:lnSpc>
                <a:spcPct val="110000"/>
              </a:lnSpc>
              <a:spcAft>
                <a:spcPts val="0"/>
              </a:spcAft>
            </a:pPr>
            <a:r>
              <a:rPr sz="975" b="1">
                <a:solidFill>
                  <a:srgbClr val="2F67C7"/>
                </a:solidFill>
                <a:latin typeface="Arial"/>
              </a:rPr>
              <a:t>CHATGPT</a:t>
            </a:r>
          </a:p>
        </p:txBody>
      </p:sp>
      <p:sp>
        <p:nvSpPr>
          <p:cNvPr id="10" name="TextBox 9"/>
          <p:cNvSpPr txBox="1"/>
          <p:nvPr/>
        </p:nvSpPr>
        <p:spPr>
          <a:xfrm>
            <a:off x="7680959" y="1764792"/>
            <a:ext cx="3794759" cy="960120"/>
          </a:xfrm>
          <a:prstGeom prst="rect">
            <a:avLst/>
          </a:prstGeom>
          <a:noFill/>
        </p:spPr>
        <p:txBody>
          <a:bodyPr wrap="square" lIns="0" rIns="0" tIns="0" bIns="0" anchor="t">
            <a:spAutoFit/>
          </a:bodyPr>
          <a:lstStyle/>
          <a:p>
            <a:pPr algn="l">
              <a:lnSpc>
                <a:spcPct val="110000"/>
              </a:lnSpc>
              <a:spcAft>
                <a:spcPts val="0"/>
              </a:spcAft>
            </a:pPr>
            <a:r>
              <a:rPr sz="1200" b="0">
                <a:solidFill>
                  <a:srgbClr val="172033"/>
                </a:solidFill>
                <a:latin typeface="Arial"/>
              </a:rPr>
              <a:t>Moves almost straight left: same meaning as PaLM2 (SBERT 0.875 vs 0.876) with half the word overlap (BLEU 0.14 vs 0.28).</a:t>
            </a:r>
          </a:p>
        </p:txBody>
      </p:sp>
      <p:sp>
        <p:nvSpPr>
          <p:cNvPr id="11" name="Rounded Rectangle 10"/>
          <p:cNvSpPr/>
          <p:nvPr/>
        </p:nvSpPr>
        <p:spPr>
          <a:xfrm>
            <a:off x="7498079" y="2926080"/>
            <a:ext cx="4160520" cy="1463040"/>
          </a:xfrm>
          <a:prstGeom prst="roundRect">
            <a:avLst>
              <a:gd name="adj" fmla="val 4000"/>
            </a:avLst>
          </a:prstGeom>
          <a:solidFill>
            <a:srgbClr val="F6F8FB"/>
          </a:solidFill>
          <a:ln w="9525">
            <a:solidFill>
              <a:srgbClr val="976B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498079" y="2926080"/>
            <a:ext cx="4160520" cy="73152"/>
          </a:xfrm>
          <a:prstGeom prst="roundRect">
            <a:avLst>
              <a:gd name="adj" fmla="val 50000"/>
            </a:avLst>
          </a:prstGeom>
          <a:solidFill>
            <a:srgbClr val="976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59" y="3108960"/>
            <a:ext cx="3794759" cy="274320"/>
          </a:xfrm>
          <a:prstGeom prst="rect">
            <a:avLst/>
          </a:prstGeom>
          <a:noFill/>
        </p:spPr>
        <p:txBody>
          <a:bodyPr wrap="square" lIns="0" rIns="0" tIns="0" bIns="0" anchor="t">
            <a:spAutoFit/>
          </a:bodyPr>
          <a:lstStyle/>
          <a:p>
            <a:pPr algn="l">
              <a:lnSpc>
                <a:spcPct val="110000"/>
              </a:lnSpc>
              <a:spcAft>
                <a:spcPts val="0"/>
              </a:spcAft>
            </a:pPr>
            <a:r>
              <a:rPr sz="975" b="1">
                <a:solidFill>
                  <a:srgbClr val="976B18"/>
                </a:solidFill>
                <a:latin typeface="Arial"/>
              </a:rPr>
              <a:t>RULE-BASED WORDNET</a:t>
            </a:r>
          </a:p>
        </p:txBody>
      </p:sp>
      <p:sp>
        <p:nvSpPr>
          <p:cNvPr id="14" name="TextBox 13"/>
          <p:cNvSpPr txBox="1"/>
          <p:nvPr/>
        </p:nvSpPr>
        <p:spPr>
          <a:xfrm>
            <a:off x="7680959" y="3364992"/>
            <a:ext cx="3794759" cy="960120"/>
          </a:xfrm>
          <a:prstGeom prst="rect">
            <a:avLst/>
          </a:prstGeom>
          <a:noFill/>
        </p:spPr>
        <p:txBody>
          <a:bodyPr wrap="square" lIns="0" rIns="0" tIns="0" bIns="0" anchor="t">
            <a:spAutoFit/>
          </a:bodyPr>
          <a:lstStyle/>
          <a:p>
            <a:pPr algn="l">
              <a:lnSpc>
                <a:spcPct val="110000"/>
              </a:lnSpc>
              <a:spcAft>
                <a:spcPts val="0"/>
              </a:spcAft>
            </a:pPr>
            <a:r>
              <a:rPr sz="1200" b="0">
                <a:solidFill>
                  <a:srgbClr val="172033"/>
                </a:solidFill>
                <a:latin typeface="Arial"/>
              </a:rPr>
              <a:t>Keeps the most wording (BLEU 0.40) but loses more meaning (0.79): synonym swaps keep structure, break meaning.</a:t>
            </a:r>
          </a:p>
        </p:txBody>
      </p:sp>
      <p:sp>
        <p:nvSpPr>
          <p:cNvPr id="15" name="Rounded Rectangle 14"/>
          <p:cNvSpPr/>
          <p:nvPr/>
        </p:nvSpPr>
        <p:spPr>
          <a:xfrm>
            <a:off x="7498079" y="4526280"/>
            <a:ext cx="4160520" cy="1463040"/>
          </a:xfrm>
          <a:prstGeom prst="roundRect">
            <a:avLst>
              <a:gd name="adj" fmla="val 4000"/>
            </a:avLst>
          </a:prstGeom>
          <a:solidFill>
            <a:srgbClr val="F6F8FB"/>
          </a:solidFill>
          <a:ln w="9525">
            <a:solidFill>
              <a:srgbClr val="2E7D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498079" y="4526280"/>
            <a:ext cx="4160520" cy="73152"/>
          </a:xfrm>
          <a:prstGeom prst="roundRect">
            <a:avLst>
              <a:gd name="adj" fmla="val 50000"/>
            </a:avLst>
          </a:prstGeom>
          <a:solidFill>
            <a:srgbClr val="2E7D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59" y="4709160"/>
            <a:ext cx="3794759" cy="274320"/>
          </a:xfrm>
          <a:prstGeom prst="rect">
            <a:avLst/>
          </a:prstGeom>
          <a:noFill/>
        </p:spPr>
        <p:txBody>
          <a:bodyPr wrap="square" lIns="0" rIns="0" tIns="0" bIns="0" anchor="t">
            <a:spAutoFit/>
          </a:bodyPr>
          <a:lstStyle/>
          <a:p>
            <a:pPr algn="l">
              <a:lnSpc>
                <a:spcPct val="110000"/>
              </a:lnSpc>
              <a:spcAft>
                <a:spcPts val="0"/>
              </a:spcAft>
            </a:pPr>
            <a:r>
              <a:rPr sz="975" b="1">
                <a:solidFill>
                  <a:srgbClr val="2E7D6A"/>
                </a:solidFill>
                <a:latin typeface="Arial"/>
              </a:rPr>
              <a:t>DIPPER</a:t>
            </a:r>
          </a:p>
        </p:txBody>
      </p:sp>
      <p:sp>
        <p:nvSpPr>
          <p:cNvPr id="18" name="TextBox 17"/>
          <p:cNvSpPr txBox="1"/>
          <p:nvPr/>
        </p:nvSpPr>
        <p:spPr>
          <a:xfrm>
            <a:off x="7680959" y="4965192"/>
            <a:ext cx="3794759" cy="960120"/>
          </a:xfrm>
          <a:prstGeom prst="rect">
            <a:avLst/>
          </a:prstGeom>
          <a:noFill/>
        </p:spPr>
        <p:txBody>
          <a:bodyPr wrap="square" lIns="0" rIns="0" tIns="0" bIns="0" anchor="t">
            <a:spAutoFit/>
          </a:bodyPr>
          <a:lstStyle/>
          <a:p>
            <a:pPr algn="l">
              <a:lnSpc>
                <a:spcPct val="110000"/>
              </a:lnSpc>
              <a:spcAft>
                <a:spcPts val="0"/>
              </a:spcAft>
            </a:pPr>
            <a:r>
              <a:rPr sz="1200" b="0">
                <a:solidFill>
                  <a:srgbClr val="172033"/>
                </a:solidFill>
                <a:latin typeface="Arial"/>
              </a:rPr>
              <a:t>Loses the most of both (SBERT 0.72). Paraphraser choice matters as much as the number of rounds.</a:t>
            </a:r>
          </a:p>
        </p:txBody>
      </p:sp>
      <p:sp>
        <p:nvSpPr>
          <p:cNvPr id="19" name="TextBox 18"/>
          <p:cNvSpPr txBox="1"/>
          <p:nvPr/>
        </p:nvSpPr>
        <p:spPr>
          <a:xfrm>
            <a:off x="512064" y="6446520"/>
            <a:ext cx="11155680" cy="274320"/>
          </a:xfrm>
          <a:prstGeom prst="rect">
            <a:avLst/>
          </a:prstGeom>
          <a:noFill/>
        </p:spPr>
        <p:txBody>
          <a:bodyPr wrap="square" lIns="0" rIns="0" tIns="0" bIns="0" anchor="t">
            <a:spAutoFit/>
          </a:bodyPr>
          <a:lstStyle/>
          <a:p>
            <a:pPr algn="l">
              <a:lnSpc>
                <a:spcPct val="110000"/>
              </a:lnSpc>
              <a:spcAft>
                <a:spcPts val="0"/>
              </a:spcAft>
            </a:pPr>
            <a:r>
              <a:rPr sz="825" b="0">
                <a:solidFill>
                  <a:srgbClr val="5C6678"/>
                </a:solidFill>
                <a:latin typeface="Arial"/>
              </a:rPr>
              <a:t>DIPPER (high) omitted (unrelated outputs). 700 Human documents, 7 domains.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12064" y="320040"/>
            <a:ext cx="548640" cy="320040"/>
          </a:xfrm>
          <a:prstGeom prst="rect">
            <a:avLst/>
          </a:prstGeom>
          <a:noFill/>
        </p:spPr>
        <p:txBody>
          <a:bodyPr wrap="square" lIns="0" rIns="0" tIns="0" bIns="0" anchor="t">
            <a:spAutoFit/>
          </a:bodyPr>
          <a:lstStyle/>
          <a:p>
            <a:pPr algn="l">
              <a:lnSpc>
                <a:spcPct val="110000"/>
              </a:lnSpc>
              <a:spcAft>
                <a:spcPts val="0"/>
              </a:spcAft>
            </a:pPr>
            <a:r>
              <a:rPr sz="1125" b="1">
                <a:solidFill>
                  <a:srgbClr val="2F67C7"/>
                </a:solidFill>
                <a:latin typeface="Arial"/>
              </a:rPr>
              <a:t>09</a:t>
            </a:r>
          </a:p>
        </p:txBody>
      </p:sp>
      <p:sp>
        <p:nvSpPr>
          <p:cNvPr id="3" name="TextBox 2"/>
          <p:cNvSpPr txBox="1"/>
          <p:nvPr/>
        </p:nvSpPr>
        <p:spPr>
          <a:xfrm>
            <a:off x="1069848" y="246888"/>
            <a:ext cx="10424160" cy="548640"/>
          </a:xfrm>
          <a:prstGeom prst="rect">
            <a:avLst/>
          </a:prstGeom>
          <a:noFill/>
        </p:spPr>
        <p:txBody>
          <a:bodyPr wrap="square" lIns="0" rIns="0" tIns="0" bIns="0" anchor="t">
            <a:spAutoFit/>
          </a:bodyPr>
          <a:lstStyle/>
          <a:p>
            <a:pPr algn="l">
              <a:lnSpc>
                <a:spcPct val="110000"/>
              </a:lnSpc>
              <a:spcAft>
                <a:spcPts val="0"/>
              </a:spcAft>
            </a:pPr>
            <a:r>
              <a:rPr sz="2325" b="1">
                <a:solidFill>
                  <a:srgbClr val="10243E"/>
                </a:solidFill>
                <a:latin typeface="Arial"/>
              </a:rPr>
              <a:t>Domain matters</a:t>
            </a:r>
          </a:p>
        </p:txBody>
      </p:sp>
      <p:sp>
        <p:nvSpPr>
          <p:cNvPr id="4" name="TextBox 3"/>
          <p:cNvSpPr txBox="1"/>
          <p:nvPr/>
        </p:nvSpPr>
        <p:spPr>
          <a:xfrm>
            <a:off x="1069848" y="758952"/>
            <a:ext cx="10424160" cy="274320"/>
          </a:xfrm>
          <a:prstGeom prst="rect">
            <a:avLst/>
          </a:prstGeom>
          <a:noFill/>
        </p:spPr>
        <p:txBody>
          <a:bodyPr wrap="square" lIns="0" rIns="0" tIns="0" bIns="0" anchor="t">
            <a:spAutoFit/>
          </a:bodyPr>
          <a:lstStyle/>
          <a:p>
            <a:pPr algn="l">
              <a:lnSpc>
                <a:spcPct val="110000"/>
              </a:lnSpc>
              <a:spcAft>
                <a:spcPts val="0"/>
              </a:spcAft>
            </a:pPr>
            <a:r>
              <a:rPr sz="1050" b="0">
                <a:solidFill>
                  <a:srgbClr val="5C6678"/>
                </a:solidFill>
                <a:latin typeface="Arial"/>
              </a:rPr>
              <a:t>Meaning kept at T3 (SBERT) by domain, 100 Human documents per domain</a:t>
            </a:r>
          </a:p>
        </p:txBody>
      </p:sp>
      <p:sp>
        <p:nvSpPr>
          <p:cNvPr id="5" name="Rectangle 4"/>
          <p:cNvSpPr/>
          <p:nvPr/>
        </p:nvSpPr>
        <p:spPr>
          <a:xfrm>
            <a:off x="512064" y="1069848"/>
            <a:ext cx="11164824" cy="18288"/>
          </a:xfrm>
          <a:prstGeom prst="rect">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417320"/>
          <a:ext cx="7040880" cy="3657600"/>
        </p:xfrm>
        <a:graphic>
          <a:graphicData uri="http://schemas.openxmlformats.org/drawingml/2006/table">
            <a:tbl>
              <a:tblPr firstRow="1" bandRow="1">
                <a:tableStyleId>{5C22544A-7EE6-4342-B048-85BDC9FD1C3A}</a:tableStyleId>
              </a:tblPr>
              <a:tblGrid>
                <a:gridCol w="2011680"/>
                <a:gridCol w="1143000"/>
                <a:gridCol w="1143000"/>
                <a:gridCol w="1325880"/>
                <a:gridCol w="1417320"/>
              </a:tblGrid>
              <a:tr h="457200">
                <a:tc>
                  <a:txBody>
                    <a:bodyPr/>
                    <a:lstStyle/>
                    <a:p>
                      <a:pPr algn="l"/>
                      <a:r>
                        <a:rPr sz="1200" b="1">
                          <a:solidFill>
                            <a:srgbClr val="FFFFFF"/>
                          </a:solidFill>
                          <a:latin typeface="Arial"/>
                        </a:rPr>
                        <a:t>Domain</a:t>
                      </a:r>
                    </a:p>
                  </a:txBody>
                  <a:tcPr marL="73152" marR="73152" marT="18288" marB="18288" anchor="ctr">
                    <a:solidFill>
                      <a:srgbClr val="10243E"/>
                    </a:solidFill>
                  </a:tcPr>
                </a:tc>
                <a:tc>
                  <a:txBody>
                    <a:bodyPr/>
                    <a:lstStyle/>
                    <a:p>
                      <a:pPr algn="ctr"/>
                      <a:r>
                        <a:rPr sz="1200" b="1">
                          <a:solidFill>
                            <a:srgbClr val="FFFFFF"/>
                          </a:solidFill>
                          <a:latin typeface="Arial"/>
                        </a:rPr>
                        <a:t>ChatGPT</a:t>
                      </a:r>
                    </a:p>
                  </a:txBody>
                  <a:tcPr marL="73152" marR="73152" marT="18288" marB="18288" anchor="ctr">
                    <a:solidFill>
                      <a:srgbClr val="10243E"/>
                    </a:solidFill>
                  </a:tcPr>
                </a:tc>
                <a:tc>
                  <a:txBody>
                    <a:bodyPr/>
                    <a:lstStyle/>
                    <a:p>
                      <a:pPr algn="ctr"/>
                      <a:r>
                        <a:rPr sz="1200" b="1">
                          <a:solidFill>
                            <a:srgbClr val="FFFFFF"/>
                          </a:solidFill>
                          <a:latin typeface="Arial"/>
                        </a:rPr>
                        <a:t>PaLM2</a:t>
                      </a:r>
                    </a:p>
                  </a:txBody>
                  <a:tcPr marL="73152" marR="73152" marT="18288" marB="18288" anchor="ctr">
                    <a:solidFill>
                      <a:srgbClr val="10243E"/>
                    </a:solidFill>
                  </a:tcPr>
                </a:tc>
                <a:tc>
                  <a:txBody>
                    <a:bodyPr/>
                    <a:lstStyle/>
                    <a:p>
                      <a:pPr algn="ctr"/>
                      <a:r>
                        <a:rPr sz="1200" b="1">
                          <a:solidFill>
                            <a:srgbClr val="FFFFFF"/>
                          </a:solidFill>
                          <a:latin typeface="Arial"/>
                        </a:rPr>
                        <a:t>DIPPER (low)</a:t>
                      </a:r>
                    </a:p>
                  </a:txBody>
                  <a:tcPr marL="73152" marR="73152" marT="18288" marB="18288" anchor="ctr">
                    <a:solidFill>
                      <a:srgbClr val="10243E"/>
                    </a:solidFill>
                  </a:tcPr>
                </a:tc>
                <a:tc>
                  <a:txBody>
                    <a:bodyPr/>
                    <a:lstStyle/>
                    <a:p>
                      <a:pPr algn="ctr"/>
                      <a:r>
                        <a:rPr sz="1200" b="1">
                          <a:solidFill>
                            <a:srgbClr val="FFFFFF"/>
                          </a:solidFill>
                          <a:latin typeface="Arial"/>
                        </a:rPr>
                        <a:t>Pegasus (full)</a:t>
                      </a:r>
                    </a:p>
                  </a:txBody>
                  <a:tcPr marL="73152" marR="73152" marT="18288" marB="18288" anchor="ctr">
                    <a:solidFill>
                      <a:srgbClr val="10243E"/>
                    </a:solidFill>
                  </a:tcPr>
                </a:tc>
              </a:tr>
              <a:tr h="457200">
                <a:tc>
                  <a:txBody>
                    <a:bodyPr/>
                    <a:lstStyle/>
                    <a:p>
                      <a:pPr algn="l"/>
                      <a:r>
                        <a:rPr sz="1200" b="1">
                          <a:solidFill>
                            <a:srgbClr val="172033"/>
                          </a:solidFill>
                          <a:latin typeface="Arial"/>
                        </a:rPr>
                        <a:t>Science (SciGen)</a:t>
                      </a:r>
                    </a:p>
                  </a:txBody>
                  <a:tcPr marL="73152" marR="73152" marT="18288" marB="18288" anchor="ctr">
                    <a:solidFill>
                      <a:srgbClr val="EEF4FC"/>
                    </a:solidFill>
                  </a:tcPr>
                </a:tc>
                <a:tc>
                  <a:txBody>
                    <a:bodyPr/>
                    <a:lstStyle/>
                    <a:p>
                      <a:pPr algn="ctr"/>
                      <a:r>
                        <a:rPr sz="1200" b="1">
                          <a:solidFill>
                            <a:srgbClr val="172033"/>
                          </a:solidFill>
                          <a:latin typeface="Arial"/>
                        </a:rPr>
                        <a:t>0.947</a:t>
                      </a:r>
                    </a:p>
                  </a:txBody>
                  <a:tcPr marL="73152" marR="73152" marT="18288" marB="18288" anchor="ctr">
                    <a:solidFill>
                      <a:srgbClr val="EEF4FC"/>
                    </a:solidFill>
                  </a:tcPr>
                </a:tc>
                <a:tc>
                  <a:txBody>
                    <a:bodyPr/>
                    <a:lstStyle/>
                    <a:p>
                      <a:pPr algn="ctr"/>
                      <a:r>
                        <a:rPr sz="1200" b="1">
                          <a:solidFill>
                            <a:srgbClr val="172033"/>
                          </a:solidFill>
                          <a:latin typeface="Arial"/>
                        </a:rPr>
                        <a:t>0.969</a:t>
                      </a:r>
                    </a:p>
                  </a:txBody>
                  <a:tcPr marL="73152" marR="73152" marT="18288" marB="18288" anchor="ctr">
                    <a:solidFill>
                      <a:srgbClr val="EEF4FC"/>
                    </a:solidFill>
                  </a:tcPr>
                </a:tc>
                <a:tc>
                  <a:txBody>
                    <a:bodyPr/>
                    <a:lstStyle/>
                    <a:p>
                      <a:pPr algn="ctr"/>
                      <a:r>
                        <a:rPr sz="1200" b="1">
                          <a:solidFill>
                            <a:srgbClr val="172033"/>
                          </a:solidFill>
                          <a:latin typeface="Arial"/>
                        </a:rPr>
                        <a:t>0.925</a:t>
                      </a:r>
                    </a:p>
                  </a:txBody>
                  <a:tcPr marL="73152" marR="73152" marT="18288" marB="18288" anchor="ctr">
                    <a:solidFill>
                      <a:srgbClr val="EEF4FC"/>
                    </a:solidFill>
                  </a:tcPr>
                </a:tc>
                <a:tc>
                  <a:txBody>
                    <a:bodyPr/>
                    <a:lstStyle/>
                    <a:p>
                      <a:pPr algn="ctr"/>
                      <a:r>
                        <a:rPr sz="1200" b="1">
                          <a:solidFill>
                            <a:srgbClr val="172033"/>
                          </a:solidFill>
                          <a:latin typeface="Arial"/>
                        </a:rPr>
                        <a:t>0.857</a:t>
                      </a:r>
                    </a:p>
                  </a:txBody>
                  <a:tcPr marL="73152" marR="73152" marT="18288" marB="18288" anchor="ctr">
                    <a:solidFill>
                      <a:srgbClr val="EEF4FC"/>
                    </a:solidFill>
                  </a:tcPr>
                </a:tc>
              </a:tr>
              <a:tr h="457200">
                <a:tc>
                  <a:txBody>
                    <a:bodyPr/>
                    <a:lstStyle/>
                    <a:p>
                      <a:pPr algn="l"/>
                      <a:r>
                        <a:rPr sz="1200" b="0">
                          <a:solidFill>
                            <a:srgbClr val="172033"/>
                          </a:solidFill>
                          <a:latin typeface="Arial"/>
                        </a:rPr>
                        <a:t>Summary (TLDR)</a:t>
                      </a:r>
                    </a:p>
                  </a:txBody>
                  <a:tcPr marL="73152" marR="73152" marT="18288" marB="18288" anchor="ctr">
                    <a:solidFill>
                      <a:srgbClr val="F6F8FB"/>
                    </a:solidFill>
                  </a:tcPr>
                </a:tc>
                <a:tc>
                  <a:txBody>
                    <a:bodyPr/>
                    <a:lstStyle/>
                    <a:p>
                      <a:pPr algn="ctr"/>
                      <a:r>
                        <a:rPr sz="1200" b="0">
                          <a:solidFill>
                            <a:srgbClr val="172033"/>
                          </a:solidFill>
                          <a:latin typeface="Arial"/>
                        </a:rPr>
                        <a:t>0.924</a:t>
                      </a:r>
                    </a:p>
                  </a:txBody>
                  <a:tcPr marL="73152" marR="73152" marT="18288" marB="18288" anchor="ctr">
                    <a:solidFill>
                      <a:srgbClr val="F6F8FB"/>
                    </a:solidFill>
                  </a:tcPr>
                </a:tc>
                <a:tc>
                  <a:txBody>
                    <a:bodyPr/>
                    <a:lstStyle/>
                    <a:p>
                      <a:pPr algn="ctr"/>
                      <a:r>
                        <a:rPr sz="1200" b="0">
                          <a:solidFill>
                            <a:srgbClr val="172033"/>
                          </a:solidFill>
                          <a:latin typeface="Arial"/>
                        </a:rPr>
                        <a:t>0.944</a:t>
                      </a:r>
                    </a:p>
                  </a:txBody>
                  <a:tcPr marL="73152" marR="73152" marT="18288" marB="18288" anchor="ctr">
                    <a:solidFill>
                      <a:srgbClr val="F6F8FB"/>
                    </a:solidFill>
                  </a:tcPr>
                </a:tc>
                <a:tc>
                  <a:txBody>
                    <a:bodyPr/>
                    <a:lstStyle/>
                    <a:p>
                      <a:pPr algn="ctr"/>
                      <a:r>
                        <a:rPr sz="1200" b="0">
                          <a:solidFill>
                            <a:srgbClr val="172033"/>
                          </a:solidFill>
                          <a:latin typeface="Arial"/>
                        </a:rPr>
                        <a:t>0.906</a:t>
                      </a:r>
                    </a:p>
                  </a:txBody>
                  <a:tcPr marL="73152" marR="73152" marT="18288" marB="18288" anchor="ctr">
                    <a:solidFill>
                      <a:srgbClr val="F6F8FB"/>
                    </a:solidFill>
                  </a:tcPr>
                </a:tc>
                <a:tc>
                  <a:txBody>
                    <a:bodyPr/>
                    <a:lstStyle/>
                    <a:p>
                      <a:pPr algn="ctr"/>
                      <a:r>
                        <a:rPr sz="1200" b="0">
                          <a:solidFill>
                            <a:srgbClr val="172033"/>
                          </a:solidFill>
                          <a:latin typeface="Arial"/>
                        </a:rPr>
                        <a:t>0.813</a:t>
                      </a:r>
                    </a:p>
                  </a:txBody>
                  <a:tcPr marL="73152" marR="73152" marT="18288" marB="18288" anchor="ctr">
                    <a:solidFill>
                      <a:srgbClr val="F6F8FB"/>
                    </a:solidFill>
                  </a:tcPr>
                </a:tc>
              </a:tr>
              <a:tr h="457200">
                <a:tc>
                  <a:txBody>
                    <a:bodyPr/>
                    <a:lstStyle/>
                    <a:p>
                      <a:pPr algn="l"/>
                      <a:r>
                        <a:rPr sz="1200" b="0">
                          <a:solidFill>
                            <a:srgbClr val="172033"/>
                          </a:solidFill>
                          <a:latin typeface="Arial"/>
                        </a:rPr>
                        <a:t>News (XSUM)</a:t>
                      </a:r>
                    </a:p>
                  </a:txBody>
                  <a:tcPr marL="73152" marR="73152" marT="18288" marB="18288" anchor="ctr">
                    <a:solidFill>
                      <a:srgbClr val="FFFFFF"/>
                    </a:solidFill>
                  </a:tcPr>
                </a:tc>
                <a:tc>
                  <a:txBody>
                    <a:bodyPr/>
                    <a:lstStyle/>
                    <a:p>
                      <a:pPr algn="ctr"/>
                      <a:r>
                        <a:rPr sz="1200" b="0">
                          <a:solidFill>
                            <a:srgbClr val="172033"/>
                          </a:solidFill>
                          <a:latin typeface="Arial"/>
                        </a:rPr>
                        <a:t>0.888</a:t>
                      </a:r>
                    </a:p>
                  </a:txBody>
                  <a:tcPr marL="73152" marR="73152" marT="18288" marB="18288" anchor="ctr">
                    <a:solidFill>
                      <a:srgbClr val="FFFFFF"/>
                    </a:solidFill>
                  </a:tcPr>
                </a:tc>
                <a:tc>
                  <a:txBody>
                    <a:bodyPr/>
                    <a:lstStyle/>
                    <a:p>
                      <a:pPr algn="ctr"/>
                      <a:r>
                        <a:rPr sz="1200" b="0">
                          <a:solidFill>
                            <a:srgbClr val="172033"/>
                          </a:solidFill>
                          <a:latin typeface="Arial"/>
                        </a:rPr>
                        <a:t>0.912</a:t>
                      </a:r>
                    </a:p>
                  </a:txBody>
                  <a:tcPr marL="73152" marR="73152" marT="18288" marB="18288" anchor="ctr">
                    <a:solidFill>
                      <a:srgbClr val="FFFFFF"/>
                    </a:solidFill>
                  </a:tcPr>
                </a:tc>
                <a:tc>
                  <a:txBody>
                    <a:bodyPr/>
                    <a:lstStyle/>
                    <a:p>
                      <a:pPr algn="ctr"/>
                      <a:r>
                        <a:rPr sz="1200" b="0">
                          <a:solidFill>
                            <a:srgbClr val="172033"/>
                          </a:solidFill>
                          <a:latin typeface="Arial"/>
                        </a:rPr>
                        <a:t>0.870</a:t>
                      </a:r>
                    </a:p>
                  </a:txBody>
                  <a:tcPr marL="73152" marR="73152" marT="18288" marB="18288" anchor="ctr">
                    <a:solidFill>
                      <a:srgbClr val="FFFFFF"/>
                    </a:solidFill>
                  </a:tcPr>
                </a:tc>
                <a:tc>
                  <a:txBody>
                    <a:bodyPr/>
                    <a:lstStyle/>
                    <a:p>
                      <a:pPr algn="ctr"/>
                      <a:r>
                        <a:rPr sz="1200" b="0">
                          <a:solidFill>
                            <a:srgbClr val="172033"/>
                          </a:solidFill>
                          <a:latin typeface="Arial"/>
                        </a:rPr>
                        <a:t>0.787</a:t>
                      </a:r>
                    </a:p>
                  </a:txBody>
                  <a:tcPr marL="73152" marR="73152" marT="18288" marB="18288" anchor="ctr">
                    <a:solidFill>
                      <a:srgbClr val="FFFFFF"/>
                    </a:solidFill>
                  </a:tcPr>
                </a:tc>
              </a:tr>
              <a:tr h="457200">
                <a:tc>
                  <a:txBody>
                    <a:bodyPr/>
                    <a:lstStyle/>
                    <a:p>
                      <a:pPr algn="l"/>
                      <a:r>
                        <a:rPr sz="1200" b="0">
                          <a:solidFill>
                            <a:srgbClr val="172033"/>
                          </a:solidFill>
                          <a:latin typeface="Arial"/>
                        </a:rPr>
                        <a:t>Review (Yelp)</a:t>
                      </a:r>
                    </a:p>
                  </a:txBody>
                  <a:tcPr marL="73152" marR="73152" marT="18288" marB="18288" anchor="ctr">
                    <a:solidFill>
                      <a:srgbClr val="F6F8FB"/>
                    </a:solidFill>
                  </a:tcPr>
                </a:tc>
                <a:tc>
                  <a:txBody>
                    <a:bodyPr/>
                    <a:lstStyle/>
                    <a:p>
                      <a:pPr algn="ctr"/>
                      <a:r>
                        <a:rPr sz="1200" b="0">
                          <a:solidFill>
                            <a:srgbClr val="172033"/>
                          </a:solidFill>
                          <a:latin typeface="Arial"/>
                        </a:rPr>
                        <a:t>0.854</a:t>
                      </a:r>
                    </a:p>
                  </a:txBody>
                  <a:tcPr marL="73152" marR="73152" marT="18288" marB="18288" anchor="ctr">
                    <a:solidFill>
                      <a:srgbClr val="F6F8FB"/>
                    </a:solidFill>
                  </a:tcPr>
                </a:tc>
                <a:tc>
                  <a:txBody>
                    <a:bodyPr/>
                    <a:lstStyle/>
                    <a:p>
                      <a:pPr algn="ctr"/>
                      <a:r>
                        <a:rPr sz="1200" b="0">
                          <a:solidFill>
                            <a:srgbClr val="172033"/>
                          </a:solidFill>
                          <a:latin typeface="Arial"/>
                        </a:rPr>
                        <a:t>0.859</a:t>
                      </a:r>
                    </a:p>
                  </a:txBody>
                  <a:tcPr marL="73152" marR="73152" marT="18288" marB="18288" anchor="ctr">
                    <a:solidFill>
                      <a:srgbClr val="F6F8FB"/>
                    </a:solidFill>
                  </a:tcPr>
                </a:tc>
                <a:tc>
                  <a:txBody>
                    <a:bodyPr/>
                    <a:lstStyle/>
                    <a:p>
                      <a:pPr algn="ctr"/>
                      <a:r>
                        <a:rPr sz="1200" b="0">
                          <a:solidFill>
                            <a:srgbClr val="172033"/>
                          </a:solidFill>
                          <a:latin typeface="Arial"/>
                        </a:rPr>
                        <a:t>0.887</a:t>
                      </a:r>
                    </a:p>
                  </a:txBody>
                  <a:tcPr marL="73152" marR="73152" marT="18288" marB="18288" anchor="ctr">
                    <a:solidFill>
                      <a:srgbClr val="F6F8FB"/>
                    </a:solidFill>
                  </a:tcPr>
                </a:tc>
                <a:tc>
                  <a:txBody>
                    <a:bodyPr/>
                    <a:lstStyle/>
                    <a:p>
                      <a:pPr algn="ctr"/>
                      <a:r>
                        <a:rPr sz="1200" b="0">
                          <a:solidFill>
                            <a:srgbClr val="172033"/>
                          </a:solidFill>
                          <a:latin typeface="Arial"/>
                        </a:rPr>
                        <a:t>0.831</a:t>
                      </a:r>
                    </a:p>
                  </a:txBody>
                  <a:tcPr marL="73152" marR="73152" marT="18288" marB="18288" anchor="ctr">
                    <a:solidFill>
                      <a:srgbClr val="F6F8FB"/>
                    </a:solidFill>
                  </a:tcPr>
                </a:tc>
              </a:tr>
              <a:tr h="457200">
                <a:tc>
                  <a:txBody>
                    <a:bodyPr/>
                    <a:lstStyle/>
                    <a:p>
                      <a:pPr algn="l"/>
                      <a:r>
                        <a:rPr sz="1200" b="0">
                          <a:solidFill>
                            <a:srgbClr val="172033"/>
                          </a:solidFill>
                          <a:latin typeface="Arial"/>
                        </a:rPr>
                        <a:t>QA (ELI5)</a:t>
                      </a:r>
                    </a:p>
                  </a:txBody>
                  <a:tcPr marL="73152" marR="73152" marT="18288" marB="18288" anchor="ctr">
                    <a:solidFill>
                      <a:srgbClr val="FFFFFF"/>
                    </a:solidFill>
                  </a:tcPr>
                </a:tc>
                <a:tc>
                  <a:txBody>
                    <a:bodyPr/>
                    <a:lstStyle/>
                    <a:p>
                      <a:pPr algn="ctr"/>
                      <a:r>
                        <a:rPr sz="1200" b="0">
                          <a:solidFill>
                            <a:srgbClr val="172033"/>
                          </a:solidFill>
                          <a:latin typeface="Arial"/>
                        </a:rPr>
                        <a:t>0.850</a:t>
                      </a:r>
                    </a:p>
                  </a:txBody>
                  <a:tcPr marL="73152" marR="73152" marT="18288" marB="18288" anchor="ctr">
                    <a:solidFill>
                      <a:srgbClr val="FFFFFF"/>
                    </a:solidFill>
                  </a:tcPr>
                </a:tc>
                <a:tc>
                  <a:txBody>
                    <a:bodyPr/>
                    <a:lstStyle/>
                    <a:p>
                      <a:pPr algn="ctr"/>
                      <a:r>
                        <a:rPr sz="1200" b="0">
                          <a:solidFill>
                            <a:srgbClr val="172033"/>
                          </a:solidFill>
                          <a:latin typeface="Arial"/>
                        </a:rPr>
                        <a:t>0.828</a:t>
                      </a:r>
                    </a:p>
                  </a:txBody>
                  <a:tcPr marL="73152" marR="73152" marT="18288" marB="18288" anchor="ctr">
                    <a:solidFill>
                      <a:srgbClr val="FFFFFF"/>
                    </a:solidFill>
                  </a:tcPr>
                </a:tc>
                <a:tc>
                  <a:txBody>
                    <a:bodyPr/>
                    <a:lstStyle/>
                    <a:p>
                      <a:pPr algn="ctr"/>
                      <a:r>
                        <a:rPr sz="1200" b="0">
                          <a:solidFill>
                            <a:srgbClr val="172033"/>
                          </a:solidFill>
                          <a:latin typeface="Arial"/>
                        </a:rPr>
                        <a:t>0.867</a:t>
                      </a:r>
                    </a:p>
                  </a:txBody>
                  <a:tcPr marL="73152" marR="73152" marT="18288" marB="18288" anchor="ctr">
                    <a:solidFill>
                      <a:srgbClr val="FFFFFF"/>
                    </a:solidFill>
                  </a:tcPr>
                </a:tc>
                <a:tc>
                  <a:txBody>
                    <a:bodyPr/>
                    <a:lstStyle/>
                    <a:p>
                      <a:pPr algn="ctr"/>
                      <a:r>
                        <a:rPr sz="1200" b="0">
                          <a:solidFill>
                            <a:srgbClr val="172033"/>
                          </a:solidFill>
                          <a:latin typeface="Arial"/>
                        </a:rPr>
                        <a:t>0.827</a:t>
                      </a:r>
                    </a:p>
                  </a:txBody>
                  <a:tcPr marL="73152" marR="73152" marT="18288" marB="18288" anchor="ctr">
                    <a:solidFill>
                      <a:srgbClr val="FFFFFF"/>
                    </a:solidFill>
                  </a:tcPr>
                </a:tc>
              </a:tr>
              <a:tr h="457200">
                <a:tc>
                  <a:txBody>
                    <a:bodyPr/>
                    <a:lstStyle/>
                    <a:p>
                      <a:pPr algn="l"/>
                      <a:r>
                        <a:rPr sz="1200" b="0">
                          <a:solidFill>
                            <a:srgbClr val="172033"/>
                          </a:solidFill>
                          <a:latin typeface="Arial"/>
                        </a:rPr>
                        <a:t>Opinion (CMV)</a:t>
                      </a:r>
                    </a:p>
                  </a:txBody>
                  <a:tcPr marL="73152" marR="73152" marT="18288" marB="18288" anchor="ctr">
                    <a:solidFill>
                      <a:srgbClr val="F6F8FB"/>
                    </a:solidFill>
                  </a:tcPr>
                </a:tc>
                <a:tc>
                  <a:txBody>
                    <a:bodyPr/>
                    <a:lstStyle/>
                    <a:p>
                      <a:pPr algn="ctr"/>
                      <a:r>
                        <a:rPr sz="1200" b="0">
                          <a:solidFill>
                            <a:srgbClr val="172033"/>
                          </a:solidFill>
                          <a:latin typeface="Arial"/>
                        </a:rPr>
                        <a:t>0.848</a:t>
                      </a:r>
                    </a:p>
                  </a:txBody>
                  <a:tcPr marL="73152" marR="73152" marT="18288" marB="18288" anchor="ctr">
                    <a:solidFill>
                      <a:srgbClr val="F6F8FB"/>
                    </a:solidFill>
                  </a:tcPr>
                </a:tc>
                <a:tc>
                  <a:txBody>
                    <a:bodyPr/>
                    <a:lstStyle/>
                    <a:p>
                      <a:pPr algn="ctr"/>
                      <a:r>
                        <a:rPr sz="1200" b="0">
                          <a:solidFill>
                            <a:srgbClr val="172033"/>
                          </a:solidFill>
                          <a:latin typeface="Arial"/>
                        </a:rPr>
                        <a:t>0.808</a:t>
                      </a:r>
                    </a:p>
                  </a:txBody>
                  <a:tcPr marL="73152" marR="73152" marT="18288" marB="18288" anchor="ctr">
                    <a:solidFill>
                      <a:srgbClr val="F6F8FB"/>
                    </a:solidFill>
                  </a:tcPr>
                </a:tc>
                <a:tc>
                  <a:txBody>
                    <a:bodyPr/>
                    <a:lstStyle/>
                    <a:p>
                      <a:pPr algn="ctr"/>
                      <a:r>
                        <a:rPr sz="1200" b="0">
                          <a:solidFill>
                            <a:srgbClr val="172033"/>
                          </a:solidFill>
                          <a:latin typeface="Arial"/>
                        </a:rPr>
                        <a:t>0.906</a:t>
                      </a:r>
                    </a:p>
                  </a:txBody>
                  <a:tcPr marL="73152" marR="73152" marT="18288" marB="18288" anchor="ctr">
                    <a:solidFill>
                      <a:srgbClr val="F6F8FB"/>
                    </a:solidFill>
                  </a:tcPr>
                </a:tc>
                <a:tc>
                  <a:txBody>
                    <a:bodyPr/>
                    <a:lstStyle/>
                    <a:p>
                      <a:pPr algn="ctr"/>
                      <a:r>
                        <a:rPr sz="1200" b="0">
                          <a:solidFill>
                            <a:srgbClr val="172033"/>
                          </a:solidFill>
                          <a:latin typeface="Arial"/>
                        </a:rPr>
                        <a:t>0.822</a:t>
                      </a:r>
                    </a:p>
                  </a:txBody>
                  <a:tcPr marL="73152" marR="73152" marT="18288" marB="18288" anchor="ctr">
                    <a:solidFill>
                      <a:srgbClr val="F6F8FB"/>
                    </a:solidFill>
                  </a:tcPr>
                </a:tc>
              </a:tr>
              <a:tr h="457200">
                <a:tc>
                  <a:txBody>
                    <a:bodyPr/>
                    <a:lstStyle/>
                    <a:p>
                      <a:pPr algn="l"/>
                      <a:r>
                        <a:rPr sz="1200" b="1">
                          <a:solidFill>
                            <a:srgbClr val="172033"/>
                          </a:solidFill>
                          <a:latin typeface="Arial"/>
                        </a:rPr>
                        <a:t>Story (WP)</a:t>
                      </a:r>
                    </a:p>
                  </a:txBody>
                  <a:tcPr marL="73152" marR="73152" marT="18288" marB="18288" anchor="ctr">
                    <a:solidFill>
                      <a:srgbClr val="EEF4FC"/>
                    </a:solidFill>
                  </a:tcPr>
                </a:tc>
                <a:tc>
                  <a:txBody>
                    <a:bodyPr/>
                    <a:lstStyle/>
                    <a:p>
                      <a:pPr algn="ctr"/>
                      <a:r>
                        <a:rPr sz="1200" b="1">
                          <a:solidFill>
                            <a:srgbClr val="172033"/>
                          </a:solidFill>
                          <a:latin typeface="Arial"/>
                        </a:rPr>
                        <a:t>0.817</a:t>
                      </a:r>
                    </a:p>
                  </a:txBody>
                  <a:tcPr marL="73152" marR="73152" marT="18288" marB="18288" anchor="ctr">
                    <a:solidFill>
                      <a:srgbClr val="EEF4FC"/>
                    </a:solidFill>
                  </a:tcPr>
                </a:tc>
                <a:tc>
                  <a:txBody>
                    <a:bodyPr/>
                    <a:lstStyle/>
                    <a:p>
                      <a:pPr algn="ctr"/>
                      <a:r>
                        <a:rPr sz="1200" b="1">
                          <a:solidFill>
                            <a:srgbClr val="172033"/>
                          </a:solidFill>
                          <a:latin typeface="Arial"/>
                        </a:rPr>
                        <a:t>0.810</a:t>
                      </a:r>
                    </a:p>
                  </a:txBody>
                  <a:tcPr marL="73152" marR="73152" marT="18288" marB="18288" anchor="ctr">
                    <a:solidFill>
                      <a:srgbClr val="EEF4FC"/>
                    </a:solidFill>
                  </a:tcPr>
                </a:tc>
                <a:tc>
                  <a:txBody>
                    <a:bodyPr/>
                    <a:lstStyle/>
                    <a:p>
                      <a:pPr algn="ctr"/>
                      <a:r>
                        <a:rPr sz="1200" b="1">
                          <a:solidFill>
                            <a:srgbClr val="172033"/>
                          </a:solidFill>
                          <a:latin typeface="Arial"/>
                        </a:rPr>
                        <a:t>0.863</a:t>
                      </a:r>
                    </a:p>
                  </a:txBody>
                  <a:tcPr marL="73152" marR="73152" marT="18288" marB="18288" anchor="ctr">
                    <a:solidFill>
                      <a:srgbClr val="EEF4FC"/>
                    </a:solidFill>
                  </a:tcPr>
                </a:tc>
                <a:tc>
                  <a:txBody>
                    <a:bodyPr/>
                    <a:lstStyle/>
                    <a:p>
                      <a:pPr algn="ctr"/>
                      <a:r>
                        <a:rPr sz="1200" b="1">
                          <a:solidFill>
                            <a:srgbClr val="172033"/>
                          </a:solidFill>
                          <a:latin typeface="Arial"/>
                        </a:rPr>
                        <a:t>0.801</a:t>
                      </a:r>
                    </a:p>
                  </a:txBody>
                  <a:tcPr marL="73152" marR="73152" marT="18288" marB="18288" anchor="ctr">
                    <a:solidFill>
                      <a:srgbClr val="EEF4FC"/>
                    </a:solidFill>
                  </a:tcPr>
                </a:tc>
              </a:tr>
            </a:tbl>
          </a:graphicData>
        </a:graphic>
      </p:graphicFrame>
      <p:sp>
        <p:nvSpPr>
          <p:cNvPr id="7" name="Rounded Rectangle 6"/>
          <p:cNvSpPr/>
          <p:nvPr/>
        </p:nvSpPr>
        <p:spPr>
          <a:xfrm>
            <a:off x="7909560" y="1417320"/>
            <a:ext cx="3749039" cy="1417320"/>
          </a:xfrm>
          <a:prstGeom prst="roundRect">
            <a:avLst>
              <a:gd name="adj" fmla="val 4000"/>
            </a:avLst>
          </a:prstGeom>
          <a:solidFill>
            <a:srgbClr val="F6F8FB"/>
          </a:solidFill>
          <a:ln w="9525">
            <a:solidFill>
              <a:srgbClr val="2F67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909560" y="1417320"/>
            <a:ext cx="3749039" cy="73152"/>
          </a:xfrm>
          <a:prstGeom prst="roundRect">
            <a:avLst>
              <a:gd name="adj" fmla="val 50000"/>
            </a:avLst>
          </a:prstGeom>
          <a:solidFill>
            <a:srgbClr val="2F6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92440" y="1600200"/>
            <a:ext cx="3383279" cy="274320"/>
          </a:xfrm>
          <a:prstGeom prst="rect">
            <a:avLst/>
          </a:prstGeom>
          <a:noFill/>
        </p:spPr>
        <p:txBody>
          <a:bodyPr wrap="square" lIns="0" rIns="0" tIns="0" bIns="0" anchor="t">
            <a:spAutoFit/>
          </a:bodyPr>
          <a:lstStyle/>
          <a:p>
            <a:pPr algn="l">
              <a:lnSpc>
                <a:spcPct val="110000"/>
              </a:lnSpc>
              <a:spcAft>
                <a:spcPts val="0"/>
              </a:spcAft>
            </a:pPr>
            <a:r>
              <a:rPr sz="975" b="1">
                <a:solidFill>
                  <a:srgbClr val="2F67C7"/>
                </a:solidFill>
                <a:latin typeface="Arial"/>
              </a:rPr>
              <a:t>TECHNICAL TEXT HOLDS MEANING</a:t>
            </a:r>
          </a:p>
        </p:txBody>
      </p:sp>
      <p:sp>
        <p:nvSpPr>
          <p:cNvPr id="10" name="TextBox 9"/>
          <p:cNvSpPr txBox="1"/>
          <p:nvPr/>
        </p:nvSpPr>
        <p:spPr>
          <a:xfrm>
            <a:off x="8092440" y="1856232"/>
            <a:ext cx="3383279" cy="914400"/>
          </a:xfrm>
          <a:prstGeom prst="rect">
            <a:avLst/>
          </a:prstGeom>
          <a:noFill/>
        </p:spPr>
        <p:txBody>
          <a:bodyPr wrap="square" lIns="0" rIns="0" tIns="0" bIns="0" anchor="t">
            <a:spAutoFit/>
          </a:bodyPr>
          <a:lstStyle/>
          <a:p>
            <a:pPr algn="l">
              <a:lnSpc>
                <a:spcPct val="110000"/>
              </a:lnSpc>
              <a:spcAft>
                <a:spcPts val="0"/>
              </a:spcAft>
            </a:pPr>
            <a:r>
              <a:rPr sz="1200" b="0">
                <a:solidFill>
                  <a:srgbClr val="172033"/>
                </a:solidFill>
                <a:latin typeface="Arial"/>
              </a:rPr>
              <a:t>Science, summaries and news keep the most: terms, entities and numbers must be copied, anchoring the meaning.</a:t>
            </a:r>
          </a:p>
        </p:txBody>
      </p:sp>
      <p:sp>
        <p:nvSpPr>
          <p:cNvPr id="11" name="Rounded Rectangle 10"/>
          <p:cNvSpPr/>
          <p:nvPr/>
        </p:nvSpPr>
        <p:spPr>
          <a:xfrm>
            <a:off x="7909560" y="2971800"/>
            <a:ext cx="3749039" cy="1234440"/>
          </a:xfrm>
          <a:prstGeom prst="roundRect">
            <a:avLst>
              <a:gd name="adj" fmla="val 4000"/>
            </a:avLst>
          </a:prstGeom>
          <a:solidFill>
            <a:srgbClr val="F6F8FB"/>
          </a:solidFill>
          <a:ln w="9525">
            <a:solidFill>
              <a:srgbClr val="C856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909560" y="2971800"/>
            <a:ext cx="3749039" cy="73152"/>
          </a:xfrm>
          <a:prstGeom prst="roundRect">
            <a:avLst>
              <a:gd name="adj" fmla="val 50000"/>
            </a:avLst>
          </a:prstGeom>
          <a:solidFill>
            <a:srgbClr val="C856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3154680"/>
            <a:ext cx="3383279" cy="274320"/>
          </a:xfrm>
          <a:prstGeom prst="rect">
            <a:avLst/>
          </a:prstGeom>
          <a:noFill/>
        </p:spPr>
        <p:txBody>
          <a:bodyPr wrap="square" lIns="0" rIns="0" tIns="0" bIns="0" anchor="t">
            <a:spAutoFit/>
          </a:bodyPr>
          <a:lstStyle/>
          <a:p>
            <a:pPr algn="l">
              <a:lnSpc>
                <a:spcPct val="110000"/>
              </a:lnSpc>
              <a:spcAft>
                <a:spcPts val="0"/>
              </a:spcAft>
            </a:pPr>
            <a:r>
              <a:rPr sz="975" b="1">
                <a:solidFill>
                  <a:srgbClr val="C85656"/>
                </a:solidFill>
                <a:latin typeface="Arial"/>
              </a:rPr>
              <a:t>CREATIVE TEXT DRIFTS</a:t>
            </a:r>
          </a:p>
        </p:txBody>
      </p:sp>
      <p:sp>
        <p:nvSpPr>
          <p:cNvPr id="14" name="TextBox 13"/>
          <p:cNvSpPr txBox="1"/>
          <p:nvPr/>
        </p:nvSpPr>
        <p:spPr>
          <a:xfrm>
            <a:off x="8092440" y="3410712"/>
            <a:ext cx="3383279" cy="731520"/>
          </a:xfrm>
          <a:prstGeom prst="rect">
            <a:avLst/>
          </a:prstGeom>
          <a:noFill/>
        </p:spPr>
        <p:txBody>
          <a:bodyPr wrap="square" lIns="0" rIns="0" tIns="0" bIns="0" anchor="t">
            <a:spAutoFit/>
          </a:bodyPr>
          <a:lstStyle/>
          <a:p>
            <a:pPr algn="l">
              <a:lnSpc>
                <a:spcPct val="110000"/>
              </a:lnSpc>
              <a:spcAft>
                <a:spcPts val="0"/>
              </a:spcAft>
            </a:pPr>
            <a:r>
              <a:rPr sz="1200" b="0">
                <a:solidFill>
                  <a:srgbClr val="172033"/>
                </a:solidFill>
                <a:latin typeface="Arial"/>
              </a:rPr>
              <a:t>Stories and opinions keep the least: room to restructure narrative and rhetoric.</a:t>
            </a:r>
          </a:p>
        </p:txBody>
      </p:sp>
      <p:sp>
        <p:nvSpPr>
          <p:cNvPr id="15" name="Rounded Rectangle 14"/>
          <p:cNvSpPr/>
          <p:nvPr/>
        </p:nvSpPr>
        <p:spPr>
          <a:xfrm>
            <a:off x="7909560" y="4343400"/>
            <a:ext cx="3749039" cy="1234440"/>
          </a:xfrm>
          <a:prstGeom prst="roundRect">
            <a:avLst>
              <a:gd name="adj" fmla="val 4000"/>
            </a:avLst>
          </a:prstGeom>
          <a:solidFill>
            <a:srgbClr val="F6F8FB"/>
          </a:solidFill>
          <a:ln w="9525">
            <a:solidFill>
              <a:srgbClr val="2E7D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909560" y="4343400"/>
            <a:ext cx="3749039" cy="73152"/>
          </a:xfrm>
          <a:prstGeom prst="roundRect">
            <a:avLst>
              <a:gd name="adj" fmla="val 50000"/>
            </a:avLst>
          </a:prstGeom>
          <a:solidFill>
            <a:srgbClr val="2E7D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92440" y="4526280"/>
            <a:ext cx="3383279" cy="274320"/>
          </a:xfrm>
          <a:prstGeom prst="rect">
            <a:avLst/>
          </a:prstGeom>
          <a:noFill/>
        </p:spPr>
        <p:txBody>
          <a:bodyPr wrap="square" lIns="0" rIns="0" tIns="0" bIns="0" anchor="t">
            <a:spAutoFit/>
          </a:bodyPr>
          <a:lstStyle/>
          <a:p>
            <a:pPr algn="l">
              <a:lnSpc>
                <a:spcPct val="110000"/>
              </a:lnSpc>
              <a:spcAft>
                <a:spcPts val="0"/>
              </a:spcAft>
            </a:pPr>
            <a:r>
              <a:rPr sz="975" b="1">
                <a:solidFill>
                  <a:srgbClr val="2E7D6A"/>
                </a:solidFill>
                <a:latin typeface="Arial"/>
              </a:rPr>
              <a:t>DOMAIN × PARAPHRASER</a:t>
            </a:r>
          </a:p>
        </p:txBody>
      </p:sp>
      <p:sp>
        <p:nvSpPr>
          <p:cNvPr id="18" name="TextBox 17"/>
          <p:cNvSpPr txBox="1"/>
          <p:nvPr/>
        </p:nvSpPr>
        <p:spPr>
          <a:xfrm>
            <a:off x="8092440" y="4782312"/>
            <a:ext cx="3383279" cy="731520"/>
          </a:xfrm>
          <a:prstGeom prst="rect">
            <a:avLst/>
          </a:prstGeom>
          <a:noFill/>
        </p:spPr>
        <p:txBody>
          <a:bodyPr wrap="square" lIns="0" rIns="0" tIns="0" bIns="0" anchor="t">
            <a:spAutoFit/>
          </a:bodyPr>
          <a:lstStyle/>
          <a:p>
            <a:pPr algn="l">
              <a:lnSpc>
                <a:spcPct val="110000"/>
              </a:lnSpc>
              <a:spcAft>
                <a:spcPts val="0"/>
              </a:spcAft>
            </a:pPr>
            <a:r>
              <a:rPr sz="1200" b="0">
                <a:solidFill>
                  <a:srgbClr val="172033"/>
                </a:solidFill>
                <a:latin typeface="Arial"/>
              </a:rPr>
              <a:t>PaLM2 copies heavily in science (BLEU 0.50) but rewrites opinion almost fully (0.11).</a:t>
            </a:r>
          </a:p>
        </p:txBody>
      </p:sp>
      <p:sp>
        <p:nvSpPr>
          <p:cNvPr id="19" name="TextBox 18"/>
          <p:cNvSpPr txBox="1"/>
          <p:nvPr/>
        </p:nvSpPr>
        <p:spPr>
          <a:xfrm>
            <a:off x="512064" y="6446520"/>
            <a:ext cx="11155680" cy="274320"/>
          </a:xfrm>
          <a:prstGeom prst="rect">
            <a:avLst/>
          </a:prstGeom>
          <a:noFill/>
        </p:spPr>
        <p:txBody>
          <a:bodyPr wrap="square" lIns="0" rIns="0" tIns="0" bIns="0" anchor="t">
            <a:spAutoFit/>
          </a:bodyPr>
          <a:lstStyle/>
          <a:p>
            <a:pPr algn="l">
              <a:lnSpc>
                <a:spcPct val="110000"/>
              </a:lnSpc>
              <a:spcAft>
                <a:spcPts val="0"/>
              </a:spcAft>
            </a:pPr>
            <a:r>
              <a:rPr sz="825" b="0">
                <a:solidFill>
                  <a:srgbClr val="5C6678"/>
                </a:solidFill>
                <a:latin typeface="Arial"/>
              </a:rPr>
              <a:t>Long CMV and WP documents partly exceed SBERT's 256-token window — a possible contributor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12064" y="320040"/>
            <a:ext cx="548640" cy="320040"/>
          </a:xfrm>
          <a:prstGeom prst="rect">
            <a:avLst/>
          </a:prstGeom>
          <a:noFill/>
        </p:spPr>
        <p:txBody>
          <a:bodyPr wrap="square" lIns="0" rIns="0" tIns="0" bIns="0" anchor="t">
            <a:spAutoFit/>
          </a:bodyPr>
          <a:lstStyle/>
          <a:p>
            <a:pPr algn="l">
              <a:lnSpc>
                <a:spcPct val="110000"/>
              </a:lnSpc>
              <a:spcAft>
                <a:spcPts val="0"/>
              </a:spcAft>
            </a:pPr>
            <a:r>
              <a:rPr sz="1125" b="1">
                <a:solidFill>
                  <a:srgbClr val="2F67C7"/>
                </a:solidFill>
                <a:latin typeface="Arial"/>
              </a:rPr>
              <a:t>10</a:t>
            </a:r>
          </a:p>
        </p:txBody>
      </p:sp>
      <p:sp>
        <p:nvSpPr>
          <p:cNvPr id="3" name="TextBox 2"/>
          <p:cNvSpPr txBox="1"/>
          <p:nvPr/>
        </p:nvSpPr>
        <p:spPr>
          <a:xfrm>
            <a:off x="1069848" y="246888"/>
            <a:ext cx="10424160" cy="548640"/>
          </a:xfrm>
          <a:prstGeom prst="rect">
            <a:avLst/>
          </a:prstGeom>
          <a:noFill/>
        </p:spPr>
        <p:txBody>
          <a:bodyPr wrap="square" lIns="0" rIns="0" tIns="0" bIns="0" anchor="t">
            <a:spAutoFit/>
          </a:bodyPr>
          <a:lstStyle/>
          <a:p>
            <a:pPr algn="l">
              <a:lnSpc>
                <a:spcPct val="110000"/>
              </a:lnSpc>
              <a:spcAft>
                <a:spcPts val="0"/>
              </a:spcAft>
            </a:pPr>
            <a:r>
              <a:rPr sz="2325" b="1">
                <a:solidFill>
                  <a:srgbClr val="10243E"/>
                </a:solidFill>
                <a:latin typeface="Arial"/>
              </a:rPr>
              <a:t>RQ1 method: ten planks, one scale</a:t>
            </a:r>
          </a:p>
        </p:txBody>
      </p:sp>
      <p:sp>
        <p:nvSpPr>
          <p:cNvPr id="4" name="TextBox 3"/>
          <p:cNvSpPr txBox="1"/>
          <p:nvPr/>
        </p:nvSpPr>
        <p:spPr>
          <a:xfrm>
            <a:off x="1069848" y="758952"/>
            <a:ext cx="10424160" cy="274320"/>
          </a:xfrm>
          <a:prstGeom prst="rect">
            <a:avLst/>
          </a:prstGeom>
          <a:noFill/>
        </p:spPr>
        <p:txBody>
          <a:bodyPr wrap="square" lIns="0" rIns="0" tIns="0" bIns="0" anchor="t">
            <a:spAutoFit/>
          </a:bodyPr>
          <a:lstStyle/>
          <a:p>
            <a:pPr algn="l">
              <a:lnSpc>
                <a:spcPct val="110000"/>
              </a:lnSpc>
              <a:spcAft>
                <a:spcPts val="0"/>
              </a:spcAft>
            </a:pPr>
            <a:r>
              <a:rPr sz="1050" b="0">
                <a:solidFill>
                  <a:srgbClr val="5C6678"/>
                </a:solidFill>
                <a:latin typeface="Arial"/>
              </a:rPr>
              <a:t>Weeks 7–8 · each document compared with its own T0, per feature family</a:t>
            </a:r>
          </a:p>
        </p:txBody>
      </p:sp>
      <p:sp>
        <p:nvSpPr>
          <p:cNvPr id="5" name="Rectangle 4"/>
          <p:cNvSpPr/>
          <p:nvPr/>
        </p:nvSpPr>
        <p:spPr>
          <a:xfrm>
            <a:off x="512064" y="1069848"/>
            <a:ext cx="11164824" cy="18288"/>
          </a:xfrm>
          <a:prstGeom prst="rect">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5120640" cy="274320"/>
          </a:xfrm>
          <a:prstGeom prst="rect">
            <a:avLst/>
          </a:prstGeom>
          <a:noFill/>
        </p:spPr>
        <p:txBody>
          <a:bodyPr wrap="square" lIns="0" rIns="0" tIns="0" bIns="0" anchor="t">
            <a:spAutoFit/>
          </a:bodyPr>
          <a:lstStyle/>
          <a:p>
            <a:pPr algn="l">
              <a:lnSpc>
                <a:spcPct val="110000"/>
              </a:lnSpc>
              <a:spcAft>
                <a:spcPts val="0"/>
              </a:spcAft>
            </a:pPr>
            <a:r>
              <a:rPr sz="975" b="1">
                <a:solidFill>
                  <a:srgbClr val="2F67C7"/>
                </a:solidFill>
                <a:latin typeface="Arial"/>
              </a:rPr>
              <a:t>LEXICAL — THE SKIN</a:t>
            </a:r>
          </a:p>
        </p:txBody>
      </p:sp>
      <p:sp>
        <p:nvSpPr>
          <p:cNvPr id="7" name="TextBox 6"/>
          <p:cNvSpPr txBox="1"/>
          <p:nvPr/>
        </p:nvSpPr>
        <p:spPr>
          <a:xfrm>
            <a:off x="548640" y="1645920"/>
            <a:ext cx="5120640" cy="1920240"/>
          </a:xfrm>
          <a:prstGeom prst="rect">
            <a:avLst/>
          </a:prstGeom>
          <a:noFill/>
        </p:spPr>
        <p:txBody>
          <a:bodyPr wrap="square" lIns="0" rIns="0" tIns="0" bIns="0" anchor="t">
            <a:spAutoFit/>
          </a:bodyPr>
          <a:lstStyle/>
          <a:p>
            <a:pPr algn="l">
              <a:lnSpc>
                <a:spcPct val="110000"/>
              </a:lnSpc>
              <a:spcAft>
                <a:spcPts val="200"/>
              </a:spcAft>
            </a:pPr>
            <a:r>
              <a:rPr sz="1200" b="0">
                <a:solidFill>
                  <a:srgbClr val="172033"/>
                </a:solidFill>
                <a:latin typeface="Arial"/>
              </a:rPr>
              <a:t>•  Word choice (word-set overlap)</a:t>
            </a:r>
          </a:p>
          <a:p>
            <a:pPr algn="l">
              <a:lnSpc>
                <a:spcPct val="110000"/>
              </a:lnSpc>
              <a:spcAft>
                <a:spcPts val="200"/>
              </a:spcAft>
            </a:pPr>
            <a:r>
              <a:rPr sz="1200" b="0">
                <a:solidFill>
                  <a:srgbClr val="172033"/>
                </a:solidFill>
                <a:latin typeface="Arial"/>
              </a:rPr>
              <a:t>•  Function-word profile (198 words)</a:t>
            </a:r>
          </a:p>
          <a:p>
            <a:pPr algn="l">
              <a:lnSpc>
                <a:spcPct val="110000"/>
              </a:lnSpc>
              <a:spcAft>
                <a:spcPts val="200"/>
              </a:spcAft>
            </a:pPr>
            <a:r>
              <a:rPr sz="1200" b="0">
                <a:solidFill>
                  <a:srgbClr val="172033"/>
                </a:solidFill>
                <a:latin typeface="Arial"/>
              </a:rPr>
              <a:t>•  Punctuation profile (12 marks)</a:t>
            </a:r>
          </a:p>
          <a:p>
            <a:pPr algn="l">
              <a:lnSpc>
                <a:spcPct val="110000"/>
              </a:lnSpc>
              <a:spcAft>
                <a:spcPts val="200"/>
              </a:spcAft>
            </a:pPr>
            <a:r>
              <a:rPr sz="1200" b="0">
                <a:solidFill>
                  <a:srgbClr val="172033"/>
                </a:solidFill>
                <a:latin typeface="Arial"/>
              </a:rPr>
              <a:t>•  Lexical richness (MATTR, word length)</a:t>
            </a:r>
          </a:p>
        </p:txBody>
      </p:sp>
      <p:sp>
        <p:nvSpPr>
          <p:cNvPr id="8" name="TextBox 7"/>
          <p:cNvSpPr txBox="1"/>
          <p:nvPr/>
        </p:nvSpPr>
        <p:spPr>
          <a:xfrm>
            <a:off x="548640" y="2953512"/>
            <a:ext cx="5120640" cy="274320"/>
          </a:xfrm>
          <a:prstGeom prst="rect">
            <a:avLst/>
          </a:prstGeom>
          <a:noFill/>
        </p:spPr>
        <p:txBody>
          <a:bodyPr wrap="square" lIns="0" rIns="0" tIns="0" bIns="0" anchor="t">
            <a:spAutoFit/>
          </a:bodyPr>
          <a:lstStyle/>
          <a:p>
            <a:pPr algn="l">
              <a:lnSpc>
                <a:spcPct val="110000"/>
              </a:lnSpc>
              <a:spcAft>
                <a:spcPts val="0"/>
              </a:spcAft>
            </a:pPr>
            <a:r>
              <a:rPr sz="975" b="1">
                <a:solidFill>
                  <a:srgbClr val="587FB8"/>
                </a:solidFill>
                <a:latin typeface="Arial"/>
              </a:rPr>
              <a:t>SYNTACTIC — THE SKELETON</a:t>
            </a:r>
          </a:p>
        </p:txBody>
      </p:sp>
      <p:sp>
        <p:nvSpPr>
          <p:cNvPr id="9" name="TextBox 8"/>
          <p:cNvSpPr txBox="1"/>
          <p:nvPr/>
        </p:nvSpPr>
        <p:spPr>
          <a:xfrm>
            <a:off x="548640" y="3227832"/>
            <a:ext cx="5120640" cy="2286000"/>
          </a:xfrm>
          <a:prstGeom prst="rect">
            <a:avLst/>
          </a:prstGeom>
          <a:noFill/>
        </p:spPr>
        <p:txBody>
          <a:bodyPr wrap="square" lIns="0" rIns="0" tIns="0" bIns="0" anchor="t">
            <a:spAutoFit/>
          </a:bodyPr>
          <a:lstStyle/>
          <a:p>
            <a:pPr algn="l">
              <a:lnSpc>
                <a:spcPct val="110000"/>
              </a:lnSpc>
              <a:spcAft>
                <a:spcPts val="200"/>
              </a:spcAft>
            </a:pPr>
            <a:r>
              <a:rPr sz="1200" b="0">
                <a:solidFill>
                  <a:srgbClr val="172033"/>
                </a:solidFill>
                <a:latin typeface="Arial"/>
              </a:rPr>
              <a:t>•  Sentence shape (mean, variance)</a:t>
            </a:r>
          </a:p>
          <a:p>
            <a:pPr algn="l">
              <a:lnSpc>
                <a:spcPct val="110000"/>
              </a:lnSpc>
              <a:spcAft>
                <a:spcPts val="200"/>
              </a:spcAft>
            </a:pPr>
            <a:r>
              <a:rPr sz="1200" b="0">
                <a:solidFill>
                  <a:srgbClr val="172033"/>
                </a:solidFill>
                <a:latin typeface="Arial"/>
              </a:rPr>
              <a:t>•  POS-tag distribution</a:t>
            </a:r>
          </a:p>
          <a:p>
            <a:pPr algn="l">
              <a:lnSpc>
                <a:spcPct val="110000"/>
              </a:lnSpc>
              <a:spcAft>
                <a:spcPts val="200"/>
              </a:spcAft>
            </a:pPr>
            <a:r>
              <a:rPr sz="1200" b="0">
                <a:solidFill>
                  <a:srgbClr val="172033"/>
                </a:solidFill>
                <a:latin typeface="Arial"/>
              </a:rPr>
              <a:t>•  Dependency-label distribution</a:t>
            </a:r>
          </a:p>
          <a:p>
            <a:pPr algn="l">
              <a:lnSpc>
                <a:spcPct val="110000"/>
              </a:lnSpc>
              <a:spcAft>
                <a:spcPts val="200"/>
              </a:spcAft>
            </a:pPr>
            <a:r>
              <a:rPr sz="1200" b="0">
                <a:solidFill>
                  <a:srgbClr val="172033"/>
                </a:solidFill>
                <a:latin typeface="Arial"/>
              </a:rPr>
              <a:t>•  Tree depth, dependency distance</a:t>
            </a:r>
          </a:p>
          <a:p>
            <a:pPr algn="l">
              <a:lnSpc>
                <a:spcPct val="110000"/>
              </a:lnSpc>
              <a:spcAft>
                <a:spcPts val="200"/>
              </a:spcAft>
            </a:pPr>
            <a:r>
              <a:rPr sz="1200" b="0">
                <a:solidFill>
                  <a:srgbClr val="172033"/>
                </a:solidFill>
                <a:latin typeface="Arial"/>
              </a:rPr>
              <a:t>•  Readability (Flesch–Kincaid)</a:t>
            </a:r>
          </a:p>
        </p:txBody>
      </p:sp>
      <p:sp>
        <p:nvSpPr>
          <p:cNvPr id="10" name="TextBox 9"/>
          <p:cNvSpPr txBox="1"/>
          <p:nvPr/>
        </p:nvSpPr>
        <p:spPr>
          <a:xfrm>
            <a:off x="548640" y="4782312"/>
            <a:ext cx="5120640" cy="274320"/>
          </a:xfrm>
          <a:prstGeom prst="rect">
            <a:avLst/>
          </a:prstGeom>
          <a:noFill/>
        </p:spPr>
        <p:txBody>
          <a:bodyPr wrap="square" lIns="0" rIns="0" tIns="0" bIns="0" anchor="t">
            <a:spAutoFit/>
          </a:bodyPr>
          <a:lstStyle/>
          <a:p>
            <a:pPr algn="l">
              <a:lnSpc>
                <a:spcPct val="110000"/>
              </a:lnSpc>
              <a:spcAft>
                <a:spcPts val="0"/>
              </a:spcAft>
            </a:pPr>
            <a:r>
              <a:rPr sz="975" b="1">
                <a:solidFill>
                  <a:srgbClr val="2E7D6A"/>
                </a:solidFill>
                <a:latin typeface="Arial"/>
              </a:rPr>
              <a:t>MEANING — THE HULL</a:t>
            </a:r>
          </a:p>
        </p:txBody>
      </p:sp>
      <p:sp>
        <p:nvSpPr>
          <p:cNvPr id="11" name="TextBox 10"/>
          <p:cNvSpPr txBox="1"/>
          <p:nvPr/>
        </p:nvSpPr>
        <p:spPr>
          <a:xfrm>
            <a:off x="548640" y="5056632"/>
            <a:ext cx="5120640" cy="822960"/>
          </a:xfrm>
          <a:prstGeom prst="rect">
            <a:avLst/>
          </a:prstGeom>
          <a:noFill/>
        </p:spPr>
        <p:txBody>
          <a:bodyPr wrap="square" lIns="0" rIns="0" tIns="0" bIns="0" anchor="t">
            <a:spAutoFit/>
          </a:bodyPr>
          <a:lstStyle/>
          <a:p>
            <a:pPr algn="l">
              <a:lnSpc>
                <a:spcPct val="110000"/>
              </a:lnSpc>
              <a:spcAft>
                <a:spcPts val="200"/>
              </a:spcAft>
            </a:pPr>
            <a:r>
              <a:rPr sz="1200" b="0">
                <a:solidFill>
                  <a:srgbClr val="172033"/>
                </a:solidFill>
                <a:latin typeface="Arial"/>
              </a:rPr>
              <a:t>•  SBERT embedding</a:t>
            </a:r>
          </a:p>
        </p:txBody>
      </p:sp>
      <p:sp>
        <p:nvSpPr>
          <p:cNvPr id="12" name="TextBox 11"/>
          <p:cNvSpPr txBox="1"/>
          <p:nvPr/>
        </p:nvSpPr>
        <p:spPr>
          <a:xfrm>
            <a:off x="548640" y="5623560"/>
            <a:ext cx="5303520" cy="548640"/>
          </a:xfrm>
          <a:prstGeom prst="rect">
            <a:avLst/>
          </a:prstGeom>
          <a:noFill/>
        </p:spPr>
        <p:txBody>
          <a:bodyPr wrap="square" lIns="0" rIns="0" tIns="0" bIns="0" anchor="t">
            <a:spAutoFit/>
          </a:bodyPr>
          <a:lstStyle/>
          <a:p>
            <a:pPr algn="l">
              <a:lnSpc>
                <a:spcPct val="110000"/>
              </a:lnSpc>
              <a:spcAft>
                <a:spcPts val="0"/>
              </a:spcAft>
            </a:pPr>
            <a:r>
              <a:rPr sz="1050" b="0">
                <a:solidFill>
                  <a:srgbClr val="5C6678"/>
                </a:solidFill>
                <a:latin typeface="Arial"/>
              </a:rPr>
              <a:t>Parsed once with spaCy; distributions compared with Jensen–Shannon distance, scalars with z-score differences</a:t>
            </a:r>
          </a:p>
        </p:txBody>
      </p:sp>
      <p:sp>
        <p:nvSpPr>
          <p:cNvPr id="13" name="Rounded Rectangle 12"/>
          <p:cNvSpPr/>
          <p:nvPr/>
        </p:nvSpPr>
        <p:spPr>
          <a:xfrm>
            <a:off x="6035040" y="1417320"/>
            <a:ext cx="5623560" cy="4526280"/>
          </a:xfrm>
          <a:prstGeom prst="roundRect">
            <a:avLst>
              <a:gd name="adj" fmla="val 4000"/>
            </a:avLst>
          </a:prstGeom>
          <a:solidFill>
            <a:srgbClr val="F6F8FB"/>
          </a:solidFill>
          <a:ln w="9525">
            <a:solidFill>
              <a:srgbClr val="2F67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035040" y="1417320"/>
            <a:ext cx="5623560" cy="73152"/>
          </a:xfrm>
          <a:prstGeom prst="roundRect">
            <a:avLst>
              <a:gd name="adj" fmla="val 50000"/>
            </a:avLst>
          </a:prstGeom>
          <a:solidFill>
            <a:srgbClr val="2F6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1691640"/>
            <a:ext cx="5120640" cy="365760"/>
          </a:xfrm>
          <a:prstGeom prst="rect">
            <a:avLst/>
          </a:prstGeom>
          <a:noFill/>
        </p:spPr>
        <p:txBody>
          <a:bodyPr wrap="square" lIns="0" rIns="0" tIns="0" bIns="0" anchor="t">
            <a:spAutoFit/>
          </a:bodyPr>
          <a:lstStyle/>
          <a:p>
            <a:pPr algn="l">
              <a:lnSpc>
                <a:spcPct val="110000"/>
              </a:lnSpc>
              <a:spcAft>
                <a:spcPts val="0"/>
              </a:spcAft>
            </a:pPr>
            <a:r>
              <a:rPr sz="1725" b="1">
                <a:solidFill>
                  <a:srgbClr val="10243E"/>
                </a:solidFill>
                <a:latin typeface="Arial"/>
              </a:rPr>
              <a:t>Putting style and meaning on one scale</a:t>
            </a:r>
          </a:p>
        </p:txBody>
      </p:sp>
      <p:sp>
        <p:nvSpPr>
          <p:cNvPr id="16" name="TextBox 15"/>
          <p:cNvSpPr txBox="1"/>
          <p:nvPr/>
        </p:nvSpPr>
        <p:spPr>
          <a:xfrm>
            <a:off x="6309360" y="2194560"/>
            <a:ext cx="5120640" cy="822960"/>
          </a:xfrm>
          <a:prstGeom prst="rect">
            <a:avLst/>
          </a:prstGeom>
          <a:noFill/>
        </p:spPr>
        <p:txBody>
          <a:bodyPr wrap="square" lIns="0" rIns="0" tIns="0" bIns="0" anchor="t">
            <a:spAutoFit/>
          </a:bodyPr>
          <a:lstStyle/>
          <a:p>
            <a:pPr algn="l">
              <a:lnSpc>
                <a:spcPct val="110000"/>
              </a:lnSpc>
              <a:spcAft>
                <a:spcPts val="0"/>
              </a:spcAft>
            </a:pPr>
            <a:r>
              <a:rPr sz="1275" b="0">
                <a:solidFill>
                  <a:srgbClr val="5C6678"/>
                </a:solidFill>
                <a:latin typeface="Arial"/>
              </a:rPr>
              <a:t>Divide each distance by the distance between the T0 and 5 unrelated documents from the same domain:</a:t>
            </a:r>
          </a:p>
        </p:txBody>
      </p:sp>
      <p:sp>
        <p:nvSpPr>
          <p:cNvPr id="17" name="TextBox 16"/>
          <p:cNvSpPr txBox="1"/>
          <p:nvPr/>
        </p:nvSpPr>
        <p:spPr>
          <a:xfrm>
            <a:off x="6309360" y="2971800"/>
            <a:ext cx="5120640" cy="457200"/>
          </a:xfrm>
          <a:prstGeom prst="rect">
            <a:avLst/>
          </a:prstGeom>
          <a:noFill/>
        </p:spPr>
        <p:txBody>
          <a:bodyPr wrap="square" lIns="0" rIns="0" tIns="0" bIns="0" anchor="t">
            <a:spAutoFit/>
          </a:bodyPr>
          <a:lstStyle/>
          <a:p>
            <a:pPr algn="ctr">
              <a:lnSpc>
                <a:spcPct val="110000"/>
              </a:lnSpc>
              <a:spcAft>
                <a:spcPts val="0"/>
              </a:spcAft>
            </a:pPr>
            <a:r>
              <a:rPr sz="1500" b="1">
                <a:solidFill>
                  <a:srgbClr val="2F67C7"/>
                </a:solidFill>
                <a:latin typeface="Arial"/>
              </a:rPr>
              <a:t>Retention = 1 − d(Tk, T0) / d(unrelated, T0)</a:t>
            </a:r>
          </a:p>
        </p:txBody>
      </p:sp>
      <p:sp>
        <p:nvSpPr>
          <p:cNvPr id="18" name="Rectangle 17"/>
          <p:cNvSpPr/>
          <p:nvPr/>
        </p:nvSpPr>
        <p:spPr>
          <a:xfrm>
            <a:off x="6492240" y="3886200"/>
            <a:ext cx="1188720" cy="201168"/>
          </a:xfrm>
          <a:prstGeom prst="rect">
            <a:avLst/>
          </a:prstGeom>
          <a:solidFill>
            <a:srgbClr val="F2B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80960" y="3886200"/>
            <a:ext cx="3566160" cy="201168"/>
          </a:xfrm>
          <a:prstGeom prst="rect">
            <a:avLst/>
          </a:prstGeom>
          <a:solidFill>
            <a:srgbClr val="9EC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83096" y="3794760"/>
            <a:ext cx="27432" cy="38404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0720" y="4251960"/>
            <a:ext cx="1463040" cy="822960"/>
          </a:xfrm>
          <a:prstGeom prst="rect">
            <a:avLst/>
          </a:prstGeom>
          <a:noFill/>
        </p:spPr>
        <p:txBody>
          <a:bodyPr wrap="square" lIns="0" rIns="0" tIns="0" bIns="0" anchor="t">
            <a:spAutoFit/>
          </a:bodyPr>
          <a:lstStyle/>
          <a:p>
            <a:pPr algn="ctr">
              <a:lnSpc>
                <a:spcPct val="110000"/>
              </a:lnSpc>
              <a:spcAft>
                <a:spcPts val="0"/>
              </a:spcAft>
            </a:pPr>
            <a:r>
              <a:rPr sz="1000" b="0">
                <a:solidFill>
                  <a:srgbClr val="C85656"/>
                </a:solidFill>
                <a:latin typeface="Arial"/>
              </a:rPr>
              <a:t>&lt; 0</a:t>
            </a:r>
          </a:p>
          <a:p>
            <a:pPr algn="ctr">
              <a:lnSpc>
                <a:spcPct val="110000"/>
              </a:lnSpc>
              <a:spcAft>
                <a:spcPts val="0"/>
              </a:spcAft>
            </a:pPr>
            <a:r>
              <a:rPr sz="1000" b="0">
                <a:solidFill>
                  <a:srgbClr val="C85656"/>
                </a:solidFill>
                <a:latin typeface="Arial"/>
              </a:rPr>
              <a:t>pushed beyond</a:t>
            </a:r>
          </a:p>
          <a:p>
            <a:pPr algn="ctr">
              <a:lnSpc>
                <a:spcPct val="110000"/>
              </a:lnSpc>
              <a:spcAft>
                <a:spcPts val="0"/>
              </a:spcAft>
            </a:pPr>
            <a:r>
              <a:rPr sz="1000" b="0">
                <a:solidFill>
                  <a:srgbClr val="C85656"/>
                </a:solidFill>
                <a:latin typeface="Arial"/>
              </a:rPr>
              <a:t>another author</a:t>
            </a:r>
          </a:p>
        </p:txBody>
      </p:sp>
      <p:sp>
        <p:nvSpPr>
          <p:cNvPr id="22" name="Rectangle 21"/>
          <p:cNvSpPr/>
          <p:nvPr/>
        </p:nvSpPr>
        <p:spPr>
          <a:xfrm>
            <a:off x="7671816" y="3794760"/>
            <a:ext cx="27432" cy="38404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0" y="4251960"/>
            <a:ext cx="1463040" cy="822960"/>
          </a:xfrm>
          <a:prstGeom prst="rect">
            <a:avLst/>
          </a:prstGeom>
          <a:noFill/>
        </p:spPr>
        <p:txBody>
          <a:bodyPr wrap="square" lIns="0" rIns="0" tIns="0" bIns="0" anchor="t">
            <a:spAutoFit/>
          </a:bodyPr>
          <a:lstStyle/>
          <a:p>
            <a:pPr algn="ctr">
              <a:lnSpc>
                <a:spcPct val="110000"/>
              </a:lnSpc>
              <a:spcAft>
                <a:spcPts val="0"/>
              </a:spcAft>
            </a:pPr>
            <a:r>
              <a:rPr sz="1000" b="0">
                <a:solidFill>
                  <a:srgbClr val="5C6678"/>
                </a:solidFill>
                <a:latin typeface="Arial"/>
              </a:rPr>
              <a:t>0</a:t>
            </a:r>
          </a:p>
          <a:p>
            <a:pPr algn="ctr">
              <a:lnSpc>
                <a:spcPct val="110000"/>
              </a:lnSpc>
              <a:spcAft>
                <a:spcPts val="0"/>
              </a:spcAft>
            </a:pPr>
            <a:r>
              <a:rPr sz="1000" b="0">
                <a:solidFill>
                  <a:srgbClr val="5C6678"/>
                </a:solidFill>
                <a:latin typeface="Arial"/>
              </a:rPr>
              <a:t>like an unrelated</a:t>
            </a:r>
          </a:p>
          <a:p>
            <a:pPr algn="ctr">
              <a:lnSpc>
                <a:spcPct val="110000"/>
              </a:lnSpc>
              <a:spcAft>
                <a:spcPts val="0"/>
              </a:spcAft>
            </a:pPr>
            <a:r>
              <a:rPr sz="1000" b="0">
                <a:solidFill>
                  <a:srgbClr val="5C6678"/>
                </a:solidFill>
                <a:latin typeface="Arial"/>
              </a:rPr>
              <a:t>document</a:t>
            </a:r>
          </a:p>
        </p:txBody>
      </p:sp>
      <p:sp>
        <p:nvSpPr>
          <p:cNvPr id="24" name="Rectangle 23"/>
          <p:cNvSpPr/>
          <p:nvPr/>
        </p:nvSpPr>
        <p:spPr>
          <a:xfrm>
            <a:off x="11237976" y="3794760"/>
            <a:ext cx="27432" cy="38404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0" y="4251960"/>
            <a:ext cx="1463040" cy="822960"/>
          </a:xfrm>
          <a:prstGeom prst="rect">
            <a:avLst/>
          </a:prstGeom>
          <a:noFill/>
        </p:spPr>
        <p:txBody>
          <a:bodyPr wrap="square" lIns="0" rIns="0" tIns="0" bIns="0" anchor="t">
            <a:spAutoFit/>
          </a:bodyPr>
          <a:lstStyle/>
          <a:p>
            <a:pPr algn="ctr">
              <a:lnSpc>
                <a:spcPct val="110000"/>
              </a:lnSpc>
              <a:spcAft>
                <a:spcPts val="0"/>
              </a:spcAft>
            </a:pPr>
            <a:r>
              <a:rPr sz="1000" b="0">
                <a:solidFill>
                  <a:srgbClr val="2F67C7"/>
                </a:solidFill>
                <a:latin typeface="Arial"/>
              </a:rPr>
              <a:t>1</a:t>
            </a:r>
          </a:p>
          <a:p>
            <a:pPr algn="ctr">
              <a:lnSpc>
                <a:spcPct val="110000"/>
              </a:lnSpc>
              <a:spcAft>
                <a:spcPts val="0"/>
              </a:spcAft>
            </a:pPr>
            <a:r>
              <a:rPr sz="1000" b="0">
                <a:solidFill>
                  <a:srgbClr val="2F67C7"/>
                </a:solidFill>
                <a:latin typeface="Arial"/>
              </a:rPr>
              <a:t>unchanged</a:t>
            </a:r>
          </a:p>
        </p:txBody>
      </p:sp>
      <p:sp>
        <p:nvSpPr>
          <p:cNvPr id="26" name="TextBox 25"/>
          <p:cNvSpPr txBox="1"/>
          <p:nvPr/>
        </p:nvSpPr>
        <p:spPr>
          <a:xfrm>
            <a:off x="6309360" y="5257800"/>
            <a:ext cx="5120640" cy="548640"/>
          </a:xfrm>
          <a:prstGeom prst="rect">
            <a:avLst/>
          </a:prstGeom>
          <a:noFill/>
        </p:spPr>
        <p:txBody>
          <a:bodyPr wrap="square" lIns="0" rIns="0" tIns="0" bIns="0" anchor="t">
            <a:spAutoFit/>
          </a:bodyPr>
          <a:lstStyle/>
          <a:p>
            <a:pPr algn="l">
              <a:lnSpc>
                <a:spcPct val="110000"/>
              </a:lnSpc>
              <a:spcAft>
                <a:spcPts val="0"/>
              </a:spcAft>
            </a:pPr>
            <a:r>
              <a:rPr sz="1100" b="0">
                <a:solidFill>
                  <a:srgbClr val="172033"/>
                </a:solidFill>
                <a:latin typeface="Arial"/>
              </a:rPr>
              <a:t>Plus: 95% bootstrap CIs · paired Wilcoxon tests (Holm-corrected) · effect sizes</a:t>
            </a:r>
          </a:p>
        </p:txBody>
      </p:sp>
      <p:sp>
        <p:nvSpPr>
          <p:cNvPr id="27" name="TextBox 26"/>
          <p:cNvSpPr txBox="1"/>
          <p:nvPr/>
        </p:nvSpPr>
        <p:spPr>
          <a:xfrm>
            <a:off x="512064" y="6446520"/>
            <a:ext cx="11155680" cy="274320"/>
          </a:xfrm>
          <a:prstGeom prst="rect">
            <a:avLst/>
          </a:prstGeom>
          <a:noFill/>
        </p:spPr>
        <p:txBody>
          <a:bodyPr wrap="square" lIns="0" rIns="0" tIns="0" bIns="0" anchor="t">
            <a:spAutoFit/>
          </a:bodyPr>
          <a:lstStyle/>
          <a:p>
            <a:pPr algn="l">
              <a:lnSpc>
                <a:spcPct val="110000"/>
              </a:lnSpc>
              <a:spcAft>
                <a:spcPts val="0"/>
              </a:spcAft>
            </a:pPr>
            <a:r>
              <a:rPr sz="825" b="0">
                <a:solidFill>
                  <a:srgbClr val="5C6678"/>
                </a:solidFill>
                <a:latin typeface="Arial"/>
              </a:rPr>
              <a:t>Averages hide change: a feature can keep its corpus mean while every document moves — so we measure per document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12064" y="320040"/>
            <a:ext cx="548640" cy="320040"/>
          </a:xfrm>
          <a:prstGeom prst="rect">
            <a:avLst/>
          </a:prstGeom>
          <a:noFill/>
        </p:spPr>
        <p:txBody>
          <a:bodyPr wrap="square" lIns="0" rIns="0" tIns="0" bIns="0" anchor="t">
            <a:spAutoFit/>
          </a:bodyPr>
          <a:lstStyle/>
          <a:p>
            <a:pPr algn="l">
              <a:lnSpc>
                <a:spcPct val="110000"/>
              </a:lnSpc>
              <a:spcAft>
                <a:spcPts val="0"/>
              </a:spcAft>
            </a:pPr>
            <a:r>
              <a:rPr sz="1125" b="1">
                <a:solidFill>
                  <a:srgbClr val="2F67C7"/>
                </a:solidFill>
                <a:latin typeface="Arial"/>
              </a:rPr>
              <a:t>11</a:t>
            </a:r>
          </a:p>
        </p:txBody>
      </p:sp>
      <p:sp>
        <p:nvSpPr>
          <p:cNvPr id="3" name="TextBox 2"/>
          <p:cNvSpPr txBox="1"/>
          <p:nvPr/>
        </p:nvSpPr>
        <p:spPr>
          <a:xfrm>
            <a:off x="1069848" y="246888"/>
            <a:ext cx="10424160" cy="548640"/>
          </a:xfrm>
          <a:prstGeom prst="rect">
            <a:avLst/>
          </a:prstGeom>
          <a:noFill/>
        </p:spPr>
        <p:txBody>
          <a:bodyPr wrap="square" lIns="0" rIns="0" tIns="0" bIns="0" anchor="t">
            <a:spAutoFit/>
          </a:bodyPr>
          <a:lstStyle/>
          <a:p>
            <a:pPr algn="l">
              <a:lnSpc>
                <a:spcPct val="110000"/>
              </a:lnSpc>
              <a:spcAft>
                <a:spcPts val="0"/>
              </a:spcAft>
            </a:pPr>
            <a:r>
              <a:rPr sz="2325" b="1">
                <a:solidFill>
                  <a:srgbClr val="10243E"/>
                </a:solidFill>
                <a:latin typeface="Arial"/>
              </a:rPr>
              <a:t>RQ1: which planks are replaced first?</a:t>
            </a:r>
          </a:p>
        </p:txBody>
      </p:sp>
      <p:sp>
        <p:nvSpPr>
          <p:cNvPr id="4" name="TextBox 3"/>
          <p:cNvSpPr txBox="1"/>
          <p:nvPr/>
        </p:nvSpPr>
        <p:spPr>
          <a:xfrm>
            <a:off x="1069848" y="758952"/>
            <a:ext cx="10424160" cy="274320"/>
          </a:xfrm>
          <a:prstGeom prst="rect">
            <a:avLst/>
          </a:prstGeom>
          <a:noFill/>
        </p:spPr>
        <p:txBody>
          <a:bodyPr wrap="square" lIns="0" rIns="0" tIns="0" bIns="0" anchor="t">
            <a:spAutoFit/>
          </a:bodyPr>
          <a:lstStyle/>
          <a:p>
            <a:pPr algn="l">
              <a:lnSpc>
                <a:spcPct val="110000"/>
              </a:lnSpc>
              <a:spcAft>
                <a:spcPts val="0"/>
              </a:spcAft>
            </a:pPr>
            <a:r>
              <a:rPr sz="1050" b="0">
                <a:solidFill>
                  <a:srgbClr val="5C6678"/>
                </a:solidFill>
                <a:latin typeface="Arial"/>
              </a:rPr>
              <a:t>ChatGPT, 700 documents · retention at T1, T2, T3 (first-replaced on top)</a:t>
            </a:r>
          </a:p>
        </p:txBody>
      </p:sp>
      <p:sp>
        <p:nvSpPr>
          <p:cNvPr id="5" name="Rectangle 4"/>
          <p:cNvSpPr/>
          <p:nvPr/>
        </p:nvSpPr>
        <p:spPr>
          <a:xfrm>
            <a:off x="512064" y="1069848"/>
            <a:ext cx="11164824" cy="18288"/>
          </a:xfrm>
          <a:prstGeom prst="rect">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nguistic_delta.png"/>
          <p:cNvPicPr>
            <a:picLocks noChangeAspect="1"/>
          </p:cNvPicPr>
          <p:nvPr/>
        </p:nvPicPr>
        <p:blipFill>
          <a:blip r:embed="rId2"/>
          <a:stretch>
            <a:fillRect/>
          </a:stretch>
        </p:blipFill>
        <p:spPr>
          <a:xfrm>
            <a:off x="829576" y="1188720"/>
            <a:ext cx="5930366" cy="5166360"/>
          </a:xfrm>
          <a:prstGeom prst="rect">
            <a:avLst/>
          </a:prstGeom>
        </p:spPr>
      </p:pic>
      <p:sp>
        <p:nvSpPr>
          <p:cNvPr id="7" name="Rounded Rectangle 6"/>
          <p:cNvSpPr/>
          <p:nvPr/>
        </p:nvSpPr>
        <p:spPr>
          <a:xfrm>
            <a:off x="7406640" y="1325880"/>
            <a:ext cx="4251960" cy="1280160"/>
          </a:xfrm>
          <a:prstGeom prst="roundRect">
            <a:avLst>
              <a:gd name="adj" fmla="val 4000"/>
            </a:avLst>
          </a:prstGeom>
          <a:solidFill>
            <a:srgbClr val="F6F8FB"/>
          </a:solidFill>
          <a:ln w="9525">
            <a:solidFill>
              <a:srgbClr val="2F67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06640" y="1325880"/>
            <a:ext cx="4251960" cy="73152"/>
          </a:xfrm>
          <a:prstGeom prst="roundRect">
            <a:avLst>
              <a:gd name="adj" fmla="val 50000"/>
            </a:avLst>
          </a:prstGeom>
          <a:solidFill>
            <a:srgbClr val="2F6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19" y="1508760"/>
            <a:ext cx="3886200" cy="274320"/>
          </a:xfrm>
          <a:prstGeom prst="rect">
            <a:avLst/>
          </a:prstGeom>
          <a:noFill/>
        </p:spPr>
        <p:txBody>
          <a:bodyPr wrap="square" lIns="0" rIns="0" tIns="0" bIns="0" anchor="t">
            <a:spAutoFit/>
          </a:bodyPr>
          <a:lstStyle/>
          <a:p>
            <a:pPr algn="l">
              <a:lnSpc>
                <a:spcPct val="110000"/>
              </a:lnSpc>
              <a:spcAft>
                <a:spcPts val="0"/>
              </a:spcAft>
            </a:pPr>
            <a:r>
              <a:rPr sz="975" b="1">
                <a:solidFill>
                  <a:srgbClr val="2F67C7"/>
                </a:solidFill>
                <a:latin typeface="Arial"/>
              </a:rPr>
              <a:t>STYLE GOES, MEANING STAYS</a:t>
            </a:r>
          </a:p>
        </p:txBody>
      </p:sp>
      <p:sp>
        <p:nvSpPr>
          <p:cNvPr id="10" name="TextBox 9"/>
          <p:cNvSpPr txBox="1"/>
          <p:nvPr/>
        </p:nvSpPr>
        <p:spPr>
          <a:xfrm>
            <a:off x="7589519" y="1764792"/>
            <a:ext cx="3886200" cy="777239"/>
          </a:xfrm>
          <a:prstGeom prst="rect">
            <a:avLst/>
          </a:prstGeom>
          <a:noFill/>
        </p:spPr>
        <p:txBody>
          <a:bodyPr wrap="square" lIns="0" rIns="0" tIns="0" bIns="0" anchor="t">
            <a:spAutoFit/>
          </a:bodyPr>
          <a:lstStyle/>
          <a:p>
            <a:pPr algn="l">
              <a:lnSpc>
                <a:spcPct val="110000"/>
              </a:lnSpc>
              <a:spcAft>
                <a:spcPts val="0"/>
              </a:spcAft>
            </a:pPr>
            <a:r>
              <a:rPr sz="1200" b="0">
                <a:solidFill>
                  <a:srgbClr val="172033"/>
                </a:solidFill>
                <a:latin typeface="Arial"/>
              </a:rPr>
              <a:t>Every style family keeps ≤ 0.34 at T3; meaning keeps 0.85 (95% CI 0.85–0.86).</a:t>
            </a:r>
          </a:p>
        </p:txBody>
      </p:sp>
      <p:sp>
        <p:nvSpPr>
          <p:cNvPr id="11" name="Rounded Rectangle 10"/>
          <p:cNvSpPr/>
          <p:nvPr/>
        </p:nvSpPr>
        <p:spPr>
          <a:xfrm>
            <a:off x="7406640" y="2743200"/>
            <a:ext cx="4251960" cy="1280160"/>
          </a:xfrm>
          <a:prstGeom prst="roundRect">
            <a:avLst>
              <a:gd name="adj" fmla="val 4000"/>
            </a:avLst>
          </a:prstGeom>
          <a:solidFill>
            <a:srgbClr val="F6F8FB"/>
          </a:solidFill>
          <a:ln w="9525">
            <a:solidFill>
              <a:srgbClr val="587F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406640" y="2743200"/>
            <a:ext cx="4251960" cy="73152"/>
          </a:xfrm>
          <a:prstGeom prst="roundRect">
            <a:avLst>
              <a:gd name="adj" fmla="val 50000"/>
            </a:avLst>
          </a:prstGeom>
          <a:solidFill>
            <a:srgbClr val="587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19" y="2926080"/>
            <a:ext cx="3886200" cy="274320"/>
          </a:xfrm>
          <a:prstGeom prst="rect">
            <a:avLst/>
          </a:prstGeom>
          <a:noFill/>
        </p:spPr>
        <p:txBody>
          <a:bodyPr wrap="square" lIns="0" rIns="0" tIns="0" bIns="0" anchor="t">
            <a:spAutoFit/>
          </a:bodyPr>
          <a:lstStyle/>
          <a:p>
            <a:pPr algn="l">
              <a:lnSpc>
                <a:spcPct val="110000"/>
              </a:lnSpc>
              <a:spcAft>
                <a:spcPts val="0"/>
              </a:spcAft>
            </a:pPr>
            <a:r>
              <a:rPr sz="975" b="1">
                <a:solidFill>
                  <a:srgbClr val="587FB8"/>
                </a:solidFill>
                <a:latin typeface="Arial"/>
              </a:rPr>
              <a:t>GONE IN THE FIRST PASS</a:t>
            </a:r>
          </a:p>
        </p:txBody>
      </p:sp>
      <p:sp>
        <p:nvSpPr>
          <p:cNvPr id="14" name="TextBox 13"/>
          <p:cNvSpPr txBox="1"/>
          <p:nvPr/>
        </p:nvSpPr>
        <p:spPr>
          <a:xfrm>
            <a:off x="7589519" y="3182112"/>
            <a:ext cx="3886200" cy="777239"/>
          </a:xfrm>
          <a:prstGeom prst="rect">
            <a:avLst/>
          </a:prstGeom>
          <a:noFill/>
        </p:spPr>
        <p:txBody>
          <a:bodyPr wrap="square" lIns="0" rIns="0" tIns="0" bIns="0" anchor="t">
            <a:spAutoFit/>
          </a:bodyPr>
          <a:lstStyle/>
          <a:p>
            <a:pPr algn="l">
              <a:lnSpc>
                <a:spcPct val="110000"/>
              </a:lnSpc>
              <a:spcAft>
                <a:spcPts val="0"/>
              </a:spcAft>
            </a:pPr>
            <a:r>
              <a:rPr sz="1200" b="0">
                <a:solidFill>
                  <a:srgbClr val="172033"/>
                </a:solidFill>
                <a:latin typeface="Arial"/>
              </a:rPr>
              <a:t>82–92% of each style family's three-round loss happens at T1 (ChatGPT, PaLM2).</a:t>
            </a:r>
          </a:p>
        </p:txBody>
      </p:sp>
      <p:sp>
        <p:nvSpPr>
          <p:cNvPr id="15" name="Rounded Rectangle 14"/>
          <p:cNvSpPr/>
          <p:nvPr/>
        </p:nvSpPr>
        <p:spPr>
          <a:xfrm>
            <a:off x="7406640" y="4160520"/>
            <a:ext cx="4251960" cy="1280160"/>
          </a:xfrm>
          <a:prstGeom prst="roundRect">
            <a:avLst>
              <a:gd name="adj" fmla="val 4000"/>
            </a:avLst>
          </a:prstGeom>
          <a:solidFill>
            <a:srgbClr val="F6F8FB"/>
          </a:solidFill>
          <a:ln w="9525">
            <a:solidFill>
              <a:srgbClr val="C856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406640" y="4160520"/>
            <a:ext cx="4251960" cy="73152"/>
          </a:xfrm>
          <a:prstGeom prst="roundRect">
            <a:avLst>
              <a:gd name="adj" fmla="val 50000"/>
            </a:avLst>
          </a:prstGeom>
          <a:solidFill>
            <a:srgbClr val="C856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19" y="4343400"/>
            <a:ext cx="3886200" cy="274320"/>
          </a:xfrm>
          <a:prstGeom prst="rect">
            <a:avLst/>
          </a:prstGeom>
          <a:noFill/>
        </p:spPr>
        <p:txBody>
          <a:bodyPr wrap="square" lIns="0" rIns="0" tIns="0" bIns="0" anchor="t">
            <a:spAutoFit/>
          </a:bodyPr>
          <a:lstStyle/>
          <a:p>
            <a:pPr algn="l">
              <a:lnSpc>
                <a:spcPct val="110000"/>
              </a:lnSpc>
              <a:spcAft>
                <a:spcPts val="0"/>
              </a:spcAft>
            </a:pPr>
            <a:r>
              <a:rPr sz="975" b="1">
                <a:solidFill>
                  <a:srgbClr val="C85656"/>
                </a:solidFill>
                <a:latin typeface="Arial"/>
              </a:rPr>
              <a:t>OVERWRITTEN, NOT JUST ERASED</a:t>
            </a:r>
          </a:p>
        </p:txBody>
      </p:sp>
      <p:sp>
        <p:nvSpPr>
          <p:cNvPr id="18" name="TextBox 17"/>
          <p:cNvSpPr txBox="1"/>
          <p:nvPr/>
        </p:nvSpPr>
        <p:spPr>
          <a:xfrm>
            <a:off x="7589519" y="4599431"/>
            <a:ext cx="3886200" cy="777239"/>
          </a:xfrm>
          <a:prstGeom prst="rect">
            <a:avLst/>
          </a:prstGeom>
          <a:noFill/>
        </p:spPr>
        <p:txBody>
          <a:bodyPr wrap="square" lIns="0" rIns="0" tIns="0" bIns="0" anchor="t">
            <a:spAutoFit/>
          </a:bodyPr>
          <a:lstStyle/>
          <a:p>
            <a:pPr algn="l">
              <a:lnSpc>
                <a:spcPct val="110000"/>
              </a:lnSpc>
              <a:spcAft>
                <a:spcPts val="0"/>
              </a:spcAft>
            </a:pPr>
            <a:r>
              <a:rPr sz="1200" b="0">
                <a:solidFill>
                  <a:srgbClr val="172033"/>
                </a:solidFill>
                <a:latin typeface="Arial"/>
              </a:rPr>
              <a:t>Readability (−0.31) and lexical richness (−0.06) move beyond another author's level.</a:t>
            </a:r>
          </a:p>
        </p:txBody>
      </p:sp>
      <p:sp>
        <p:nvSpPr>
          <p:cNvPr id="19" name="TextBox 18"/>
          <p:cNvSpPr txBox="1"/>
          <p:nvPr/>
        </p:nvSpPr>
        <p:spPr>
          <a:xfrm>
            <a:off x="512064" y="6446520"/>
            <a:ext cx="11155680" cy="274320"/>
          </a:xfrm>
          <a:prstGeom prst="rect">
            <a:avLst/>
          </a:prstGeom>
          <a:noFill/>
        </p:spPr>
        <p:txBody>
          <a:bodyPr wrap="square" lIns="0" rIns="0" tIns="0" bIns="0" anchor="t">
            <a:spAutoFit/>
          </a:bodyPr>
          <a:lstStyle/>
          <a:p>
            <a:pPr algn="l">
              <a:lnSpc>
                <a:spcPct val="110000"/>
              </a:lnSpc>
              <a:spcAft>
                <a:spcPts val="0"/>
              </a:spcAft>
            </a:pPr>
            <a:r>
              <a:rPr sz="825" b="0">
                <a:solidFill>
                  <a:srgbClr val="5C6678"/>
                </a:solidFill>
                <a:latin typeface="Arial"/>
              </a:rPr>
              <a:t>1 = unchanged · 0 = as different as an unrelated document · experiments/stylometry_results/rq1/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12064" y="320040"/>
            <a:ext cx="548640" cy="320040"/>
          </a:xfrm>
          <a:prstGeom prst="rect">
            <a:avLst/>
          </a:prstGeom>
          <a:noFill/>
        </p:spPr>
        <p:txBody>
          <a:bodyPr wrap="square" lIns="0" rIns="0" tIns="0" bIns="0" anchor="t">
            <a:spAutoFit/>
          </a:bodyPr>
          <a:lstStyle/>
          <a:p>
            <a:pPr algn="l">
              <a:lnSpc>
                <a:spcPct val="110000"/>
              </a:lnSpc>
              <a:spcAft>
                <a:spcPts val="0"/>
              </a:spcAft>
            </a:pPr>
            <a:r>
              <a:rPr sz="1125" b="1">
                <a:solidFill>
                  <a:srgbClr val="2F67C7"/>
                </a:solidFill>
                <a:latin typeface="Arial"/>
              </a:rPr>
              <a:t>12</a:t>
            </a:r>
          </a:p>
        </p:txBody>
      </p:sp>
      <p:sp>
        <p:nvSpPr>
          <p:cNvPr id="3" name="TextBox 2"/>
          <p:cNvSpPr txBox="1"/>
          <p:nvPr/>
        </p:nvSpPr>
        <p:spPr>
          <a:xfrm>
            <a:off x="1069848" y="246888"/>
            <a:ext cx="10424160" cy="548640"/>
          </a:xfrm>
          <a:prstGeom prst="rect">
            <a:avLst/>
          </a:prstGeom>
          <a:noFill/>
        </p:spPr>
        <p:txBody>
          <a:bodyPr wrap="square" lIns="0" rIns="0" tIns="0" bIns="0" anchor="t">
            <a:spAutoFit/>
          </a:bodyPr>
          <a:lstStyle/>
          <a:p>
            <a:pPr algn="l">
              <a:lnSpc>
                <a:spcPct val="110000"/>
              </a:lnSpc>
              <a:spcAft>
                <a:spcPts val="0"/>
              </a:spcAft>
            </a:pPr>
            <a:r>
              <a:rPr sz="2325" b="1">
                <a:solidFill>
                  <a:srgbClr val="10243E"/>
                </a:solidFill>
                <a:latin typeface="Arial"/>
              </a:rPr>
              <a:t>The pattern holds for every LLM paraphraser</a:t>
            </a:r>
          </a:p>
        </p:txBody>
      </p:sp>
      <p:sp>
        <p:nvSpPr>
          <p:cNvPr id="4" name="TextBox 3"/>
          <p:cNvSpPr txBox="1"/>
          <p:nvPr/>
        </p:nvSpPr>
        <p:spPr>
          <a:xfrm>
            <a:off x="1069848" y="758952"/>
            <a:ext cx="10424160" cy="274320"/>
          </a:xfrm>
          <a:prstGeom prst="rect">
            <a:avLst/>
          </a:prstGeom>
          <a:noFill/>
        </p:spPr>
        <p:txBody>
          <a:bodyPr wrap="square" lIns="0" rIns="0" tIns="0" bIns="0" anchor="t">
            <a:spAutoFit/>
          </a:bodyPr>
          <a:lstStyle/>
          <a:p>
            <a:pPr algn="l">
              <a:lnSpc>
                <a:spcPct val="110000"/>
              </a:lnSpc>
              <a:spcAft>
                <a:spcPts val="0"/>
              </a:spcAft>
            </a:pPr>
            <a:r>
              <a:rPr sz="1050" b="0">
                <a:solidFill>
                  <a:srgbClr val="5C6678"/>
                </a:solidFill>
                <a:latin typeface="Arial"/>
              </a:rPr>
              <a:t>Retention at T3, feature family × paraphraser (blue = kept, red = pushed beyond)</a:t>
            </a:r>
          </a:p>
        </p:txBody>
      </p:sp>
      <p:sp>
        <p:nvSpPr>
          <p:cNvPr id="5" name="Rectangle 4"/>
          <p:cNvSpPr/>
          <p:nvPr/>
        </p:nvSpPr>
        <p:spPr>
          <a:xfrm>
            <a:off x="512064" y="1069848"/>
            <a:ext cx="11164824" cy="18288"/>
          </a:xfrm>
          <a:prstGeom prst="rect">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etention_heatmap.png"/>
          <p:cNvPicPr>
            <a:picLocks noChangeAspect="1"/>
          </p:cNvPicPr>
          <p:nvPr/>
        </p:nvPicPr>
        <p:blipFill>
          <a:blip r:embed="rId2"/>
          <a:stretch>
            <a:fillRect/>
          </a:stretch>
        </p:blipFill>
        <p:spPr>
          <a:xfrm>
            <a:off x="411480" y="1356835"/>
            <a:ext cx="7498079" cy="4830129"/>
          </a:xfrm>
          <a:prstGeom prst="rect">
            <a:avLst/>
          </a:prstGeom>
        </p:spPr>
      </p:pic>
      <p:sp>
        <p:nvSpPr>
          <p:cNvPr id="7" name="Rounded Rectangle 6"/>
          <p:cNvSpPr/>
          <p:nvPr/>
        </p:nvSpPr>
        <p:spPr>
          <a:xfrm>
            <a:off x="8138160" y="1325880"/>
            <a:ext cx="3520440" cy="1600200"/>
          </a:xfrm>
          <a:prstGeom prst="roundRect">
            <a:avLst>
              <a:gd name="adj" fmla="val 4000"/>
            </a:avLst>
          </a:prstGeom>
          <a:solidFill>
            <a:srgbClr val="F6F8FB"/>
          </a:solidFill>
          <a:ln w="9525">
            <a:solidFill>
              <a:srgbClr val="2E7D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138160" y="1325880"/>
            <a:ext cx="3520440" cy="73152"/>
          </a:xfrm>
          <a:prstGeom prst="roundRect">
            <a:avLst>
              <a:gd name="adj" fmla="val 50000"/>
            </a:avLst>
          </a:prstGeom>
          <a:solidFill>
            <a:srgbClr val="2E7D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508760"/>
            <a:ext cx="3154680" cy="274320"/>
          </a:xfrm>
          <a:prstGeom prst="rect">
            <a:avLst/>
          </a:prstGeom>
          <a:noFill/>
        </p:spPr>
        <p:txBody>
          <a:bodyPr wrap="square" lIns="0" rIns="0" tIns="0" bIns="0" anchor="t">
            <a:spAutoFit/>
          </a:bodyPr>
          <a:lstStyle/>
          <a:p>
            <a:pPr algn="l">
              <a:lnSpc>
                <a:spcPct val="110000"/>
              </a:lnSpc>
              <a:spcAft>
                <a:spcPts val="0"/>
              </a:spcAft>
            </a:pPr>
            <a:r>
              <a:rPr sz="975" b="1">
                <a:solidFill>
                  <a:srgbClr val="2E7D6A"/>
                </a:solidFill>
                <a:latin typeface="Arial"/>
              </a:rPr>
              <a:t>MEANING ALWAYS ON TOP</a:t>
            </a:r>
          </a:p>
        </p:txBody>
      </p:sp>
      <p:sp>
        <p:nvSpPr>
          <p:cNvPr id="10" name="TextBox 9"/>
          <p:cNvSpPr txBox="1"/>
          <p:nvPr/>
        </p:nvSpPr>
        <p:spPr>
          <a:xfrm>
            <a:off x="8321040" y="1764792"/>
            <a:ext cx="3154680" cy="1097280"/>
          </a:xfrm>
          <a:prstGeom prst="rect">
            <a:avLst/>
          </a:prstGeom>
          <a:noFill/>
        </p:spPr>
        <p:txBody>
          <a:bodyPr wrap="square" lIns="0" rIns="0" tIns="0" bIns="0" anchor="t">
            <a:spAutoFit/>
          </a:bodyPr>
          <a:lstStyle/>
          <a:p>
            <a:pPr algn="l">
              <a:lnSpc>
                <a:spcPct val="110000"/>
              </a:lnSpc>
              <a:spcAft>
                <a:spcPts val="0"/>
              </a:spcAft>
            </a:pPr>
            <a:r>
              <a:rPr sz="1200" b="0">
                <a:solidFill>
                  <a:srgbClr val="172033"/>
                </a:solidFill>
                <a:latin typeface="Arial"/>
              </a:rPr>
              <a:t>Most retained family for every LLM paraphraser; 61/63 tests: style changes significantly more (Holm p &lt; 0.05).</a:t>
            </a:r>
          </a:p>
        </p:txBody>
      </p:sp>
      <p:sp>
        <p:nvSpPr>
          <p:cNvPr id="11" name="Rounded Rectangle 10"/>
          <p:cNvSpPr/>
          <p:nvPr/>
        </p:nvSpPr>
        <p:spPr>
          <a:xfrm>
            <a:off x="8138160" y="3063240"/>
            <a:ext cx="3520440" cy="1325880"/>
          </a:xfrm>
          <a:prstGeom prst="roundRect">
            <a:avLst>
              <a:gd name="adj" fmla="val 4000"/>
            </a:avLst>
          </a:prstGeom>
          <a:solidFill>
            <a:srgbClr val="F6F8FB"/>
          </a:solidFill>
          <a:ln w="9525">
            <a:solidFill>
              <a:srgbClr val="2F67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38160" y="3063240"/>
            <a:ext cx="3520440" cy="73152"/>
          </a:xfrm>
          <a:prstGeom prst="roundRect">
            <a:avLst>
              <a:gd name="adj" fmla="val 50000"/>
            </a:avLst>
          </a:prstGeom>
          <a:solidFill>
            <a:srgbClr val="2F6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3246120"/>
            <a:ext cx="3154680" cy="274320"/>
          </a:xfrm>
          <a:prstGeom prst="rect">
            <a:avLst/>
          </a:prstGeom>
          <a:noFill/>
        </p:spPr>
        <p:txBody>
          <a:bodyPr wrap="square" lIns="0" rIns="0" tIns="0" bIns="0" anchor="t">
            <a:spAutoFit/>
          </a:bodyPr>
          <a:lstStyle/>
          <a:p>
            <a:pPr algn="l">
              <a:lnSpc>
                <a:spcPct val="110000"/>
              </a:lnSpc>
              <a:spcAft>
                <a:spcPts val="0"/>
              </a:spcAft>
            </a:pPr>
            <a:r>
              <a:rPr sz="975" b="1">
                <a:solidFill>
                  <a:srgbClr val="2F67C7"/>
                </a:solidFill>
                <a:latin typeface="Arial"/>
              </a:rPr>
              <a:t>SKELETON = SKIN</a:t>
            </a:r>
          </a:p>
        </p:txBody>
      </p:sp>
      <p:sp>
        <p:nvSpPr>
          <p:cNvPr id="14" name="TextBox 13"/>
          <p:cNvSpPr txBox="1"/>
          <p:nvPr/>
        </p:nvSpPr>
        <p:spPr>
          <a:xfrm>
            <a:off x="8321040" y="3502152"/>
            <a:ext cx="3154680" cy="822959"/>
          </a:xfrm>
          <a:prstGeom prst="rect">
            <a:avLst/>
          </a:prstGeom>
          <a:noFill/>
        </p:spPr>
        <p:txBody>
          <a:bodyPr wrap="square" lIns="0" rIns="0" tIns="0" bIns="0" anchor="t">
            <a:spAutoFit/>
          </a:bodyPr>
          <a:lstStyle/>
          <a:p>
            <a:pPr algn="l">
              <a:lnSpc>
                <a:spcPct val="110000"/>
              </a:lnSpc>
              <a:spcAft>
                <a:spcPts val="0"/>
              </a:spcAft>
            </a:pPr>
            <a:r>
              <a:rPr sz="1200" b="0">
                <a:solidFill>
                  <a:srgbClr val="172033"/>
                </a:solidFill>
                <a:latin typeface="Arial"/>
              </a:rPr>
              <a:t>Syntax goes as fast as vocabulary — ChatGPT 0.14 vs 0.15, PaLM2 0.30 vs 0.33.</a:t>
            </a:r>
          </a:p>
        </p:txBody>
      </p:sp>
      <p:sp>
        <p:nvSpPr>
          <p:cNvPr id="15" name="Rounded Rectangle 14"/>
          <p:cNvSpPr/>
          <p:nvPr/>
        </p:nvSpPr>
        <p:spPr>
          <a:xfrm>
            <a:off x="8138160" y="4526280"/>
            <a:ext cx="3520440" cy="1325880"/>
          </a:xfrm>
          <a:prstGeom prst="roundRect">
            <a:avLst>
              <a:gd name="adj" fmla="val 4000"/>
            </a:avLst>
          </a:prstGeom>
          <a:solidFill>
            <a:srgbClr val="F6F8FB"/>
          </a:solidFill>
          <a:ln w="9525">
            <a:solidFill>
              <a:srgbClr val="C856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38160" y="4526280"/>
            <a:ext cx="3520440" cy="73152"/>
          </a:xfrm>
          <a:prstGeom prst="roundRect">
            <a:avLst>
              <a:gd name="adj" fmla="val 50000"/>
            </a:avLst>
          </a:prstGeom>
          <a:solidFill>
            <a:srgbClr val="C856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4709160"/>
            <a:ext cx="3154680" cy="274320"/>
          </a:xfrm>
          <a:prstGeom prst="rect">
            <a:avLst/>
          </a:prstGeom>
          <a:noFill/>
        </p:spPr>
        <p:txBody>
          <a:bodyPr wrap="square" lIns="0" rIns="0" tIns="0" bIns="0" anchor="t">
            <a:spAutoFit/>
          </a:bodyPr>
          <a:lstStyle/>
          <a:p>
            <a:pPr algn="l">
              <a:lnSpc>
                <a:spcPct val="110000"/>
              </a:lnSpc>
              <a:spcAft>
                <a:spcPts val="0"/>
              </a:spcAft>
            </a:pPr>
            <a:r>
              <a:rPr sz="975" b="1">
                <a:solidFill>
                  <a:srgbClr val="C85656"/>
                </a:solidFill>
                <a:latin typeface="Arial"/>
              </a:rPr>
              <a:t>PEGASUS RESTRUCTURES</a:t>
            </a:r>
          </a:p>
        </p:txBody>
      </p:sp>
      <p:sp>
        <p:nvSpPr>
          <p:cNvPr id="18" name="TextBox 17"/>
          <p:cNvSpPr txBox="1"/>
          <p:nvPr/>
        </p:nvSpPr>
        <p:spPr>
          <a:xfrm>
            <a:off x="8321040" y="4965192"/>
            <a:ext cx="3154680" cy="822959"/>
          </a:xfrm>
          <a:prstGeom prst="rect">
            <a:avLst/>
          </a:prstGeom>
          <a:noFill/>
        </p:spPr>
        <p:txBody>
          <a:bodyPr wrap="square" lIns="0" rIns="0" tIns="0" bIns="0" anchor="t">
            <a:spAutoFit/>
          </a:bodyPr>
          <a:lstStyle/>
          <a:p>
            <a:pPr algn="l">
              <a:lnSpc>
                <a:spcPct val="110000"/>
              </a:lnSpc>
              <a:spcAft>
                <a:spcPts val="0"/>
              </a:spcAft>
            </a:pPr>
            <a:r>
              <a:rPr sz="1200" b="0">
                <a:solidFill>
                  <a:srgbClr val="172033"/>
                </a:solidFill>
                <a:latin typeface="Arial"/>
              </a:rPr>
              <a:t>Syntactic retention −0.53: splits sentences, flattens parse trees.</a:t>
            </a:r>
          </a:p>
        </p:txBody>
      </p:sp>
      <p:sp>
        <p:nvSpPr>
          <p:cNvPr id="19" name="TextBox 18"/>
          <p:cNvSpPr txBox="1"/>
          <p:nvPr/>
        </p:nvSpPr>
        <p:spPr>
          <a:xfrm>
            <a:off x="512064" y="6446520"/>
            <a:ext cx="11155680" cy="274320"/>
          </a:xfrm>
          <a:prstGeom prst="rect">
            <a:avLst/>
          </a:prstGeom>
          <a:noFill/>
        </p:spPr>
        <p:txBody>
          <a:bodyPr wrap="square" lIns="0" rIns="0" tIns="0" bIns="0" anchor="t">
            <a:spAutoFit/>
          </a:bodyPr>
          <a:lstStyle/>
          <a:p>
            <a:pPr algn="l">
              <a:lnSpc>
                <a:spcPct val="110000"/>
              </a:lnSpc>
              <a:spcAft>
                <a:spcPts val="0"/>
              </a:spcAft>
            </a:pPr>
            <a:r>
              <a:rPr sz="825" b="0">
                <a:solidFill>
                  <a:srgbClr val="5C6678"/>
                </a:solidFill>
                <a:latin typeface="Arial"/>
              </a:rPr>
              <a:t>Exceptions to style &gt; meaning: two WordNet families (function words, sentence shape) — word swaps leave them in place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12064" y="320040"/>
            <a:ext cx="548640" cy="320040"/>
          </a:xfrm>
          <a:prstGeom prst="rect">
            <a:avLst/>
          </a:prstGeom>
          <a:noFill/>
        </p:spPr>
        <p:txBody>
          <a:bodyPr wrap="square" lIns="0" rIns="0" tIns="0" bIns="0" anchor="t">
            <a:spAutoFit/>
          </a:bodyPr>
          <a:lstStyle/>
          <a:p>
            <a:pPr algn="l">
              <a:lnSpc>
                <a:spcPct val="110000"/>
              </a:lnSpc>
              <a:spcAft>
                <a:spcPts val="0"/>
              </a:spcAft>
            </a:pPr>
            <a:r>
              <a:rPr sz="1125" b="1">
                <a:solidFill>
                  <a:srgbClr val="2F67C7"/>
                </a:solidFill>
                <a:latin typeface="Arial"/>
              </a:rPr>
              <a:t>13</a:t>
            </a:r>
          </a:p>
        </p:txBody>
      </p:sp>
      <p:sp>
        <p:nvSpPr>
          <p:cNvPr id="3" name="TextBox 2"/>
          <p:cNvSpPr txBox="1"/>
          <p:nvPr/>
        </p:nvSpPr>
        <p:spPr>
          <a:xfrm>
            <a:off x="1069848" y="246888"/>
            <a:ext cx="10424160" cy="548640"/>
          </a:xfrm>
          <a:prstGeom prst="rect">
            <a:avLst/>
          </a:prstGeom>
          <a:noFill/>
        </p:spPr>
        <p:txBody>
          <a:bodyPr wrap="square" lIns="0" rIns="0" tIns="0" bIns="0" anchor="t">
            <a:spAutoFit/>
          </a:bodyPr>
          <a:lstStyle/>
          <a:p>
            <a:pPr algn="l">
              <a:lnSpc>
                <a:spcPct val="110000"/>
              </a:lnSpc>
              <a:spcAft>
                <a:spcPts val="0"/>
              </a:spcAft>
            </a:pPr>
            <a:r>
              <a:rPr sz="2325" b="1">
                <a:solidFill>
                  <a:srgbClr val="10243E"/>
                </a:solidFill>
                <a:latin typeface="Arial"/>
              </a:rPr>
              <a:t>Paraphrasers write in their own style</a:t>
            </a:r>
          </a:p>
        </p:txBody>
      </p:sp>
      <p:sp>
        <p:nvSpPr>
          <p:cNvPr id="4" name="TextBox 3"/>
          <p:cNvSpPr txBox="1"/>
          <p:nvPr/>
        </p:nvSpPr>
        <p:spPr>
          <a:xfrm>
            <a:off x="1069848" y="758952"/>
            <a:ext cx="10424160" cy="274320"/>
          </a:xfrm>
          <a:prstGeom prst="rect">
            <a:avLst/>
          </a:prstGeom>
          <a:noFill/>
        </p:spPr>
        <p:txBody>
          <a:bodyPr wrap="square" lIns="0" rIns="0" tIns="0" bIns="0" anchor="t">
            <a:spAutoFit/>
          </a:bodyPr>
          <a:lstStyle/>
          <a:p>
            <a:pPr algn="l">
              <a:lnSpc>
                <a:spcPct val="110000"/>
              </a:lnSpc>
              <a:spcAft>
                <a:spcPts val="0"/>
              </a:spcAft>
            </a:pPr>
            <a:r>
              <a:rPr sz="1050" b="0">
                <a:solidFill>
                  <a:srgbClr val="5C6678"/>
                </a:solidFill>
                <a:latin typeface="Arial"/>
              </a:rPr>
              <a:t>Mean change T0 → T3, paired over documents (effect size d)</a:t>
            </a:r>
          </a:p>
        </p:txBody>
      </p:sp>
      <p:sp>
        <p:nvSpPr>
          <p:cNvPr id="5" name="Rectangle 4"/>
          <p:cNvSpPr/>
          <p:nvPr/>
        </p:nvSpPr>
        <p:spPr>
          <a:xfrm>
            <a:off x="512064" y="1069848"/>
            <a:ext cx="11164824" cy="18288"/>
          </a:xfrm>
          <a:prstGeom prst="rect">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417320"/>
          <a:ext cx="8686800" cy="3657600"/>
        </p:xfrm>
        <a:graphic>
          <a:graphicData uri="http://schemas.openxmlformats.org/drawingml/2006/table">
            <a:tbl>
              <a:tblPr firstRow="1" bandRow="1">
                <a:tableStyleId>{5C22544A-7EE6-4342-B048-85BDC9FD1C3A}</a:tableStyleId>
              </a:tblPr>
              <a:tblGrid>
                <a:gridCol w="3017520"/>
                <a:gridCol w="1234440"/>
                <a:gridCol w="1371600"/>
                <a:gridCol w="1280160"/>
                <a:gridCol w="1783080"/>
              </a:tblGrid>
              <a:tr h="457200">
                <a:tc>
                  <a:txBody>
                    <a:bodyPr/>
                    <a:lstStyle/>
                    <a:p>
                      <a:pPr algn="l"/>
                      <a:r>
                        <a:rPr sz="1200" b="1">
                          <a:solidFill>
                            <a:srgbClr val="FFFFFF"/>
                          </a:solidFill>
                          <a:latin typeface="Arial"/>
                        </a:rPr>
                        <a:t>Feature</a:t>
                      </a:r>
                    </a:p>
                  </a:txBody>
                  <a:tcPr marL="73152" marR="73152" marT="18288" marB="18288" anchor="ctr">
                    <a:solidFill>
                      <a:srgbClr val="10243E"/>
                    </a:solidFill>
                  </a:tcPr>
                </a:tc>
                <a:tc>
                  <a:txBody>
                    <a:bodyPr/>
                    <a:lstStyle/>
                    <a:p>
                      <a:pPr algn="ctr"/>
                      <a:r>
                        <a:rPr sz="1200" b="1">
                          <a:solidFill>
                            <a:srgbClr val="FFFFFF"/>
                          </a:solidFill>
                          <a:latin typeface="Arial"/>
                        </a:rPr>
                        <a:t>Human T0</a:t>
                      </a:r>
                    </a:p>
                  </a:txBody>
                  <a:tcPr marL="73152" marR="73152" marT="18288" marB="18288" anchor="ctr">
                    <a:solidFill>
                      <a:srgbClr val="10243E"/>
                    </a:solidFill>
                  </a:tcPr>
                </a:tc>
                <a:tc>
                  <a:txBody>
                    <a:bodyPr/>
                    <a:lstStyle/>
                    <a:p>
                      <a:pPr algn="ctr"/>
                      <a:r>
                        <a:rPr sz="1200" b="1">
                          <a:solidFill>
                            <a:srgbClr val="FFFFFF"/>
                          </a:solidFill>
                          <a:latin typeface="Arial"/>
                        </a:rPr>
                        <a:t>ChatGPT T3</a:t>
                      </a:r>
                    </a:p>
                  </a:txBody>
                  <a:tcPr marL="73152" marR="73152" marT="18288" marB="18288" anchor="ctr">
                    <a:solidFill>
                      <a:srgbClr val="10243E"/>
                    </a:solidFill>
                  </a:tcPr>
                </a:tc>
                <a:tc>
                  <a:txBody>
                    <a:bodyPr/>
                    <a:lstStyle/>
                    <a:p>
                      <a:pPr algn="ctr"/>
                      <a:r>
                        <a:rPr sz="1200" b="1">
                          <a:solidFill>
                            <a:srgbClr val="FFFFFF"/>
                          </a:solidFill>
                          <a:latin typeface="Arial"/>
                        </a:rPr>
                        <a:t>DIPPER T3</a:t>
                      </a:r>
                    </a:p>
                  </a:txBody>
                  <a:tcPr marL="73152" marR="73152" marT="18288" marB="18288" anchor="ctr">
                    <a:solidFill>
                      <a:srgbClr val="10243E"/>
                    </a:solidFill>
                  </a:tcPr>
                </a:tc>
                <a:tc>
                  <a:txBody>
                    <a:bodyPr/>
                    <a:lstStyle/>
                    <a:p>
                      <a:pPr algn="ctr"/>
                      <a:r>
                        <a:rPr sz="1200" b="1">
                          <a:solidFill>
                            <a:srgbClr val="FFFFFF"/>
                          </a:solidFill>
                          <a:latin typeface="Arial"/>
                        </a:rPr>
                        <a:t>Pegasus (full) T3</a:t>
                      </a:r>
                    </a:p>
                  </a:txBody>
                  <a:tcPr marL="73152" marR="73152" marT="18288" marB="18288" anchor="ctr">
                    <a:solidFill>
                      <a:srgbClr val="10243E"/>
                    </a:solidFill>
                  </a:tcPr>
                </a:tc>
              </a:tr>
              <a:tr h="457200">
                <a:tc>
                  <a:txBody>
                    <a:bodyPr/>
                    <a:lstStyle/>
                    <a:p>
                      <a:pPr algn="l"/>
                      <a:r>
                        <a:rPr sz="1200" b="0">
                          <a:solidFill>
                            <a:srgbClr val="172033"/>
                          </a:solidFill>
                          <a:latin typeface="Arial"/>
                        </a:rPr>
                        <a:t>Reading grade (Flesch–Kincaid)</a:t>
                      </a:r>
                    </a:p>
                  </a:txBody>
                  <a:tcPr marL="73152" marR="73152" marT="18288" marB="18288" anchor="ctr">
                    <a:solidFill>
                      <a:srgbClr val="FFFFFF"/>
                    </a:solidFill>
                  </a:tcPr>
                </a:tc>
                <a:tc>
                  <a:txBody>
                    <a:bodyPr/>
                    <a:lstStyle/>
                    <a:p>
                      <a:pPr algn="ctr"/>
                      <a:r>
                        <a:rPr sz="1200" b="0">
                          <a:solidFill>
                            <a:srgbClr val="172033"/>
                          </a:solidFill>
                          <a:latin typeface="Arial"/>
                        </a:rPr>
                        <a:t>9.8</a:t>
                      </a:r>
                    </a:p>
                  </a:txBody>
                  <a:tcPr marL="73152" marR="73152" marT="18288" marB="18288" anchor="ctr">
                    <a:solidFill>
                      <a:srgbClr val="FFFFFF"/>
                    </a:solidFill>
                  </a:tcPr>
                </a:tc>
                <a:tc>
                  <a:txBody>
                    <a:bodyPr/>
                    <a:lstStyle/>
                    <a:p>
                      <a:pPr algn="ctr"/>
                      <a:r>
                        <a:rPr sz="1200" b="0">
                          <a:solidFill>
                            <a:srgbClr val="172033"/>
                          </a:solidFill>
                          <a:latin typeface="Arial"/>
                        </a:rPr>
                        <a:t>12.4  ↑</a:t>
                      </a:r>
                    </a:p>
                  </a:txBody>
                  <a:tcPr marL="73152" marR="73152" marT="18288" marB="18288" anchor="ctr">
                    <a:solidFill>
                      <a:srgbClr val="FFFFFF"/>
                    </a:solidFill>
                  </a:tcPr>
                </a:tc>
                <a:tc>
                  <a:txBody>
                    <a:bodyPr/>
                    <a:lstStyle/>
                    <a:p>
                      <a:pPr algn="ctr"/>
                      <a:r>
                        <a:rPr sz="1200" b="0">
                          <a:solidFill>
                            <a:srgbClr val="172033"/>
                          </a:solidFill>
                          <a:latin typeface="Arial"/>
                        </a:rPr>
                        <a:t>9.2</a:t>
                      </a:r>
                    </a:p>
                  </a:txBody>
                  <a:tcPr marL="73152" marR="73152" marT="18288" marB="18288" anchor="ctr">
                    <a:solidFill>
                      <a:srgbClr val="FFFFFF"/>
                    </a:solidFill>
                  </a:tcPr>
                </a:tc>
                <a:tc>
                  <a:txBody>
                    <a:bodyPr/>
                    <a:lstStyle/>
                    <a:p>
                      <a:pPr algn="ctr"/>
                      <a:r>
                        <a:rPr sz="1200" b="0">
                          <a:solidFill>
                            <a:srgbClr val="172033"/>
                          </a:solidFill>
                          <a:latin typeface="Arial"/>
                        </a:rPr>
                        <a:t>6.6  ↓</a:t>
                      </a:r>
                    </a:p>
                  </a:txBody>
                  <a:tcPr marL="73152" marR="73152" marT="18288" marB="18288" anchor="ctr">
                    <a:solidFill>
                      <a:srgbClr val="FFFFFF"/>
                    </a:solidFill>
                  </a:tcPr>
                </a:tc>
              </a:tr>
              <a:tr h="457200">
                <a:tc>
                  <a:txBody>
                    <a:bodyPr/>
                    <a:lstStyle/>
                    <a:p>
                      <a:pPr algn="l"/>
                      <a:r>
                        <a:rPr sz="1200" b="0">
                          <a:solidFill>
                            <a:srgbClr val="172033"/>
                          </a:solidFill>
                          <a:latin typeface="Arial"/>
                        </a:rPr>
                        <a:t>Average word length</a:t>
                      </a:r>
                    </a:p>
                  </a:txBody>
                  <a:tcPr marL="73152" marR="73152" marT="18288" marB="18288" anchor="ctr">
                    <a:solidFill>
                      <a:srgbClr val="F6F8FB"/>
                    </a:solidFill>
                  </a:tcPr>
                </a:tc>
                <a:tc>
                  <a:txBody>
                    <a:bodyPr/>
                    <a:lstStyle/>
                    <a:p>
                      <a:pPr algn="ctr"/>
                      <a:r>
                        <a:rPr sz="1200" b="0">
                          <a:solidFill>
                            <a:srgbClr val="172033"/>
                          </a:solidFill>
                          <a:latin typeface="Arial"/>
                        </a:rPr>
                        <a:t>4.68</a:t>
                      </a:r>
                    </a:p>
                  </a:txBody>
                  <a:tcPr marL="73152" marR="73152" marT="18288" marB="18288" anchor="ctr">
                    <a:solidFill>
                      <a:srgbClr val="F6F8FB"/>
                    </a:solidFill>
                  </a:tcPr>
                </a:tc>
                <a:tc>
                  <a:txBody>
                    <a:bodyPr/>
                    <a:lstStyle/>
                    <a:p>
                      <a:pPr algn="ctr"/>
                      <a:r>
                        <a:rPr sz="1200" b="0">
                          <a:solidFill>
                            <a:srgbClr val="172033"/>
                          </a:solidFill>
                          <a:latin typeface="Arial"/>
                        </a:rPr>
                        <a:t>5.21  ↑</a:t>
                      </a:r>
                    </a:p>
                  </a:txBody>
                  <a:tcPr marL="73152" marR="73152" marT="18288" marB="18288" anchor="ctr">
                    <a:solidFill>
                      <a:srgbClr val="F6F8FB"/>
                    </a:solidFill>
                  </a:tcPr>
                </a:tc>
                <a:tc>
                  <a:txBody>
                    <a:bodyPr/>
                    <a:lstStyle/>
                    <a:p>
                      <a:pPr algn="ctr"/>
                      <a:r>
                        <a:rPr sz="1200" b="0">
                          <a:solidFill>
                            <a:srgbClr val="172033"/>
                          </a:solidFill>
                          <a:latin typeface="Arial"/>
                        </a:rPr>
                        <a:t>4.42  ↓</a:t>
                      </a:r>
                    </a:p>
                  </a:txBody>
                  <a:tcPr marL="73152" marR="73152" marT="18288" marB="18288" anchor="ctr">
                    <a:solidFill>
                      <a:srgbClr val="F6F8FB"/>
                    </a:solidFill>
                  </a:tcPr>
                </a:tc>
                <a:tc>
                  <a:txBody>
                    <a:bodyPr/>
                    <a:lstStyle/>
                    <a:p>
                      <a:pPr algn="ctr"/>
                      <a:r>
                        <a:rPr sz="1200" b="0">
                          <a:solidFill>
                            <a:srgbClr val="172033"/>
                          </a:solidFill>
                          <a:latin typeface="Arial"/>
                        </a:rPr>
                        <a:t>4.47  ↓</a:t>
                      </a:r>
                    </a:p>
                  </a:txBody>
                  <a:tcPr marL="73152" marR="73152" marT="18288" marB="18288" anchor="ctr">
                    <a:solidFill>
                      <a:srgbClr val="F6F8FB"/>
                    </a:solidFill>
                  </a:tcPr>
                </a:tc>
              </a:tr>
              <a:tr h="457200">
                <a:tc>
                  <a:txBody>
                    <a:bodyPr/>
                    <a:lstStyle/>
                    <a:p>
                      <a:pPr algn="l"/>
                      <a:r>
                        <a:rPr sz="1200" b="0">
                          <a:solidFill>
                            <a:srgbClr val="172033"/>
                          </a:solidFill>
                          <a:latin typeface="Arial"/>
                        </a:rPr>
                        <a:t>Lexical richness (MATTR)</a:t>
                      </a:r>
                    </a:p>
                  </a:txBody>
                  <a:tcPr marL="73152" marR="73152" marT="18288" marB="18288" anchor="ctr">
                    <a:solidFill>
                      <a:srgbClr val="FFFFFF"/>
                    </a:solidFill>
                  </a:tcPr>
                </a:tc>
                <a:tc>
                  <a:txBody>
                    <a:bodyPr/>
                    <a:lstStyle/>
                    <a:p>
                      <a:pPr algn="ctr"/>
                      <a:r>
                        <a:rPr sz="1200" b="0">
                          <a:solidFill>
                            <a:srgbClr val="172033"/>
                          </a:solidFill>
                          <a:latin typeface="Arial"/>
                        </a:rPr>
                        <a:t>0.81</a:t>
                      </a:r>
                    </a:p>
                  </a:txBody>
                  <a:tcPr marL="73152" marR="73152" marT="18288" marB="18288" anchor="ctr">
                    <a:solidFill>
                      <a:srgbClr val="FFFFFF"/>
                    </a:solidFill>
                  </a:tcPr>
                </a:tc>
                <a:tc>
                  <a:txBody>
                    <a:bodyPr/>
                    <a:lstStyle/>
                    <a:p>
                      <a:pPr algn="ctr"/>
                      <a:r>
                        <a:rPr sz="1200" b="0">
                          <a:solidFill>
                            <a:srgbClr val="172033"/>
                          </a:solidFill>
                          <a:latin typeface="Arial"/>
                        </a:rPr>
                        <a:t>0.83  ↑</a:t>
                      </a:r>
                    </a:p>
                  </a:txBody>
                  <a:tcPr marL="73152" marR="73152" marT="18288" marB="18288" anchor="ctr">
                    <a:solidFill>
                      <a:srgbClr val="FFFFFF"/>
                    </a:solidFill>
                  </a:tcPr>
                </a:tc>
                <a:tc>
                  <a:txBody>
                    <a:bodyPr/>
                    <a:lstStyle/>
                    <a:p>
                      <a:pPr algn="ctr"/>
                      <a:r>
                        <a:rPr sz="1200" b="0">
                          <a:solidFill>
                            <a:srgbClr val="172033"/>
                          </a:solidFill>
                          <a:latin typeface="Arial"/>
                        </a:rPr>
                        <a:t>0.77  ↓</a:t>
                      </a:r>
                    </a:p>
                  </a:txBody>
                  <a:tcPr marL="73152" marR="73152" marT="18288" marB="18288" anchor="ctr">
                    <a:solidFill>
                      <a:srgbClr val="FFFFFF"/>
                    </a:solidFill>
                  </a:tcPr>
                </a:tc>
                <a:tc>
                  <a:txBody>
                    <a:bodyPr/>
                    <a:lstStyle/>
                    <a:p>
                      <a:pPr algn="ctr"/>
                      <a:r>
                        <a:rPr sz="1200" b="0">
                          <a:solidFill>
                            <a:srgbClr val="172033"/>
                          </a:solidFill>
                          <a:latin typeface="Arial"/>
                        </a:rPr>
                        <a:t>0.78  ↓</a:t>
                      </a:r>
                    </a:p>
                  </a:txBody>
                  <a:tcPr marL="73152" marR="73152" marT="18288" marB="18288" anchor="ctr">
                    <a:solidFill>
                      <a:srgbClr val="FFFFFF"/>
                    </a:solidFill>
                  </a:tcPr>
                </a:tc>
              </a:tr>
              <a:tr h="457200">
                <a:tc>
                  <a:txBody>
                    <a:bodyPr/>
                    <a:lstStyle/>
                    <a:p>
                      <a:pPr algn="l"/>
                      <a:r>
                        <a:rPr sz="1200" b="0">
                          <a:solidFill>
                            <a:srgbClr val="172033"/>
                          </a:solidFill>
                          <a:latin typeface="Arial"/>
                        </a:rPr>
                        <a:t>Sentence length (words)</a:t>
                      </a:r>
                    </a:p>
                  </a:txBody>
                  <a:tcPr marL="73152" marR="73152" marT="18288" marB="18288" anchor="ctr">
                    <a:solidFill>
                      <a:srgbClr val="F6F8FB"/>
                    </a:solidFill>
                  </a:tcPr>
                </a:tc>
                <a:tc>
                  <a:txBody>
                    <a:bodyPr/>
                    <a:lstStyle/>
                    <a:p>
                      <a:pPr algn="ctr"/>
                      <a:r>
                        <a:rPr sz="1200" b="0">
                          <a:solidFill>
                            <a:srgbClr val="172033"/>
                          </a:solidFill>
                          <a:latin typeface="Arial"/>
                        </a:rPr>
                        <a:t>18.3</a:t>
                      </a:r>
                    </a:p>
                  </a:txBody>
                  <a:tcPr marL="73152" marR="73152" marT="18288" marB="18288" anchor="ctr">
                    <a:solidFill>
                      <a:srgbClr val="F6F8FB"/>
                    </a:solidFill>
                  </a:tcPr>
                </a:tc>
                <a:tc>
                  <a:txBody>
                    <a:bodyPr/>
                    <a:lstStyle/>
                    <a:p>
                      <a:pPr algn="ctr"/>
                      <a:r>
                        <a:rPr sz="1200" b="0">
                          <a:solidFill>
                            <a:srgbClr val="172033"/>
                          </a:solidFill>
                          <a:latin typeface="Arial"/>
                        </a:rPr>
                        <a:t>18.9</a:t>
                      </a:r>
                    </a:p>
                  </a:txBody>
                  <a:tcPr marL="73152" marR="73152" marT="18288" marB="18288" anchor="ctr">
                    <a:solidFill>
                      <a:srgbClr val="F6F8FB"/>
                    </a:solidFill>
                  </a:tcPr>
                </a:tc>
                <a:tc>
                  <a:txBody>
                    <a:bodyPr/>
                    <a:lstStyle/>
                    <a:p>
                      <a:pPr algn="ctr"/>
                      <a:r>
                        <a:rPr sz="1200" b="0">
                          <a:solidFill>
                            <a:srgbClr val="172033"/>
                          </a:solidFill>
                          <a:latin typeface="Arial"/>
                        </a:rPr>
                        <a:t>19.0</a:t>
                      </a:r>
                    </a:p>
                  </a:txBody>
                  <a:tcPr marL="73152" marR="73152" marT="18288" marB="18288" anchor="ctr">
                    <a:solidFill>
                      <a:srgbClr val="F6F8FB"/>
                    </a:solidFill>
                  </a:tcPr>
                </a:tc>
                <a:tc>
                  <a:txBody>
                    <a:bodyPr/>
                    <a:lstStyle/>
                    <a:p>
                      <a:pPr algn="ctr"/>
                      <a:r>
                        <a:rPr sz="1200" b="0">
                          <a:solidFill>
                            <a:srgbClr val="172033"/>
                          </a:solidFill>
                          <a:latin typeface="Arial"/>
                        </a:rPr>
                        <a:t>12.7  ↓</a:t>
                      </a:r>
                    </a:p>
                  </a:txBody>
                  <a:tcPr marL="73152" marR="73152" marT="18288" marB="18288" anchor="ctr">
                    <a:solidFill>
                      <a:srgbClr val="F6F8FB"/>
                    </a:solidFill>
                  </a:tcPr>
                </a:tc>
              </a:tr>
              <a:tr h="457200">
                <a:tc>
                  <a:txBody>
                    <a:bodyPr/>
                    <a:lstStyle/>
                    <a:p>
                      <a:pPr algn="l"/>
                      <a:r>
                        <a:rPr sz="1200" b="0">
                          <a:solidFill>
                            <a:srgbClr val="172033"/>
                          </a:solidFill>
                          <a:latin typeface="Arial"/>
                        </a:rPr>
                        <a:t>Parse-tree depth</a:t>
                      </a:r>
                    </a:p>
                  </a:txBody>
                  <a:tcPr marL="73152" marR="73152" marT="18288" marB="18288" anchor="ctr">
                    <a:solidFill>
                      <a:srgbClr val="FFFFFF"/>
                    </a:solidFill>
                  </a:tcPr>
                </a:tc>
                <a:tc>
                  <a:txBody>
                    <a:bodyPr/>
                    <a:lstStyle/>
                    <a:p>
                      <a:pPr algn="ctr"/>
                      <a:r>
                        <a:rPr sz="1200" b="0">
                          <a:solidFill>
                            <a:srgbClr val="172033"/>
                          </a:solidFill>
                          <a:latin typeface="Arial"/>
                        </a:rPr>
                        <a:t>5.2</a:t>
                      </a:r>
                    </a:p>
                  </a:txBody>
                  <a:tcPr marL="73152" marR="73152" marT="18288" marB="18288" anchor="ctr">
                    <a:solidFill>
                      <a:srgbClr val="FFFFFF"/>
                    </a:solidFill>
                  </a:tcPr>
                </a:tc>
                <a:tc>
                  <a:txBody>
                    <a:bodyPr/>
                    <a:lstStyle/>
                    <a:p>
                      <a:pPr algn="ctr"/>
                      <a:r>
                        <a:rPr sz="1200" b="0">
                          <a:solidFill>
                            <a:srgbClr val="172033"/>
                          </a:solidFill>
                          <a:latin typeface="Arial"/>
                        </a:rPr>
                        <a:t>5.7</a:t>
                      </a:r>
                    </a:p>
                  </a:txBody>
                  <a:tcPr marL="73152" marR="73152" marT="18288" marB="18288" anchor="ctr">
                    <a:solidFill>
                      <a:srgbClr val="FFFFFF"/>
                    </a:solidFill>
                  </a:tcPr>
                </a:tc>
                <a:tc>
                  <a:txBody>
                    <a:bodyPr/>
                    <a:lstStyle/>
                    <a:p>
                      <a:pPr algn="ctr"/>
                      <a:r>
                        <a:rPr sz="1200" b="0">
                          <a:solidFill>
                            <a:srgbClr val="172033"/>
                          </a:solidFill>
                          <a:latin typeface="Arial"/>
                        </a:rPr>
                        <a:t>5.1</a:t>
                      </a:r>
                    </a:p>
                  </a:txBody>
                  <a:tcPr marL="73152" marR="73152" marT="18288" marB="18288" anchor="ctr">
                    <a:solidFill>
                      <a:srgbClr val="FFFFFF"/>
                    </a:solidFill>
                  </a:tcPr>
                </a:tc>
                <a:tc>
                  <a:txBody>
                    <a:bodyPr/>
                    <a:lstStyle/>
                    <a:p>
                      <a:pPr algn="ctr"/>
                      <a:r>
                        <a:rPr sz="1200" b="0">
                          <a:solidFill>
                            <a:srgbClr val="172033"/>
                          </a:solidFill>
                          <a:latin typeface="Arial"/>
                        </a:rPr>
                        <a:t>4.0  ↓</a:t>
                      </a:r>
                    </a:p>
                  </a:txBody>
                  <a:tcPr marL="73152" marR="73152" marT="18288" marB="18288" anchor="ctr">
                    <a:solidFill>
                      <a:srgbClr val="FFFFFF"/>
                    </a:solidFill>
                  </a:tcPr>
                </a:tc>
              </a:tr>
              <a:tr h="457200">
                <a:tc>
                  <a:txBody>
                    <a:bodyPr/>
                    <a:lstStyle/>
                    <a:p>
                      <a:pPr algn="l"/>
                      <a:r>
                        <a:rPr sz="1200" b="0">
                          <a:solidFill>
                            <a:srgbClr val="172033"/>
                          </a:solidFill>
                          <a:latin typeface="Arial"/>
                        </a:rPr>
                        <a:t>Pronouns (share of tokens)</a:t>
                      </a:r>
                    </a:p>
                  </a:txBody>
                  <a:tcPr marL="73152" marR="73152" marT="18288" marB="18288" anchor="ctr">
                    <a:solidFill>
                      <a:srgbClr val="F6F8FB"/>
                    </a:solidFill>
                  </a:tcPr>
                </a:tc>
                <a:tc>
                  <a:txBody>
                    <a:bodyPr/>
                    <a:lstStyle/>
                    <a:p>
                      <a:pPr algn="ctr"/>
                      <a:r>
                        <a:rPr sz="1200" b="0">
                          <a:solidFill>
                            <a:srgbClr val="172033"/>
                          </a:solidFill>
                          <a:latin typeface="Arial"/>
                        </a:rPr>
                        <a:t>0.079</a:t>
                      </a:r>
                    </a:p>
                  </a:txBody>
                  <a:tcPr marL="73152" marR="73152" marT="18288" marB="18288" anchor="ctr">
                    <a:solidFill>
                      <a:srgbClr val="F6F8FB"/>
                    </a:solidFill>
                  </a:tcPr>
                </a:tc>
                <a:tc>
                  <a:txBody>
                    <a:bodyPr/>
                    <a:lstStyle/>
                    <a:p>
                      <a:pPr algn="ctr"/>
                      <a:r>
                        <a:rPr sz="1200" b="0">
                          <a:solidFill>
                            <a:srgbClr val="172033"/>
                          </a:solidFill>
                          <a:latin typeface="Arial"/>
                        </a:rPr>
                        <a:t>0.064  ↓</a:t>
                      </a:r>
                    </a:p>
                  </a:txBody>
                  <a:tcPr marL="73152" marR="73152" marT="18288" marB="18288" anchor="ctr">
                    <a:solidFill>
                      <a:srgbClr val="F6F8FB"/>
                    </a:solidFill>
                  </a:tcPr>
                </a:tc>
                <a:tc>
                  <a:txBody>
                    <a:bodyPr/>
                    <a:lstStyle/>
                    <a:p>
                      <a:pPr algn="ctr"/>
                      <a:r>
                        <a:rPr sz="1200" b="0">
                          <a:solidFill>
                            <a:srgbClr val="172033"/>
                          </a:solidFill>
                          <a:latin typeface="Arial"/>
                        </a:rPr>
                        <a:t>0.087</a:t>
                      </a:r>
                    </a:p>
                  </a:txBody>
                  <a:tcPr marL="73152" marR="73152" marT="18288" marB="18288" anchor="ctr">
                    <a:solidFill>
                      <a:srgbClr val="F6F8FB"/>
                    </a:solidFill>
                  </a:tcPr>
                </a:tc>
                <a:tc>
                  <a:txBody>
                    <a:bodyPr/>
                    <a:lstStyle/>
                    <a:p>
                      <a:pPr algn="ctr"/>
                      <a:r>
                        <a:rPr sz="1200" b="0">
                          <a:solidFill>
                            <a:srgbClr val="172033"/>
                          </a:solidFill>
                          <a:latin typeface="Arial"/>
                        </a:rPr>
                        <a:t>0.081</a:t>
                      </a:r>
                    </a:p>
                  </a:txBody>
                  <a:tcPr marL="73152" marR="73152" marT="18288" marB="18288" anchor="ctr">
                    <a:solidFill>
                      <a:srgbClr val="F6F8FB"/>
                    </a:solidFill>
                  </a:tcPr>
                </a:tc>
              </a:tr>
              <a:tr h="457200">
                <a:tc>
                  <a:txBody>
                    <a:bodyPr/>
                    <a:lstStyle/>
                    <a:p>
                      <a:pPr algn="l"/>
                      <a:r>
                        <a:rPr sz="1200" b="0">
                          <a:solidFill>
                            <a:srgbClr val="172033"/>
                          </a:solidFill>
                          <a:latin typeface="Arial"/>
                        </a:rPr>
                        <a:t>Determiners (share of tokens)</a:t>
                      </a:r>
                    </a:p>
                  </a:txBody>
                  <a:tcPr marL="73152" marR="73152" marT="18288" marB="18288" anchor="ctr">
                    <a:solidFill>
                      <a:srgbClr val="FFFFFF"/>
                    </a:solidFill>
                  </a:tcPr>
                </a:tc>
                <a:tc>
                  <a:txBody>
                    <a:bodyPr/>
                    <a:lstStyle/>
                    <a:p>
                      <a:pPr algn="ctr"/>
                      <a:r>
                        <a:rPr sz="1200" b="0">
                          <a:solidFill>
                            <a:srgbClr val="172033"/>
                          </a:solidFill>
                          <a:latin typeface="Arial"/>
                        </a:rPr>
                        <a:t>0.083</a:t>
                      </a:r>
                    </a:p>
                  </a:txBody>
                  <a:tcPr marL="73152" marR="73152" marT="18288" marB="18288" anchor="ctr">
                    <a:solidFill>
                      <a:srgbClr val="FFFFFF"/>
                    </a:solidFill>
                  </a:tcPr>
                </a:tc>
                <a:tc>
                  <a:txBody>
                    <a:bodyPr/>
                    <a:lstStyle/>
                    <a:p>
                      <a:pPr algn="ctr"/>
                      <a:r>
                        <a:rPr sz="1200" b="0">
                          <a:solidFill>
                            <a:srgbClr val="172033"/>
                          </a:solidFill>
                          <a:latin typeface="Arial"/>
                        </a:rPr>
                        <a:t>0.087</a:t>
                      </a:r>
                    </a:p>
                  </a:txBody>
                  <a:tcPr marL="73152" marR="73152" marT="18288" marB="18288" anchor="ctr">
                    <a:solidFill>
                      <a:srgbClr val="FFFFFF"/>
                    </a:solidFill>
                  </a:tcPr>
                </a:tc>
                <a:tc>
                  <a:txBody>
                    <a:bodyPr/>
                    <a:lstStyle/>
                    <a:p>
                      <a:pPr algn="ctr"/>
                      <a:r>
                        <a:rPr sz="1200" b="0">
                          <a:solidFill>
                            <a:srgbClr val="172033"/>
                          </a:solidFill>
                          <a:latin typeface="Arial"/>
                        </a:rPr>
                        <a:t>0.105  ↑</a:t>
                      </a:r>
                    </a:p>
                  </a:txBody>
                  <a:tcPr marL="73152" marR="73152" marT="18288" marB="18288" anchor="ctr">
                    <a:solidFill>
                      <a:srgbClr val="FFFFFF"/>
                    </a:solidFill>
                  </a:tcPr>
                </a:tc>
                <a:tc>
                  <a:txBody>
                    <a:bodyPr/>
                    <a:lstStyle/>
                    <a:p>
                      <a:pPr algn="ctr"/>
                      <a:r>
                        <a:rPr sz="1200" b="0">
                          <a:solidFill>
                            <a:srgbClr val="172033"/>
                          </a:solidFill>
                          <a:latin typeface="Arial"/>
                        </a:rPr>
                        <a:t>0.094</a:t>
                      </a:r>
                    </a:p>
                  </a:txBody>
                  <a:tcPr marL="73152" marR="73152" marT="18288" marB="18288" anchor="ctr">
                    <a:solidFill>
                      <a:srgbClr val="FFFFFF"/>
                    </a:solidFill>
                  </a:tcPr>
                </a:tc>
              </a:tr>
            </a:tbl>
          </a:graphicData>
        </a:graphic>
      </p:graphicFrame>
      <p:sp>
        <p:nvSpPr>
          <p:cNvPr id="7" name="Rounded Rectangle 6"/>
          <p:cNvSpPr/>
          <p:nvPr/>
        </p:nvSpPr>
        <p:spPr>
          <a:xfrm>
            <a:off x="9464040" y="1417320"/>
            <a:ext cx="2194560" cy="1417320"/>
          </a:xfrm>
          <a:prstGeom prst="roundRect">
            <a:avLst>
              <a:gd name="adj" fmla="val 4000"/>
            </a:avLst>
          </a:prstGeom>
          <a:solidFill>
            <a:srgbClr val="F6F8FB"/>
          </a:solidFill>
          <a:ln w="9525">
            <a:solidFill>
              <a:srgbClr val="2F67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464040" y="1417320"/>
            <a:ext cx="2194560" cy="73152"/>
          </a:xfrm>
          <a:prstGeom prst="roundRect">
            <a:avLst>
              <a:gd name="adj" fmla="val 50000"/>
            </a:avLst>
          </a:prstGeom>
          <a:solidFill>
            <a:srgbClr val="2F6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46919" y="1600200"/>
            <a:ext cx="1828800" cy="274320"/>
          </a:xfrm>
          <a:prstGeom prst="rect">
            <a:avLst/>
          </a:prstGeom>
          <a:noFill/>
        </p:spPr>
        <p:txBody>
          <a:bodyPr wrap="square" lIns="0" rIns="0" tIns="0" bIns="0" anchor="t">
            <a:spAutoFit/>
          </a:bodyPr>
          <a:lstStyle/>
          <a:p>
            <a:pPr algn="l">
              <a:lnSpc>
                <a:spcPct val="110000"/>
              </a:lnSpc>
              <a:spcAft>
                <a:spcPts val="0"/>
              </a:spcAft>
            </a:pPr>
            <a:r>
              <a:rPr sz="975" b="1">
                <a:solidFill>
                  <a:srgbClr val="2F67C7"/>
                </a:solidFill>
                <a:latin typeface="Arial"/>
              </a:rPr>
              <a:t>CHATGPT</a:t>
            </a:r>
          </a:p>
        </p:txBody>
      </p:sp>
      <p:sp>
        <p:nvSpPr>
          <p:cNvPr id="10" name="TextBox 9"/>
          <p:cNvSpPr txBox="1"/>
          <p:nvPr/>
        </p:nvSpPr>
        <p:spPr>
          <a:xfrm>
            <a:off x="9646919" y="1856232"/>
            <a:ext cx="1828800" cy="914400"/>
          </a:xfrm>
          <a:prstGeom prst="rect">
            <a:avLst/>
          </a:prstGeom>
          <a:noFill/>
        </p:spPr>
        <p:txBody>
          <a:bodyPr wrap="square" lIns="0" rIns="0" tIns="0" bIns="0" anchor="t">
            <a:spAutoFit/>
          </a:bodyPr>
          <a:lstStyle/>
          <a:p>
            <a:pPr algn="l">
              <a:lnSpc>
                <a:spcPct val="110000"/>
              </a:lnSpc>
              <a:spcAft>
                <a:spcPts val="0"/>
              </a:spcAft>
            </a:pPr>
            <a:r>
              <a:rPr sz="1200" b="0">
                <a:solidFill>
                  <a:srgbClr val="172033"/>
                </a:solidFill>
                <a:latin typeface="Arial"/>
              </a:rPr>
              <a:t>Formalises: longer words, higher grade (d = 1.05–1.50).</a:t>
            </a:r>
          </a:p>
        </p:txBody>
      </p:sp>
      <p:sp>
        <p:nvSpPr>
          <p:cNvPr id="11" name="Rounded Rectangle 10"/>
          <p:cNvSpPr/>
          <p:nvPr/>
        </p:nvSpPr>
        <p:spPr>
          <a:xfrm>
            <a:off x="9464040" y="2971800"/>
            <a:ext cx="2194560" cy="1280160"/>
          </a:xfrm>
          <a:prstGeom prst="roundRect">
            <a:avLst>
              <a:gd name="adj" fmla="val 4000"/>
            </a:avLst>
          </a:prstGeom>
          <a:solidFill>
            <a:srgbClr val="F6F8FB"/>
          </a:solidFill>
          <a:ln w="9525">
            <a:solidFill>
              <a:srgbClr val="2E7D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464040" y="2971800"/>
            <a:ext cx="2194560" cy="73152"/>
          </a:xfrm>
          <a:prstGeom prst="roundRect">
            <a:avLst>
              <a:gd name="adj" fmla="val 50000"/>
            </a:avLst>
          </a:prstGeom>
          <a:solidFill>
            <a:srgbClr val="2E7D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46919" y="3154680"/>
            <a:ext cx="1828800" cy="274320"/>
          </a:xfrm>
          <a:prstGeom prst="rect">
            <a:avLst/>
          </a:prstGeom>
          <a:noFill/>
        </p:spPr>
        <p:txBody>
          <a:bodyPr wrap="square" lIns="0" rIns="0" tIns="0" bIns="0" anchor="t">
            <a:spAutoFit/>
          </a:bodyPr>
          <a:lstStyle/>
          <a:p>
            <a:pPr algn="l">
              <a:lnSpc>
                <a:spcPct val="110000"/>
              </a:lnSpc>
              <a:spcAft>
                <a:spcPts val="0"/>
              </a:spcAft>
            </a:pPr>
            <a:r>
              <a:rPr sz="975" b="1">
                <a:solidFill>
                  <a:srgbClr val="2E7D6A"/>
                </a:solidFill>
                <a:latin typeface="Arial"/>
              </a:rPr>
              <a:t>DIPPER</a:t>
            </a:r>
          </a:p>
        </p:txBody>
      </p:sp>
      <p:sp>
        <p:nvSpPr>
          <p:cNvPr id="14" name="TextBox 13"/>
          <p:cNvSpPr txBox="1"/>
          <p:nvPr/>
        </p:nvSpPr>
        <p:spPr>
          <a:xfrm>
            <a:off x="9646919" y="3410712"/>
            <a:ext cx="1828800" cy="777239"/>
          </a:xfrm>
          <a:prstGeom prst="rect">
            <a:avLst/>
          </a:prstGeom>
          <a:noFill/>
        </p:spPr>
        <p:txBody>
          <a:bodyPr wrap="square" lIns="0" rIns="0" tIns="0" bIns="0" anchor="t">
            <a:spAutoFit/>
          </a:bodyPr>
          <a:lstStyle/>
          <a:p>
            <a:pPr algn="l">
              <a:lnSpc>
                <a:spcPct val="110000"/>
              </a:lnSpc>
              <a:spcAft>
                <a:spcPts val="0"/>
              </a:spcAft>
            </a:pPr>
            <a:r>
              <a:rPr sz="1200" b="0">
                <a:solidFill>
                  <a:srgbClr val="172033"/>
                </a:solidFill>
                <a:latin typeface="Arial"/>
              </a:rPr>
              <a:t>The reverse: shorter words, more determiners.</a:t>
            </a:r>
          </a:p>
        </p:txBody>
      </p:sp>
      <p:sp>
        <p:nvSpPr>
          <p:cNvPr id="15" name="Rounded Rectangle 14"/>
          <p:cNvSpPr/>
          <p:nvPr/>
        </p:nvSpPr>
        <p:spPr>
          <a:xfrm>
            <a:off x="9464040" y="4389120"/>
            <a:ext cx="2194560" cy="1280160"/>
          </a:xfrm>
          <a:prstGeom prst="roundRect">
            <a:avLst>
              <a:gd name="adj" fmla="val 4000"/>
            </a:avLst>
          </a:prstGeom>
          <a:solidFill>
            <a:srgbClr val="F6F8FB"/>
          </a:solidFill>
          <a:ln w="9525">
            <a:solidFill>
              <a:srgbClr val="C856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464040" y="4389120"/>
            <a:ext cx="2194560" cy="73152"/>
          </a:xfrm>
          <a:prstGeom prst="roundRect">
            <a:avLst>
              <a:gd name="adj" fmla="val 50000"/>
            </a:avLst>
          </a:prstGeom>
          <a:solidFill>
            <a:srgbClr val="C856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46919" y="4572000"/>
            <a:ext cx="1828800" cy="274320"/>
          </a:xfrm>
          <a:prstGeom prst="rect">
            <a:avLst/>
          </a:prstGeom>
          <a:noFill/>
        </p:spPr>
        <p:txBody>
          <a:bodyPr wrap="square" lIns="0" rIns="0" tIns="0" bIns="0" anchor="t">
            <a:spAutoFit/>
          </a:bodyPr>
          <a:lstStyle/>
          <a:p>
            <a:pPr algn="l">
              <a:lnSpc>
                <a:spcPct val="110000"/>
              </a:lnSpc>
              <a:spcAft>
                <a:spcPts val="0"/>
              </a:spcAft>
            </a:pPr>
            <a:r>
              <a:rPr sz="975" b="1">
                <a:solidFill>
                  <a:srgbClr val="C85656"/>
                </a:solidFill>
                <a:latin typeface="Arial"/>
              </a:rPr>
              <a:t>PEGASUS</a:t>
            </a:r>
          </a:p>
        </p:txBody>
      </p:sp>
      <p:sp>
        <p:nvSpPr>
          <p:cNvPr id="18" name="TextBox 17"/>
          <p:cNvSpPr txBox="1"/>
          <p:nvPr/>
        </p:nvSpPr>
        <p:spPr>
          <a:xfrm>
            <a:off x="9646919" y="4828031"/>
            <a:ext cx="1828800" cy="777239"/>
          </a:xfrm>
          <a:prstGeom prst="rect">
            <a:avLst/>
          </a:prstGeom>
          <a:noFill/>
        </p:spPr>
        <p:txBody>
          <a:bodyPr wrap="square" lIns="0" rIns="0" tIns="0" bIns="0" anchor="t">
            <a:spAutoFit/>
          </a:bodyPr>
          <a:lstStyle/>
          <a:p>
            <a:pPr algn="l">
              <a:lnSpc>
                <a:spcPct val="110000"/>
              </a:lnSpc>
              <a:spcAft>
                <a:spcPts val="0"/>
              </a:spcAft>
            </a:pPr>
            <a:r>
              <a:rPr sz="1200" b="0">
                <a:solidFill>
                  <a:srgbClr val="172033"/>
                </a:solidFill>
                <a:latin typeface="Arial"/>
              </a:rPr>
              <a:t>Splits sentences, flattens trees (d = −1.36).</a:t>
            </a:r>
          </a:p>
        </p:txBody>
      </p:sp>
      <p:sp>
        <p:nvSpPr>
          <p:cNvPr id="19" name="TextBox 18"/>
          <p:cNvSpPr txBox="1"/>
          <p:nvPr/>
        </p:nvSpPr>
        <p:spPr>
          <a:xfrm>
            <a:off x="548640" y="5257800"/>
            <a:ext cx="8686800" cy="822960"/>
          </a:xfrm>
          <a:prstGeom prst="rect">
            <a:avLst/>
          </a:prstGeom>
          <a:noFill/>
        </p:spPr>
        <p:txBody>
          <a:bodyPr wrap="square" lIns="0" rIns="0" tIns="0" bIns="0" anchor="t">
            <a:spAutoFit/>
          </a:bodyPr>
          <a:lstStyle/>
          <a:p>
            <a:pPr algn="l">
              <a:lnSpc>
                <a:spcPct val="110000"/>
              </a:lnSpc>
              <a:spcAft>
                <a:spcPts val="0"/>
              </a:spcAft>
            </a:pPr>
            <a:r>
              <a:rPr sz="1500" b="1">
                <a:solidFill>
                  <a:srgbClr val="10243E"/>
                </a:solidFill>
                <a:latin typeface="Arial"/>
              </a:rPr>
              <a:t>The direction of change identifies the paraphraser — an early signal for RQ3: authorial identity is not just erased, it is replaced.</a:t>
            </a:r>
          </a:p>
        </p:txBody>
      </p:sp>
      <p:sp>
        <p:nvSpPr>
          <p:cNvPr id="20" name="TextBox 19"/>
          <p:cNvSpPr txBox="1"/>
          <p:nvPr/>
        </p:nvSpPr>
        <p:spPr>
          <a:xfrm>
            <a:off x="512064" y="6446520"/>
            <a:ext cx="11155680" cy="274320"/>
          </a:xfrm>
          <a:prstGeom prst="rect">
            <a:avLst/>
          </a:prstGeom>
          <a:noFill/>
        </p:spPr>
        <p:txBody>
          <a:bodyPr wrap="square" lIns="0" rIns="0" tIns="0" bIns="0" anchor="t">
            <a:spAutoFit/>
          </a:bodyPr>
          <a:lstStyle/>
          <a:p>
            <a:pPr algn="l">
              <a:lnSpc>
                <a:spcPct val="110000"/>
              </a:lnSpc>
              <a:spcAft>
                <a:spcPts val="0"/>
              </a:spcAft>
            </a:pPr>
            <a:r>
              <a:rPr sz="825" b="0">
                <a:solidFill>
                  <a:srgbClr val="5C6678"/>
                </a:solidFill>
                <a:latin typeface="Arial"/>
              </a:rPr>
              <a:t>↑/↓ = significant change with |d| ≥ 0.5 (Holm-corrected Wilcoxon). Full table: experiments/stylometry_results/rq1/feature_shifts.csv</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12064" y="320040"/>
            <a:ext cx="548640" cy="320040"/>
          </a:xfrm>
          <a:prstGeom prst="rect">
            <a:avLst/>
          </a:prstGeom>
          <a:noFill/>
        </p:spPr>
        <p:txBody>
          <a:bodyPr wrap="square" lIns="0" rIns="0" tIns="0" bIns="0" anchor="t">
            <a:spAutoFit/>
          </a:bodyPr>
          <a:lstStyle/>
          <a:p>
            <a:pPr algn="l">
              <a:lnSpc>
                <a:spcPct val="110000"/>
              </a:lnSpc>
              <a:spcAft>
                <a:spcPts val="0"/>
              </a:spcAft>
            </a:pPr>
            <a:r>
              <a:rPr sz="1125" b="1">
                <a:solidFill>
                  <a:srgbClr val="2F67C7"/>
                </a:solidFill>
                <a:latin typeface="Arial"/>
              </a:rPr>
              <a:t>14</a:t>
            </a:r>
          </a:p>
        </p:txBody>
      </p:sp>
      <p:sp>
        <p:nvSpPr>
          <p:cNvPr id="3" name="TextBox 2"/>
          <p:cNvSpPr txBox="1"/>
          <p:nvPr/>
        </p:nvSpPr>
        <p:spPr>
          <a:xfrm>
            <a:off x="1069848" y="246888"/>
            <a:ext cx="10424160" cy="548640"/>
          </a:xfrm>
          <a:prstGeom prst="rect">
            <a:avLst/>
          </a:prstGeom>
          <a:noFill/>
        </p:spPr>
        <p:txBody>
          <a:bodyPr wrap="square" lIns="0" rIns="0" tIns="0" bIns="0" anchor="t">
            <a:spAutoFit/>
          </a:bodyPr>
          <a:lstStyle/>
          <a:p>
            <a:pPr algn="l">
              <a:lnSpc>
                <a:spcPct val="110000"/>
              </a:lnSpc>
              <a:spcAft>
                <a:spcPts val="0"/>
              </a:spcAft>
            </a:pPr>
            <a:r>
              <a:rPr sz="2325" b="1">
                <a:solidFill>
                  <a:srgbClr val="10243E"/>
                </a:solidFill>
                <a:latin typeface="Arial"/>
              </a:rPr>
              <a:t>Preliminary answer to RQ1</a:t>
            </a:r>
          </a:p>
        </p:txBody>
      </p:sp>
      <p:sp>
        <p:nvSpPr>
          <p:cNvPr id="4" name="TextBox 3"/>
          <p:cNvSpPr txBox="1"/>
          <p:nvPr/>
        </p:nvSpPr>
        <p:spPr>
          <a:xfrm>
            <a:off x="1069848" y="758952"/>
            <a:ext cx="10424160" cy="274320"/>
          </a:xfrm>
          <a:prstGeom prst="rect">
            <a:avLst/>
          </a:prstGeom>
          <a:noFill/>
        </p:spPr>
        <p:txBody>
          <a:bodyPr wrap="square" lIns="0" rIns="0" tIns="0" bIns="0" anchor="t">
            <a:spAutoFit/>
          </a:bodyPr>
          <a:lstStyle/>
          <a:p>
            <a:pPr algn="l">
              <a:lnSpc>
                <a:spcPct val="110000"/>
              </a:lnSpc>
              <a:spcAft>
                <a:spcPts val="0"/>
              </a:spcAft>
            </a:pPr>
            <a:r>
              <a:rPr sz="1050" b="0">
                <a:solidFill>
                  <a:srgbClr val="5C6678"/>
                </a:solidFill>
                <a:latin typeface="Arial"/>
              </a:rPr>
              <a:t>Week 8 checkpoint</a:t>
            </a:r>
          </a:p>
        </p:txBody>
      </p:sp>
      <p:sp>
        <p:nvSpPr>
          <p:cNvPr id="5" name="Rectangle 4"/>
          <p:cNvSpPr/>
          <p:nvPr/>
        </p:nvSpPr>
        <p:spPr>
          <a:xfrm>
            <a:off x="512064" y="1069848"/>
            <a:ext cx="11164824" cy="18288"/>
          </a:xfrm>
          <a:prstGeom prst="rect">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17320"/>
            <a:ext cx="11109960" cy="160020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417320"/>
            <a:ext cx="91440" cy="1600200"/>
          </a:xfrm>
          <a:prstGeom prst="rect">
            <a:avLst/>
          </a:prstGeom>
          <a:solidFill>
            <a:srgbClr val="2F6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45920"/>
            <a:ext cx="10607040" cy="1188720"/>
          </a:xfrm>
          <a:prstGeom prst="rect">
            <a:avLst/>
          </a:prstGeom>
          <a:noFill/>
        </p:spPr>
        <p:txBody>
          <a:bodyPr wrap="square" lIns="0" rIns="0" tIns="0" bIns="0" anchor="t">
            <a:spAutoFit/>
          </a:bodyPr>
          <a:lstStyle/>
          <a:p>
            <a:pPr algn="l">
              <a:lnSpc>
                <a:spcPct val="110000"/>
              </a:lnSpc>
              <a:spcAft>
                <a:spcPts val="0"/>
              </a:spcAft>
            </a:pPr>
            <a:r>
              <a:rPr sz="2200" b="1">
                <a:solidFill>
                  <a:srgbClr val="10243E"/>
                </a:solidFill>
                <a:latin typeface="Arial"/>
              </a:rPr>
              <a:t>Under LLM paraphrasing, style is replaced long before meaning — and the syntactic skeleton goes as fast as the lexical skin.</a:t>
            </a:r>
          </a:p>
        </p:txBody>
      </p:sp>
      <p:sp>
        <p:nvSpPr>
          <p:cNvPr id="9" name="Rounded Rectangle 8"/>
          <p:cNvSpPr/>
          <p:nvPr/>
        </p:nvSpPr>
        <p:spPr>
          <a:xfrm>
            <a:off x="548640" y="3383280"/>
            <a:ext cx="2651760" cy="2377440"/>
          </a:xfrm>
          <a:prstGeom prst="roundRect">
            <a:avLst>
              <a:gd name="adj" fmla="val 4000"/>
            </a:avLst>
          </a:prstGeom>
          <a:solidFill>
            <a:srgbClr val="F6F8FB"/>
          </a:solidFill>
          <a:ln w="9525">
            <a:solidFill>
              <a:srgbClr val="2F67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3383280"/>
            <a:ext cx="2651760" cy="73152"/>
          </a:xfrm>
          <a:prstGeom prst="roundRect">
            <a:avLst>
              <a:gd name="adj" fmla="val 50000"/>
            </a:avLst>
          </a:prstGeom>
          <a:solidFill>
            <a:srgbClr val="2F67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3657600"/>
            <a:ext cx="2286000" cy="640080"/>
          </a:xfrm>
          <a:prstGeom prst="rect">
            <a:avLst/>
          </a:prstGeom>
          <a:noFill/>
        </p:spPr>
        <p:txBody>
          <a:bodyPr wrap="square" lIns="0" rIns="0" tIns="0" bIns="0" anchor="t">
            <a:spAutoFit/>
          </a:bodyPr>
          <a:lstStyle/>
          <a:p>
            <a:pPr algn="l">
              <a:lnSpc>
                <a:spcPct val="110000"/>
              </a:lnSpc>
              <a:spcAft>
                <a:spcPts val="0"/>
              </a:spcAft>
            </a:pPr>
            <a:r>
              <a:rPr sz="2800" b="1">
                <a:solidFill>
                  <a:srgbClr val="2F67C7"/>
                </a:solidFill>
                <a:latin typeface="Arial"/>
              </a:rPr>
              <a:t>55–90%</a:t>
            </a:r>
          </a:p>
        </p:txBody>
      </p:sp>
      <p:sp>
        <p:nvSpPr>
          <p:cNvPr id="12" name="TextBox 11"/>
          <p:cNvSpPr txBox="1"/>
          <p:nvPr/>
        </p:nvSpPr>
        <p:spPr>
          <a:xfrm>
            <a:off x="749808" y="4389120"/>
            <a:ext cx="2286000" cy="1280160"/>
          </a:xfrm>
          <a:prstGeom prst="rect">
            <a:avLst/>
          </a:prstGeom>
          <a:noFill/>
        </p:spPr>
        <p:txBody>
          <a:bodyPr wrap="square" lIns="0" rIns="0" tIns="0" bIns="0" anchor="t">
            <a:spAutoFit/>
          </a:bodyPr>
          <a:lstStyle/>
          <a:p>
            <a:pPr algn="l">
              <a:lnSpc>
                <a:spcPct val="110000"/>
              </a:lnSpc>
              <a:spcAft>
                <a:spcPts val="0"/>
              </a:spcAft>
            </a:pPr>
            <a:r>
              <a:rPr sz="1200" b="0">
                <a:solidFill>
                  <a:srgbClr val="172033"/>
                </a:solidFill>
                <a:latin typeface="Arial"/>
              </a:rPr>
              <a:t>of the way to an unrelated author's style after one pass (ChatGPT, PaLM2, DIPPER; some beyond)</a:t>
            </a:r>
          </a:p>
        </p:txBody>
      </p:sp>
      <p:sp>
        <p:nvSpPr>
          <p:cNvPr id="13" name="Rounded Rectangle 12"/>
          <p:cNvSpPr/>
          <p:nvPr/>
        </p:nvSpPr>
        <p:spPr>
          <a:xfrm>
            <a:off x="3364992" y="3383280"/>
            <a:ext cx="2651760" cy="2377440"/>
          </a:xfrm>
          <a:prstGeom prst="roundRect">
            <a:avLst>
              <a:gd name="adj" fmla="val 4000"/>
            </a:avLst>
          </a:prstGeom>
          <a:solidFill>
            <a:srgbClr val="F6F8FB"/>
          </a:solidFill>
          <a:ln w="9525">
            <a:solidFill>
              <a:srgbClr val="2E7D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364992" y="3383280"/>
            <a:ext cx="2651760" cy="73152"/>
          </a:xfrm>
          <a:prstGeom prst="roundRect">
            <a:avLst>
              <a:gd name="adj" fmla="val 50000"/>
            </a:avLst>
          </a:prstGeom>
          <a:solidFill>
            <a:srgbClr val="2E7D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3657600"/>
            <a:ext cx="2286000" cy="640080"/>
          </a:xfrm>
          <a:prstGeom prst="rect">
            <a:avLst/>
          </a:prstGeom>
          <a:noFill/>
        </p:spPr>
        <p:txBody>
          <a:bodyPr wrap="square" lIns="0" rIns="0" tIns="0" bIns="0" anchor="t">
            <a:spAutoFit/>
          </a:bodyPr>
          <a:lstStyle/>
          <a:p>
            <a:pPr algn="l">
              <a:lnSpc>
                <a:spcPct val="110000"/>
              </a:lnSpc>
              <a:spcAft>
                <a:spcPts val="0"/>
              </a:spcAft>
            </a:pPr>
            <a:r>
              <a:rPr sz="2800" b="1">
                <a:solidFill>
                  <a:srgbClr val="2E7D6A"/>
                </a:solidFill>
                <a:latin typeface="Arial"/>
              </a:rPr>
              <a:t>79–88%</a:t>
            </a:r>
          </a:p>
        </p:txBody>
      </p:sp>
      <p:sp>
        <p:nvSpPr>
          <p:cNvPr id="16" name="TextBox 15"/>
          <p:cNvSpPr txBox="1"/>
          <p:nvPr/>
        </p:nvSpPr>
        <p:spPr>
          <a:xfrm>
            <a:off x="3566160" y="4389120"/>
            <a:ext cx="2286000" cy="1280160"/>
          </a:xfrm>
          <a:prstGeom prst="rect">
            <a:avLst/>
          </a:prstGeom>
          <a:noFill/>
        </p:spPr>
        <p:txBody>
          <a:bodyPr wrap="square" lIns="0" rIns="0" tIns="0" bIns="0" anchor="t">
            <a:spAutoFit/>
          </a:bodyPr>
          <a:lstStyle/>
          <a:p>
            <a:pPr algn="l">
              <a:lnSpc>
                <a:spcPct val="110000"/>
              </a:lnSpc>
              <a:spcAft>
                <a:spcPts val="0"/>
              </a:spcAft>
            </a:pPr>
            <a:r>
              <a:rPr sz="1200" b="0">
                <a:solidFill>
                  <a:srgbClr val="172033"/>
                </a:solidFill>
                <a:latin typeface="Arial"/>
              </a:rPr>
              <a:t>of the meaning retained after that same pass</a:t>
            </a:r>
          </a:p>
        </p:txBody>
      </p:sp>
      <p:sp>
        <p:nvSpPr>
          <p:cNvPr id="17" name="Rounded Rectangle 16"/>
          <p:cNvSpPr/>
          <p:nvPr/>
        </p:nvSpPr>
        <p:spPr>
          <a:xfrm>
            <a:off x="6181344" y="3383280"/>
            <a:ext cx="2651760" cy="2377440"/>
          </a:xfrm>
          <a:prstGeom prst="roundRect">
            <a:avLst>
              <a:gd name="adj" fmla="val 4000"/>
            </a:avLst>
          </a:prstGeom>
          <a:solidFill>
            <a:srgbClr val="F6F8FB"/>
          </a:solidFill>
          <a:ln w="9525">
            <a:solidFill>
              <a:srgbClr val="587F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81344" y="3383280"/>
            <a:ext cx="2651760" cy="73152"/>
          </a:xfrm>
          <a:prstGeom prst="roundRect">
            <a:avLst>
              <a:gd name="adj" fmla="val 50000"/>
            </a:avLst>
          </a:prstGeom>
          <a:solidFill>
            <a:srgbClr val="587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82512" y="3657600"/>
            <a:ext cx="2286000" cy="640080"/>
          </a:xfrm>
          <a:prstGeom prst="rect">
            <a:avLst/>
          </a:prstGeom>
          <a:noFill/>
        </p:spPr>
        <p:txBody>
          <a:bodyPr wrap="square" lIns="0" rIns="0" tIns="0" bIns="0" anchor="t">
            <a:spAutoFit/>
          </a:bodyPr>
          <a:lstStyle/>
          <a:p>
            <a:pPr algn="l">
              <a:lnSpc>
                <a:spcPct val="110000"/>
              </a:lnSpc>
              <a:spcAft>
                <a:spcPts val="0"/>
              </a:spcAft>
            </a:pPr>
            <a:r>
              <a:rPr sz="2800" b="1">
                <a:solidFill>
                  <a:srgbClr val="587FB8"/>
                </a:solidFill>
                <a:latin typeface="Arial"/>
              </a:rPr>
              <a:t>61 / 63</a:t>
            </a:r>
          </a:p>
        </p:txBody>
      </p:sp>
      <p:sp>
        <p:nvSpPr>
          <p:cNvPr id="20" name="TextBox 19"/>
          <p:cNvSpPr txBox="1"/>
          <p:nvPr/>
        </p:nvSpPr>
        <p:spPr>
          <a:xfrm>
            <a:off x="6382512" y="4389120"/>
            <a:ext cx="2286000" cy="1280160"/>
          </a:xfrm>
          <a:prstGeom prst="rect">
            <a:avLst/>
          </a:prstGeom>
          <a:noFill/>
        </p:spPr>
        <p:txBody>
          <a:bodyPr wrap="square" lIns="0" rIns="0" tIns="0" bIns="0" anchor="t">
            <a:spAutoFit/>
          </a:bodyPr>
          <a:lstStyle/>
          <a:p>
            <a:pPr algn="l">
              <a:lnSpc>
                <a:spcPct val="110000"/>
              </a:lnSpc>
              <a:spcAft>
                <a:spcPts val="0"/>
              </a:spcAft>
            </a:pPr>
            <a:r>
              <a:rPr sz="1200" b="0">
                <a:solidFill>
                  <a:srgbClr val="172033"/>
                </a:solidFill>
                <a:latin typeface="Arial"/>
              </a:rPr>
              <a:t>paired tests: style distance &gt; meaning distance at T1 (Holm p &lt; 0.05)</a:t>
            </a:r>
          </a:p>
        </p:txBody>
      </p:sp>
      <p:sp>
        <p:nvSpPr>
          <p:cNvPr id="21" name="Rounded Rectangle 20"/>
          <p:cNvSpPr/>
          <p:nvPr/>
        </p:nvSpPr>
        <p:spPr>
          <a:xfrm>
            <a:off x="8997696" y="3383280"/>
            <a:ext cx="2651760" cy="2377440"/>
          </a:xfrm>
          <a:prstGeom prst="roundRect">
            <a:avLst>
              <a:gd name="adj" fmla="val 4000"/>
            </a:avLst>
          </a:prstGeom>
          <a:solidFill>
            <a:srgbClr val="F6F8FB"/>
          </a:solidFill>
          <a:ln w="9525">
            <a:solidFill>
              <a:srgbClr val="C856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997696" y="3383280"/>
            <a:ext cx="2651760" cy="73152"/>
          </a:xfrm>
          <a:prstGeom prst="roundRect">
            <a:avLst>
              <a:gd name="adj" fmla="val 50000"/>
            </a:avLst>
          </a:prstGeom>
          <a:solidFill>
            <a:srgbClr val="C856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98864" y="3657600"/>
            <a:ext cx="2286000" cy="640080"/>
          </a:xfrm>
          <a:prstGeom prst="rect">
            <a:avLst/>
          </a:prstGeom>
          <a:noFill/>
        </p:spPr>
        <p:txBody>
          <a:bodyPr wrap="square" lIns="0" rIns="0" tIns="0" bIns="0" anchor="t">
            <a:spAutoFit/>
          </a:bodyPr>
          <a:lstStyle/>
          <a:p>
            <a:pPr algn="l">
              <a:lnSpc>
                <a:spcPct val="110000"/>
              </a:lnSpc>
              <a:spcAft>
                <a:spcPts val="0"/>
              </a:spcAft>
            </a:pPr>
            <a:r>
              <a:rPr sz="2800" b="1">
                <a:solidFill>
                  <a:srgbClr val="C85656"/>
                </a:solidFill>
                <a:latin typeface="Arial"/>
              </a:rPr>
              <a:t>&lt; 0</a:t>
            </a:r>
          </a:p>
        </p:txBody>
      </p:sp>
      <p:sp>
        <p:nvSpPr>
          <p:cNvPr id="24" name="TextBox 23"/>
          <p:cNvSpPr txBox="1"/>
          <p:nvPr/>
        </p:nvSpPr>
        <p:spPr>
          <a:xfrm>
            <a:off x="9198864" y="4389120"/>
            <a:ext cx="2286000" cy="1280160"/>
          </a:xfrm>
          <a:prstGeom prst="rect">
            <a:avLst/>
          </a:prstGeom>
          <a:noFill/>
        </p:spPr>
        <p:txBody>
          <a:bodyPr wrap="square" lIns="0" rIns="0" tIns="0" bIns="0" anchor="t">
            <a:spAutoFit/>
          </a:bodyPr>
          <a:lstStyle/>
          <a:p>
            <a:pPr algn="l">
              <a:lnSpc>
                <a:spcPct val="110000"/>
              </a:lnSpc>
              <a:spcAft>
                <a:spcPts val="0"/>
              </a:spcAft>
            </a:pPr>
            <a:r>
              <a:rPr sz="1200" b="0">
                <a:solidFill>
                  <a:srgbClr val="172033"/>
                </a:solidFill>
                <a:latin typeface="Arial"/>
              </a:rPr>
              <a:t>retention for several features: style is overwritten with the paraphraser's own</a:t>
            </a:r>
          </a:p>
        </p:txBody>
      </p:sp>
      <p:sp>
        <p:nvSpPr>
          <p:cNvPr id="25" name="TextBox 24"/>
          <p:cNvSpPr txBox="1"/>
          <p:nvPr/>
        </p:nvSpPr>
        <p:spPr>
          <a:xfrm>
            <a:off x="512064" y="6446520"/>
            <a:ext cx="11155680" cy="274320"/>
          </a:xfrm>
          <a:prstGeom prst="rect">
            <a:avLst/>
          </a:prstGeom>
          <a:noFill/>
        </p:spPr>
        <p:txBody>
          <a:bodyPr wrap="square" lIns="0" rIns="0" tIns="0" bIns="0" anchor="t">
            <a:spAutoFit/>
          </a:bodyPr>
          <a:lstStyle/>
          <a:p>
            <a:pPr algn="l">
              <a:lnSpc>
                <a:spcPct val="110000"/>
              </a:lnSpc>
              <a:spcAft>
                <a:spcPts val="0"/>
              </a:spcAft>
            </a:pPr>
            <a:r>
              <a:rPr sz="825" b="0">
                <a:solidFill>
                  <a:srgbClr val="5C6678"/>
                </a:solidFill>
                <a:latin typeface="Arial"/>
              </a:rPr>
              <a:t>Paper section “RQ1: Which Planks Are Replaced First?” · notebook 03 · src/run_rq1.py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12064" y="320040"/>
            <a:ext cx="548640" cy="320040"/>
          </a:xfrm>
          <a:prstGeom prst="rect">
            <a:avLst/>
          </a:prstGeom>
          <a:noFill/>
        </p:spPr>
        <p:txBody>
          <a:bodyPr wrap="square" lIns="0" rIns="0" tIns="0" bIns="0" anchor="t">
            <a:spAutoFit/>
          </a:bodyPr>
          <a:lstStyle/>
          <a:p>
            <a:pPr algn="l">
              <a:lnSpc>
                <a:spcPct val="110000"/>
              </a:lnSpc>
              <a:spcAft>
                <a:spcPts val="0"/>
              </a:spcAft>
            </a:pPr>
            <a:r>
              <a:rPr sz="1125" b="1">
                <a:solidFill>
                  <a:srgbClr val="2F67C7"/>
                </a:solidFill>
                <a:latin typeface="Arial"/>
              </a:rPr>
              <a:t>15</a:t>
            </a:r>
          </a:p>
        </p:txBody>
      </p:sp>
      <p:sp>
        <p:nvSpPr>
          <p:cNvPr id="3" name="TextBox 2"/>
          <p:cNvSpPr txBox="1"/>
          <p:nvPr/>
        </p:nvSpPr>
        <p:spPr>
          <a:xfrm>
            <a:off x="1069848" y="246888"/>
            <a:ext cx="10424160" cy="548640"/>
          </a:xfrm>
          <a:prstGeom prst="rect">
            <a:avLst/>
          </a:prstGeom>
          <a:noFill/>
        </p:spPr>
        <p:txBody>
          <a:bodyPr wrap="square" lIns="0" rIns="0" tIns="0" bIns="0" anchor="t">
            <a:spAutoFit/>
          </a:bodyPr>
          <a:lstStyle/>
          <a:p>
            <a:pPr algn="l">
              <a:lnSpc>
                <a:spcPct val="110000"/>
              </a:lnSpc>
              <a:spcAft>
                <a:spcPts val="0"/>
              </a:spcAft>
            </a:pPr>
            <a:r>
              <a:rPr sz="2325" b="1">
                <a:solidFill>
                  <a:srgbClr val="10243E"/>
                </a:solidFill>
                <a:latin typeface="Arial"/>
              </a:rPr>
              <a:t>Limitations and next steps</a:t>
            </a:r>
          </a:p>
        </p:txBody>
      </p:sp>
      <p:sp>
        <p:nvSpPr>
          <p:cNvPr id="4" name="Rectangle 3"/>
          <p:cNvSpPr/>
          <p:nvPr/>
        </p:nvSpPr>
        <p:spPr>
          <a:xfrm>
            <a:off x="512064" y="1069848"/>
            <a:ext cx="11164824" cy="18288"/>
          </a:xfrm>
          <a:prstGeom prst="rect">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417320"/>
            <a:ext cx="5394960" cy="4206240"/>
          </a:xfrm>
          <a:prstGeom prst="roundRect">
            <a:avLst>
              <a:gd name="adj" fmla="val 4000"/>
            </a:avLst>
          </a:prstGeom>
          <a:solidFill>
            <a:srgbClr val="F6F8FB"/>
          </a:solidFill>
          <a:ln w="9525">
            <a:solidFill>
              <a:srgbClr val="C856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17320"/>
            <a:ext cx="5394960" cy="73152"/>
          </a:xfrm>
          <a:prstGeom prst="roundRect">
            <a:avLst>
              <a:gd name="adj" fmla="val 50000"/>
            </a:avLst>
          </a:prstGeom>
          <a:solidFill>
            <a:srgbClr val="C856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4937760" cy="274320"/>
          </a:xfrm>
          <a:prstGeom prst="rect">
            <a:avLst/>
          </a:prstGeom>
          <a:noFill/>
        </p:spPr>
        <p:txBody>
          <a:bodyPr wrap="square" lIns="0" rIns="0" tIns="0" bIns="0" anchor="t">
            <a:spAutoFit/>
          </a:bodyPr>
          <a:lstStyle/>
          <a:p>
            <a:pPr algn="l">
              <a:lnSpc>
                <a:spcPct val="110000"/>
              </a:lnSpc>
              <a:spcAft>
                <a:spcPts val="0"/>
              </a:spcAft>
            </a:pPr>
            <a:r>
              <a:rPr sz="975" b="1">
                <a:solidFill>
                  <a:srgbClr val="C85656"/>
                </a:solidFill>
                <a:latin typeface="Arial"/>
              </a:rPr>
              <a:t>LIMITATIONS</a:t>
            </a:r>
          </a:p>
        </p:txBody>
      </p:sp>
      <p:sp>
        <p:nvSpPr>
          <p:cNvPr id="8" name="TextBox 7"/>
          <p:cNvSpPr txBox="1"/>
          <p:nvPr/>
        </p:nvSpPr>
        <p:spPr>
          <a:xfrm>
            <a:off x="777240" y="2011680"/>
            <a:ext cx="4937760" cy="2286000"/>
          </a:xfrm>
          <a:prstGeom prst="rect">
            <a:avLst/>
          </a:prstGeom>
          <a:noFill/>
        </p:spPr>
        <p:txBody>
          <a:bodyPr wrap="square" lIns="0" rIns="0" tIns="0" bIns="0" anchor="t">
            <a:spAutoFit/>
          </a:bodyPr>
          <a:lstStyle/>
          <a:p>
            <a:pPr algn="l">
              <a:lnSpc>
                <a:spcPct val="110000"/>
              </a:lnSpc>
              <a:spcAft>
                <a:spcPts val="700"/>
              </a:spcAft>
            </a:pPr>
            <a:r>
              <a:rPr sz="1200" b="0">
                <a:solidFill>
                  <a:srgbClr val="172033"/>
                </a:solidFill>
                <a:latin typeface="Arial"/>
              </a:rPr>
              <a:t>•  Human-written T0 only so far; LLM-written originals not yet analysed</a:t>
            </a:r>
          </a:p>
          <a:p>
            <a:pPr algn="l">
              <a:lnSpc>
                <a:spcPct val="110000"/>
              </a:lnSpc>
              <a:spcAft>
                <a:spcPts val="700"/>
              </a:spcAft>
            </a:pPr>
            <a:r>
              <a:rPr sz="1200" b="0">
                <a:solidFill>
                  <a:srgbClr val="172033"/>
                </a:solidFill>
                <a:latin typeface="Arial"/>
              </a:rPr>
              <a:t>•  Paraphrases are shorter, and short texts give noisier profiles — may inflate style distances</a:t>
            </a:r>
          </a:p>
          <a:p>
            <a:pPr algn="l">
              <a:lnSpc>
                <a:spcPct val="110000"/>
              </a:lnSpc>
              <a:spcAft>
                <a:spcPts val="700"/>
              </a:spcAft>
            </a:pPr>
            <a:r>
              <a:rPr sz="1200" b="0">
                <a:solidFill>
                  <a:srgbClr val="172033"/>
                </a:solidFill>
                <a:latin typeface="Arial"/>
              </a:rPr>
              <a:t>•  SBERT reads only the first 256 tokens of long documents</a:t>
            </a:r>
          </a:p>
          <a:p>
            <a:pPr algn="l">
              <a:lnSpc>
                <a:spcPct val="110000"/>
              </a:lnSpc>
              <a:spcAft>
                <a:spcPts val="700"/>
              </a:spcAft>
            </a:pPr>
            <a:r>
              <a:rPr sz="1200" b="0">
                <a:solidFill>
                  <a:srgbClr val="172033"/>
                </a:solidFill>
                <a:latin typeface="Arial"/>
              </a:rPr>
              <a:t>•  Small spaCy parser; heuristic syllable count for readability</a:t>
            </a:r>
          </a:p>
          <a:p>
            <a:pPr algn="l">
              <a:lnSpc>
                <a:spcPct val="110000"/>
              </a:lnSpc>
              <a:spcAft>
                <a:spcPts val="700"/>
              </a:spcAft>
            </a:pPr>
            <a:r>
              <a:rPr sz="1200" b="0">
                <a:solidFill>
                  <a:srgbClr val="172033"/>
                </a:solidFill>
                <a:latin typeface="Arial"/>
              </a:rPr>
              <a:t>•  DIPPER (high) chains unusable as released</a:t>
            </a:r>
          </a:p>
        </p:txBody>
      </p:sp>
      <p:sp>
        <p:nvSpPr>
          <p:cNvPr id="9" name="Rounded Rectangle 8"/>
          <p:cNvSpPr/>
          <p:nvPr/>
        </p:nvSpPr>
        <p:spPr>
          <a:xfrm>
            <a:off x="6263640" y="1417320"/>
            <a:ext cx="5394960" cy="4206240"/>
          </a:xfrm>
          <a:prstGeom prst="roundRect">
            <a:avLst>
              <a:gd name="adj" fmla="val 4000"/>
            </a:avLst>
          </a:prstGeom>
          <a:solidFill>
            <a:srgbClr val="F6F8FB"/>
          </a:solidFill>
          <a:ln w="9525">
            <a:solidFill>
              <a:srgbClr val="2E7D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63640" y="1417320"/>
            <a:ext cx="5394960" cy="73152"/>
          </a:xfrm>
          <a:prstGeom prst="roundRect">
            <a:avLst>
              <a:gd name="adj" fmla="val 50000"/>
            </a:avLst>
          </a:prstGeom>
          <a:solidFill>
            <a:srgbClr val="2E7D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91640"/>
            <a:ext cx="4937760" cy="274320"/>
          </a:xfrm>
          <a:prstGeom prst="rect">
            <a:avLst/>
          </a:prstGeom>
          <a:noFill/>
        </p:spPr>
        <p:txBody>
          <a:bodyPr wrap="square" lIns="0" rIns="0" tIns="0" bIns="0" anchor="t">
            <a:spAutoFit/>
          </a:bodyPr>
          <a:lstStyle/>
          <a:p>
            <a:pPr algn="l">
              <a:lnSpc>
                <a:spcPct val="110000"/>
              </a:lnSpc>
              <a:spcAft>
                <a:spcPts val="0"/>
              </a:spcAft>
            </a:pPr>
            <a:r>
              <a:rPr sz="975" b="1">
                <a:solidFill>
                  <a:srgbClr val="2E7D6A"/>
                </a:solidFill>
                <a:latin typeface="Arial"/>
              </a:rPr>
              <a:t>NEXT</a:t>
            </a:r>
          </a:p>
        </p:txBody>
      </p:sp>
      <p:sp>
        <p:nvSpPr>
          <p:cNvPr id="12" name="TextBox 11"/>
          <p:cNvSpPr txBox="1"/>
          <p:nvPr/>
        </p:nvSpPr>
        <p:spPr>
          <a:xfrm>
            <a:off x="6492240" y="2057400"/>
            <a:ext cx="4937760" cy="274320"/>
          </a:xfrm>
          <a:prstGeom prst="rect">
            <a:avLst/>
          </a:prstGeom>
          <a:noFill/>
        </p:spPr>
        <p:txBody>
          <a:bodyPr wrap="square" lIns="0" rIns="0" tIns="0" bIns="0" anchor="t">
            <a:spAutoFit/>
          </a:bodyPr>
          <a:lstStyle/>
          <a:p>
            <a:pPr algn="l">
              <a:lnSpc>
                <a:spcPct val="110000"/>
              </a:lnSpc>
              <a:spcAft>
                <a:spcPts val="0"/>
              </a:spcAft>
            </a:pPr>
            <a:r>
              <a:rPr sz="1350" b="1">
                <a:solidFill>
                  <a:srgbClr val="10243E"/>
                </a:solidFill>
                <a:latin typeface="Arial"/>
              </a:rPr>
              <a:t>Weeks 9–11 · RQ2</a:t>
            </a:r>
          </a:p>
        </p:txBody>
      </p:sp>
      <p:sp>
        <p:nvSpPr>
          <p:cNvPr id="13" name="TextBox 12"/>
          <p:cNvSpPr txBox="1"/>
          <p:nvPr/>
        </p:nvSpPr>
        <p:spPr>
          <a:xfrm>
            <a:off x="6492240" y="2386584"/>
            <a:ext cx="4937760" cy="822960"/>
          </a:xfrm>
          <a:prstGeom prst="rect">
            <a:avLst/>
          </a:prstGeom>
          <a:noFill/>
        </p:spPr>
        <p:txBody>
          <a:bodyPr wrap="square" lIns="0" rIns="0" tIns="0" bIns="0" anchor="t">
            <a:spAutoFit/>
          </a:bodyPr>
          <a:lstStyle/>
          <a:p>
            <a:pPr algn="l">
              <a:lnSpc>
                <a:spcPct val="110000"/>
              </a:lnSpc>
              <a:spcAft>
                <a:spcPts val="0"/>
              </a:spcAft>
            </a:pPr>
            <a:r>
              <a:rPr sz="1200" b="0">
                <a:solidFill>
                  <a:srgbClr val="5C6678"/>
                </a:solidFill>
                <a:latin typeface="Arial"/>
              </a:rPr>
              <a:t>Train stylometric SVM + RoBERTa on the train files; test on T0–T3; locate the point of no return per paraphraser</a:t>
            </a:r>
          </a:p>
        </p:txBody>
      </p:sp>
      <p:sp>
        <p:nvSpPr>
          <p:cNvPr id="14" name="TextBox 13"/>
          <p:cNvSpPr txBox="1"/>
          <p:nvPr/>
        </p:nvSpPr>
        <p:spPr>
          <a:xfrm>
            <a:off x="6492240" y="3337560"/>
            <a:ext cx="4937760" cy="274320"/>
          </a:xfrm>
          <a:prstGeom prst="rect">
            <a:avLst/>
          </a:prstGeom>
          <a:noFill/>
        </p:spPr>
        <p:txBody>
          <a:bodyPr wrap="square" lIns="0" rIns="0" tIns="0" bIns="0" anchor="t">
            <a:spAutoFit/>
          </a:bodyPr>
          <a:lstStyle/>
          <a:p>
            <a:pPr algn="l">
              <a:lnSpc>
                <a:spcPct val="110000"/>
              </a:lnSpc>
              <a:spcAft>
                <a:spcPts val="0"/>
              </a:spcAft>
            </a:pPr>
            <a:r>
              <a:rPr sz="1350" b="1">
                <a:solidFill>
                  <a:srgbClr val="10243E"/>
                </a:solidFill>
                <a:latin typeface="Arial"/>
              </a:rPr>
              <a:t>Weeks 10–12 · RQ3</a:t>
            </a:r>
          </a:p>
        </p:txBody>
      </p:sp>
      <p:sp>
        <p:nvSpPr>
          <p:cNvPr id="15" name="TextBox 14"/>
          <p:cNvSpPr txBox="1"/>
          <p:nvPr/>
        </p:nvSpPr>
        <p:spPr>
          <a:xfrm>
            <a:off x="6492240" y="3666744"/>
            <a:ext cx="4937760" cy="822960"/>
          </a:xfrm>
          <a:prstGeom prst="rect">
            <a:avLst/>
          </a:prstGeom>
          <a:noFill/>
        </p:spPr>
        <p:txBody>
          <a:bodyPr wrap="square" lIns="0" rIns="0" tIns="0" bIns="0" anchor="t">
            <a:spAutoFit/>
          </a:bodyPr>
          <a:lstStyle/>
          <a:p>
            <a:pPr algn="l">
              <a:lnSpc>
                <a:spcPct val="110000"/>
              </a:lnSpc>
              <a:spcAft>
                <a:spcPts val="0"/>
              </a:spcAft>
            </a:pPr>
            <a:r>
              <a:rPr sz="1200" b="0">
                <a:solidFill>
                  <a:srgbClr val="5C6678"/>
                </a:solidFill>
                <a:latin typeface="Arial"/>
              </a:rPr>
              <a:t>Paraphraser classifier on T1–T3 (key-level split); t-SNE trajectories with quantitative cluster measures</a:t>
            </a:r>
          </a:p>
        </p:txBody>
      </p:sp>
      <p:sp>
        <p:nvSpPr>
          <p:cNvPr id="16" name="TextBox 15"/>
          <p:cNvSpPr txBox="1"/>
          <p:nvPr/>
        </p:nvSpPr>
        <p:spPr>
          <a:xfrm>
            <a:off x="6492240" y="4617720"/>
            <a:ext cx="4937760" cy="274320"/>
          </a:xfrm>
          <a:prstGeom prst="rect">
            <a:avLst/>
          </a:prstGeom>
          <a:noFill/>
        </p:spPr>
        <p:txBody>
          <a:bodyPr wrap="square" lIns="0" rIns="0" tIns="0" bIns="0" anchor="t">
            <a:spAutoFit/>
          </a:bodyPr>
          <a:lstStyle/>
          <a:p>
            <a:pPr algn="l">
              <a:lnSpc>
                <a:spcPct val="110000"/>
              </a:lnSpc>
              <a:spcAft>
                <a:spcPts val="0"/>
              </a:spcAft>
            </a:pPr>
            <a:r>
              <a:rPr sz="1350" b="1">
                <a:solidFill>
                  <a:srgbClr val="10243E"/>
                </a:solidFill>
                <a:latin typeface="Arial"/>
              </a:rPr>
              <a:t>Weeks 13–14 · Synthesis</a:t>
            </a:r>
          </a:p>
        </p:txBody>
      </p:sp>
      <p:sp>
        <p:nvSpPr>
          <p:cNvPr id="17" name="TextBox 16"/>
          <p:cNvSpPr txBox="1"/>
          <p:nvPr/>
        </p:nvSpPr>
        <p:spPr>
          <a:xfrm>
            <a:off x="6492240" y="4946904"/>
            <a:ext cx="4937760" cy="822960"/>
          </a:xfrm>
          <a:prstGeom prst="rect">
            <a:avLst/>
          </a:prstGeom>
          <a:noFill/>
        </p:spPr>
        <p:txBody>
          <a:bodyPr wrap="square" lIns="0" rIns="0" tIns="0" bIns="0" anchor="t">
            <a:spAutoFit/>
          </a:bodyPr>
          <a:lstStyle/>
          <a:p>
            <a:pPr algn="l">
              <a:lnSpc>
                <a:spcPct val="110000"/>
              </a:lnSpc>
              <a:spcAft>
                <a:spcPts val="0"/>
              </a:spcAft>
            </a:pPr>
            <a:r>
              <a:rPr sz="1200" b="0">
                <a:solidFill>
                  <a:srgbClr val="5C6678"/>
                </a:solidFill>
                <a:latin typeface="Arial"/>
              </a:rPr>
              <a:t>Streamlit decay dashboard; final ACL-format paper</a:t>
            </a:r>
          </a:p>
        </p:txBody>
      </p:sp>
      <p:sp>
        <p:nvSpPr>
          <p:cNvPr id="18" name="TextBox 17"/>
          <p:cNvSpPr txBox="1"/>
          <p:nvPr/>
        </p:nvSpPr>
        <p:spPr>
          <a:xfrm>
            <a:off x="512064" y="6446520"/>
            <a:ext cx="11155680" cy="274320"/>
          </a:xfrm>
          <a:prstGeom prst="rect">
            <a:avLst/>
          </a:prstGeom>
          <a:noFill/>
        </p:spPr>
        <p:txBody>
          <a:bodyPr wrap="square" lIns="0" rIns="0" tIns="0" bIns="0" anchor="t">
            <a:spAutoFit/>
          </a:bodyPr>
          <a:lstStyle/>
          <a:p>
            <a:pPr algn="l">
              <a:lnSpc>
                <a:spcPct val="110000"/>
              </a:lnSpc>
              <a:spcAft>
                <a:spcPts val="0"/>
              </a:spcAft>
            </a:pPr>
            <a:r>
              <a:rPr sz="825" b="0">
                <a:solidFill>
                  <a:srgbClr val="5C6678"/>
                </a:solidFill>
                <a:latin typeface="Arial"/>
              </a:rPr>
              <a:t>Code, data pipeline and results: README.md · docs/weekly_progress.md · docs/final_checklist.md</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2026-09-22T04:42:44.8560000Z</dcterms:created>
  <dcterms:modified xsi:type="dcterms:W3CDTF">2026-09-22T04:42:44.8560000Z</dcterms:modified>
</coreProperties>
</file>