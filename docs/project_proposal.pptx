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b86c2fbf1645ea" /><Relationship Type="http://schemas.openxmlformats.org/officeDocument/2006/relationships/extended-properties" Target="/docProps/app.xml" Id="R66fb06660ea24dd9" /><Relationship Type="http://schemas.openxmlformats.org/officeDocument/2006/relationships/officeDocument" Target="/ppt/presentation.xml" Id="Rb1fcd6b80d114eb3" /></Relationships>
</file>

<file path=ppt/presentation.xml><?xml version="1.0" encoding="utf-8"?>
<p:presentation xmlns:p="http://schemas.openxmlformats.org/presentationml/2006/main">
  <p:sldMasterIdLst>
    <p:sldMasterId xmlns:r="http://schemas.openxmlformats.org/officeDocument/2006/relationships" id="2147483648" r:id="R79ba6280c39a471e"/>
  </p:sldMasterIdLst>
  <p:notesMasterIdLst>
    <p:notesMasterId xmlns:r="http://schemas.openxmlformats.org/officeDocument/2006/relationships" r:id="Rc7a13b35328f4bd3"/>
  </p:notesMasterIdLst>
  <p:sldIdLst>
    <p:sldId xmlns:r="http://schemas.openxmlformats.org/officeDocument/2006/relationships" id="256" r:id="Rf451839be7fd492a"/>
    <p:sldId xmlns:r="http://schemas.openxmlformats.org/officeDocument/2006/relationships" id="257" r:id="R7aba30933a1146b9"/>
    <p:sldId xmlns:r="http://schemas.openxmlformats.org/officeDocument/2006/relationships" id="258" r:id="Rb32f1469e4174102"/>
    <p:sldId xmlns:r="http://schemas.openxmlformats.org/officeDocument/2006/relationships" id="259" r:id="Rb43a73f957b34f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f22f25684e481b" /><Relationship Type="http://schemas.openxmlformats.org/officeDocument/2006/relationships/slideMaster" Target="/ppt/slideMasters/slideMaster1.xml" Id="R79ba6280c39a471e" /><Relationship Type="http://schemas.openxmlformats.org/officeDocument/2006/relationships/notesMaster" Target="/ppt/notesMasters/notesMaster1.xml" Id="Rc7a13b35328f4bd3" /><Relationship Type="http://schemas.openxmlformats.org/officeDocument/2006/relationships/presProps" Target="/ppt/presProps.xml" Id="R986a336f475e4240" /><Relationship Type="http://schemas.openxmlformats.org/officeDocument/2006/relationships/tableStyles" Target="/ppt/tableStyles.xml" Id="R9751b7a8ec4b4df9" /><Relationship Type="http://schemas.openxmlformats.org/officeDocument/2006/relationships/slide" Target="/ppt/slides/slide1.xml" Id="Rf451839be7fd492a" /><Relationship Type="http://schemas.openxmlformats.org/officeDocument/2006/relationships/slide" Target="/ppt/slides/slide2.xml" Id="R7aba30933a1146b9" /><Relationship Type="http://schemas.openxmlformats.org/officeDocument/2006/relationships/slide" Target="/ppt/slides/slide3.xml" Id="Rb32f1469e4174102" /><Relationship Type="http://schemas.openxmlformats.org/officeDocument/2006/relationships/slide" Target="/ppt/slides/slide4.xml" Id="Rb43a73f957b34f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919a4be54b44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d41a7243364379" /><Relationship Type="http://schemas.openxmlformats.org/officeDocument/2006/relationships/notesMaster" Target="/ppt/notesMasters/notesMaster1.xml" Id="R722b374cd04f4a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c196e7de60415d" /><Relationship Type="http://schemas.openxmlformats.org/officeDocument/2006/relationships/notesMaster" Target="/ppt/notesMasters/notesMaster1.xml" Id="Rd76aa14539624e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b016f848804747" /><Relationship Type="http://schemas.openxmlformats.org/officeDocument/2006/relationships/notesMaster" Target="/ppt/notesMasters/notesMaster1.xml" Id="R1302bcc6f69545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2be45a97f24135" /><Relationship Type="http://schemas.openxmlformats.org/officeDocument/2006/relationships/notesMaster" Target="/ppt/notesMasters/notesMaster1.xml" Id="Rc1b7737c828041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Ship of Theseus analogy. T0 is the original text, while T1 to T3 are successive AI paraphrases. The project asks whether meaning survives after the author's linguistic markers have been replaced. Replace the team-member placeholders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lexical overlap can decrease even when meaning remains similar. We will compare style and semantic decay across generations, identify the point where authorship attribution fails, and test whether each paraphraser leaves a recognizable fingerprint. The chart shows the expected relationship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corpus contains seven datasets and four paraphrasing systems. Every document follows a T0 to T3 lineage, which allows within-document decay analysis. We will begin with XSum and Yelp to validate the pipeline, then expand to the remaining datasets. Update the access-status sentence if the files have already been downloaded and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phases. Emphasize lineage preservation and leakage-safe splits early, then the distinction between feature profiling and attribution testing. The final phase combines the experimental evidence into the trajectory visualization, dashboard, reproducible code repository, and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eff5112c1e41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c8a1f0c29c4274" /><Relationship Type="http://schemas.openxmlformats.org/officeDocument/2006/relationships/slideLayout" Target="/ppt/slideLayouts/slideLayout1.xml" Id="Rd7359f672f5b44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359f672f5b44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c4aeec8a074956" /><Relationship Type="http://schemas.openxmlformats.org/officeDocument/2006/relationships/notesSlide" Target="/ppt/notesSlides/notesSlide1.xml" Id="R43eeba06358642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32c5d74cb74233" /><Relationship Type="http://schemas.openxmlformats.org/officeDocument/2006/relationships/chart" Target="/ppt/slides/charts/chart1.xml" Id="R5c6b4f06357444ba" /><Relationship Type="http://schemas.openxmlformats.org/officeDocument/2006/relationships/notesSlide" Target="/ppt/notesSlides/notesSlide2.xml" Id="R040ed8ebeb9d40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267c1422804c37" /><Relationship Type="http://schemas.openxmlformats.org/officeDocument/2006/relationships/notesSlide" Target="/ppt/notesSlides/notesSlide3.xml" Id="R709e1cfc1e0e4a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ca5ecc3e174486" /><Relationship Type="http://schemas.openxmlformats.org/officeDocument/2006/relationships/notesSlide" Target="/ppt/notesSlides/notesSlide4.xml" Id="Ra937e48785e743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Semantic similarity</c:v>
          </c:tx>
          <c:spPr>
            <a:ln xmlns:a="http://schemas.openxmlformats.org/drawingml/2006/main" w="38100">
              <a:solidFill>
                <a:srgbClr val="2E7D6A"/>
              </a:solidFill>
            </a:ln>
          </c:spPr>
          <c:marker>
            <c:size val="8"/>
            <c:spPr>
              <a:solidFill xmlns:a="http://schemas.openxmlformats.org/drawingml/2006/main">
                <a:srgbClr val="2E7D6A"/>
              </a:solidFill>
            </c:spPr>
          </c:marker>
          <c:cat>
            <c:strRef>
              <c:f>'Chart Data'!$A$2:$A$5</c:f>
              <c:strCache>
                <c:ptCount val="4"/>
                <c:pt idx="0">
                  <c:v>T0</c:v>
                </c:pt>
                <c:pt idx="1">
                  <c:v>T1</c:v>
                </c:pt>
                <c:pt idx="2">
                  <c:v>T2</c:v>
                </c:pt>
                <c:pt idx="3">
                  <c:v>T3</c:v>
                </c:pt>
              </c:strCache>
            </c:strRef>
          </c:cat>
          <c:val>
            <c:numRef>
              <c:f>'Chart Data'!$B$2:$B$5</c:f>
              <c:numCache>
                <c:formatCode>General</c:formatCode>
                <c:ptCount val="4"/>
                <c:pt idx="0">
                  <c:v>1</c:v>
                </c:pt>
                <c:pt idx="1">
                  <c:v>0.94</c:v>
                </c:pt>
                <c:pt idx="2">
                  <c:v>0.9</c:v>
                </c:pt>
                <c:pt idx="3">
                  <c:v>0.86</c:v>
                </c:pt>
              </c:numCache>
            </c:numRef>
          </c:val>
        </c:ser>
        <c:ser>
          <c:idx val="1"/>
          <c:order val="1"/>
          <c:tx>
            <c:v>Style similarity</c:v>
          </c:tx>
          <c:spPr>
            <a:ln xmlns:a="http://schemas.openxmlformats.org/drawingml/2006/main" w="38100">
              <a:solidFill>
                <a:srgbClr val="C85656"/>
              </a:solidFill>
            </a:ln>
          </c:spPr>
          <c:marker>
            <c:size val="8"/>
            <c:spPr>
              <a:solidFill xmlns:a="http://schemas.openxmlformats.org/drawingml/2006/main">
                <a:srgbClr val="C85656"/>
              </a:solidFill>
            </c:spPr>
          </c:marker>
          <c:cat>
            <c:strRef>
              <c:f>'Chart Data'!$C$2:$C$5</c:f>
              <c:strCache>
                <c:ptCount val="4"/>
                <c:pt idx="0">
                  <c:v>T0</c:v>
                </c:pt>
                <c:pt idx="1">
                  <c:v>T1</c:v>
                </c:pt>
                <c:pt idx="2">
                  <c:v>T2</c:v>
                </c:pt>
                <c:pt idx="3">
                  <c:v>T3</c:v>
                </c:pt>
              </c:strCache>
            </c:strRef>
          </c:cat>
          <c:val>
            <c:numRef>
              <c:f>'Chart Data'!$D$2:$D$5</c:f>
              <c:numCache>
                <c:formatCode>General</c:formatCode>
                <c:ptCount val="4"/>
                <c:pt idx="0">
                  <c:v>1</c:v>
                </c:pt>
                <c:pt idx="1">
                  <c:v>0.7</c:v>
                </c:pt>
                <c:pt idx="2">
                  <c:v>0.48</c:v>
                </c:pt>
                <c:pt idx="3">
                  <c:v>0.31</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C80D6F8-E449-4A2B-97A5-0665042180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F67C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BF13F4-AF83-4346-B61A-1A30A8659651}"/>
              </a:ext>
            </a:extLst>
          </p:cNvPr>
          <p:cNvSpPr>
            <a:spLocks xmlns:a="http://schemas.openxmlformats.org/drawingml/2006/main" noGrp="1"/>
          </p:cNvSpPr>
          <p:nvPr/>
        </p:nvSpPr>
        <p:spPr>
          <a:xfrm xmlns:a="http://schemas.openxmlformats.org/drawingml/2006/main">
            <a:off x="704850" y="52387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COMPUTATIONAL FORENSICS</a:t>
            </a:r>
          </a:p>
        </p:txBody>
      </p:sp>
      <p:sp>
        <p:nvSpPr>
          <p:cNvPr id="3" name="">
            <a:extLst xmlns:a="http://schemas.openxmlformats.org/drawingml/2006/main">
              <a:ext uri="{FF2B5EF4-FFF2-40B4-BE49-F238E27FC236}">
                <a16:creationId xmlns:a16="http://schemas.microsoft.com/office/drawing/2014/main" id="{CAC40D9B-1174-47B3-ADB8-14A61B9C228A}"/>
              </a:ext>
            </a:extLst>
          </p:cNvPr>
          <p:cNvSpPr>
            <a:spLocks xmlns:a="http://schemas.openxmlformats.org/drawingml/2006/main" noGrp="1"/>
          </p:cNvSpPr>
          <p:nvPr/>
        </p:nvSpPr>
        <p:spPr>
          <a:xfrm xmlns:a="http://schemas.openxmlformats.org/drawingml/2006/main">
            <a:off x="685800" y="904875"/>
            <a:ext cx="6191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450" b="1">
                <a:solidFill>
                  <a:srgbClr val="10243E"/>
                </a:solidFill>
                <a:latin typeface="DejaVu Sans"/>
                <a:ea typeface="DejaVu Sans"/>
                <a:cs typeface="DejaVu Sans"/>
              </a:defRPr>
            </a:pPr>
            <a:r>
              <a:rPr sz="3450" b="1">
                <a:solidFill>
                  <a:srgbClr val="10243E"/>
                </a:solidFill>
                <a:latin typeface="DejaVu Sans"/>
                <a:ea typeface="DejaVu Sans"/>
                <a:cs typeface="DejaVu Sans"/>
              </a:rPr>
              <a:t>The Paradox of</a:t>
            </a:r>
          </a:p>
          <a:p xmlns:a="http://schemas.openxmlformats.org/drawingml/2006/main">
            <a:pPr>
              <a:defRPr sz="3450" b="1">
                <a:solidFill>
                  <a:srgbClr val="10243E"/>
                </a:solidFill>
                <a:latin typeface="DejaVu Sans"/>
                <a:ea typeface="DejaVu Sans"/>
                <a:cs typeface="DejaVu Sans"/>
              </a:defRPr>
            </a:pPr>
            <a:r>
              <a:rPr sz="3450" b="1">
                <a:solidFill>
                  <a:srgbClr val="10243E"/>
                </a:solidFill>
                <a:latin typeface="DejaVu Sans"/>
                <a:ea typeface="DejaVu Sans"/>
                <a:cs typeface="DejaVu Sans"/>
              </a:rPr>
              <a:t>Authorial Identity</a:t>
            </a:r>
          </a:p>
        </p:txBody>
      </p:sp>
      <p:sp>
        <p:nvSpPr>
          <p:cNvPr id="4" name="">
            <a:extLst xmlns:a="http://schemas.openxmlformats.org/drawingml/2006/main">
              <a:ext uri="{FF2B5EF4-FFF2-40B4-BE49-F238E27FC236}">
                <a16:creationId xmlns:a16="http://schemas.microsoft.com/office/drawing/2014/main" id="{6A78F656-1996-41CA-9F33-EFC0E9EE3857}"/>
              </a:ext>
            </a:extLst>
          </p:cNvPr>
          <p:cNvSpPr>
            <a:spLocks xmlns:a="http://schemas.openxmlformats.org/drawingml/2006/main" noGrp="1"/>
          </p:cNvSpPr>
          <p:nvPr/>
        </p:nvSpPr>
        <p:spPr>
          <a:xfrm xmlns:a="http://schemas.openxmlformats.org/drawingml/2006/main">
            <a:off x="723900" y="24193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5C6678"/>
                </a:solidFill>
                <a:latin typeface="DejaVu Sans"/>
                <a:ea typeface="DejaVu Sans"/>
                <a:cs typeface="DejaVu Sans"/>
              </a:defRPr>
            </a:pPr>
            <a:r>
              <a:rPr sz="1575" b="0">
                <a:solidFill>
                  <a:srgbClr val="5C6678"/>
                </a:solidFill>
                <a:latin typeface="DejaVu Sans"/>
                <a:ea typeface="DejaVu Sans"/>
                <a:cs typeface="DejaVu Sans"/>
              </a:rPr>
              <a:t>Measuring how repeated AI paraphrasing preserves meaning while erasing stylistic identity</a:t>
            </a:r>
          </a:p>
        </p:txBody>
      </p:sp>
      <p:sp>
        <p:nvSpPr>
          <p:cNvPr id="5" name="">
            <a:extLst xmlns:a="http://schemas.openxmlformats.org/drawingml/2006/main">
              <a:ext uri="{FF2B5EF4-FFF2-40B4-BE49-F238E27FC236}">
                <a16:creationId xmlns:a16="http://schemas.microsoft.com/office/drawing/2014/main" id="{D96F8A1B-6D11-469B-8869-A27FFDD524F0}"/>
              </a:ext>
            </a:extLst>
          </p:cNvPr>
          <p:cNvSpPr>
            <a:spLocks xmlns:a="http://schemas.openxmlformats.org/drawingml/2006/main" noGrp="1"/>
          </p:cNvSpPr>
          <p:nvPr/>
        </p:nvSpPr>
        <p:spPr>
          <a:xfrm xmlns:a="http://schemas.openxmlformats.org/drawingml/2006/main">
            <a:off x="7067550" y="1104900"/>
            <a:ext cx="876300" cy="876300"/>
          </a:xfrm>
          <a:prstGeom xmlns:a="http://schemas.openxmlformats.org/drawingml/2006/main" prst="roundRect">
            <a:avLst>
              <a:gd name="adj" fmla="val 8696"/>
            </a:avLst>
          </a:prstGeom>
          <a:solidFill xmlns:a="http://schemas.openxmlformats.org/drawingml/2006/main">
            <a:srgbClr val="10243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2AD3BA-2E47-4BDB-AECB-D772C85FAD3D}"/>
              </a:ext>
            </a:extLst>
          </p:cNvPr>
          <p:cNvSpPr>
            <a:spLocks xmlns:a="http://schemas.openxmlformats.org/drawingml/2006/main" noGrp="1"/>
          </p:cNvSpPr>
          <p:nvPr/>
        </p:nvSpPr>
        <p:spPr>
          <a:xfrm xmlns:a="http://schemas.openxmlformats.org/drawingml/2006/main">
            <a:off x="7067550" y="12382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T0</a:t>
            </a:r>
          </a:p>
        </p:txBody>
      </p:sp>
      <p:sp>
        <p:nvSpPr>
          <p:cNvPr id="7" name="">
            <a:extLst xmlns:a="http://schemas.openxmlformats.org/drawingml/2006/main">
              <a:ext uri="{FF2B5EF4-FFF2-40B4-BE49-F238E27FC236}">
                <a16:creationId xmlns:a16="http://schemas.microsoft.com/office/drawing/2014/main" id="{BEC73D89-A098-40AF-B68B-6FA63BD06A9C}"/>
              </a:ext>
            </a:extLst>
          </p:cNvPr>
          <p:cNvSpPr>
            <a:spLocks xmlns:a="http://schemas.openxmlformats.org/drawingml/2006/main" noGrp="1"/>
          </p:cNvSpPr>
          <p:nvPr/>
        </p:nvSpPr>
        <p:spPr>
          <a:xfrm xmlns:a="http://schemas.openxmlformats.org/drawingml/2006/main">
            <a:off x="6972300" y="2057400"/>
            <a:ext cx="106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Human original</a:t>
            </a:r>
          </a:p>
        </p:txBody>
      </p:sp>
      <p:sp>
        <p:nvSpPr>
          <p:cNvPr id="8" name="">
            <a:extLst xmlns:a="http://schemas.openxmlformats.org/drawingml/2006/main">
              <a:ext uri="{FF2B5EF4-FFF2-40B4-BE49-F238E27FC236}">
                <a16:creationId xmlns:a16="http://schemas.microsoft.com/office/drawing/2014/main" id="{B30A7C5F-E74F-4017-B722-A2FCED2DFBA4}"/>
              </a:ext>
            </a:extLst>
          </p:cNvPr>
          <p:cNvSpPr>
            <a:spLocks xmlns:a="http://schemas.openxmlformats.org/drawingml/2006/main" noGrp="1"/>
          </p:cNvSpPr>
          <p:nvPr/>
        </p:nvSpPr>
        <p:spPr>
          <a:xfrm xmlns:a="http://schemas.openxmlformats.org/drawingml/2006/main">
            <a:off x="7943850" y="1333500"/>
            <a:ext cx="247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4585"/>
          </a:bodyPr>
          <a:lstStyle xmlns:a="http://schemas.openxmlformats.org/drawingml/2006/main"/>
          <a:p xmlns:a="http://schemas.openxmlformats.org/drawingml/2006/main">
            <a:pPr>
              <a:defRPr sz="2250" b="1">
                <a:solidFill>
                  <a:srgbClr val="D8A33A"/>
                </a:solidFill>
                <a:latin typeface="DejaVu Sans"/>
                <a:ea typeface="DejaVu Sans"/>
                <a:cs typeface="DejaVu Sans"/>
              </a:defRPr>
            </a:pPr>
            <a:r>
              <a:rPr sz="2250" b="1">
                <a:solidFill>
                  <a:srgbClr val="D8A33A"/>
                </a:solidFill>
                <a:latin typeface="DejaVu Sans"/>
                <a:ea typeface="DejaVu Sans"/>
                <a:cs typeface="DejaVu Sans"/>
              </a:rPr>
              <a:t>›</a:t>
            </a:r>
          </a:p>
        </p:txBody>
      </p:sp>
      <p:sp>
        <p:nvSpPr>
          <p:cNvPr id="9" name="">
            <a:extLst xmlns:a="http://schemas.openxmlformats.org/drawingml/2006/main">
              <a:ext uri="{FF2B5EF4-FFF2-40B4-BE49-F238E27FC236}">
                <a16:creationId xmlns:a16="http://schemas.microsoft.com/office/drawing/2014/main" id="{F97FC959-A93A-4D5F-81D2-8CA3847ED497}"/>
              </a:ext>
            </a:extLst>
          </p:cNvPr>
          <p:cNvSpPr>
            <a:spLocks xmlns:a="http://schemas.openxmlformats.org/drawingml/2006/main" noGrp="1"/>
          </p:cNvSpPr>
          <p:nvPr/>
        </p:nvSpPr>
        <p:spPr>
          <a:xfrm xmlns:a="http://schemas.openxmlformats.org/drawingml/2006/main">
            <a:off x="8191500" y="1314450"/>
            <a:ext cx="876300" cy="876300"/>
          </a:xfrm>
          <a:prstGeom xmlns:a="http://schemas.openxmlformats.org/drawingml/2006/main" prst="roundRect">
            <a:avLst>
              <a:gd name="adj" fmla="val 8696"/>
            </a:avLst>
          </a:prstGeom>
          <a:solidFill xmlns:a="http://schemas.openxmlformats.org/drawingml/2006/main">
            <a:srgbClr val="2F67C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5386A9C-C29E-4C96-9B1E-70276156C1E6}"/>
              </a:ext>
            </a:extLst>
          </p:cNvPr>
          <p:cNvSpPr>
            <a:spLocks xmlns:a="http://schemas.openxmlformats.org/drawingml/2006/main" noGrp="1"/>
          </p:cNvSpPr>
          <p:nvPr/>
        </p:nvSpPr>
        <p:spPr>
          <a:xfrm xmlns:a="http://schemas.openxmlformats.org/drawingml/2006/main">
            <a:off x="8191500" y="144780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T1</a:t>
            </a:r>
          </a:p>
        </p:txBody>
      </p:sp>
      <p:sp>
        <p:nvSpPr>
          <p:cNvPr id="11" name="">
            <a:extLst xmlns:a="http://schemas.openxmlformats.org/drawingml/2006/main">
              <a:ext uri="{FF2B5EF4-FFF2-40B4-BE49-F238E27FC236}">
                <a16:creationId xmlns:a16="http://schemas.microsoft.com/office/drawing/2014/main" id="{6DDA605F-05E7-49BC-9112-5250B1C7BD39}"/>
              </a:ext>
            </a:extLst>
          </p:cNvPr>
          <p:cNvSpPr>
            <a:spLocks xmlns:a="http://schemas.openxmlformats.org/drawingml/2006/main" noGrp="1"/>
          </p:cNvSpPr>
          <p:nvPr/>
        </p:nvSpPr>
        <p:spPr>
          <a:xfrm xmlns:a="http://schemas.openxmlformats.org/drawingml/2006/main">
            <a:off x="8096250" y="2266950"/>
            <a:ext cx="106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First paraphrase</a:t>
            </a:r>
          </a:p>
        </p:txBody>
      </p:sp>
      <p:sp>
        <p:nvSpPr>
          <p:cNvPr id="12" name="">
            <a:extLst xmlns:a="http://schemas.openxmlformats.org/drawingml/2006/main">
              <a:ext uri="{FF2B5EF4-FFF2-40B4-BE49-F238E27FC236}">
                <a16:creationId xmlns:a16="http://schemas.microsoft.com/office/drawing/2014/main" id="{E91EF539-A699-45B5-B5F0-4FB7B4B8375B}"/>
              </a:ext>
            </a:extLst>
          </p:cNvPr>
          <p:cNvSpPr>
            <a:spLocks xmlns:a="http://schemas.openxmlformats.org/drawingml/2006/main" noGrp="1"/>
          </p:cNvSpPr>
          <p:nvPr/>
        </p:nvSpPr>
        <p:spPr>
          <a:xfrm xmlns:a="http://schemas.openxmlformats.org/drawingml/2006/main">
            <a:off x="9067800" y="1543050"/>
            <a:ext cx="247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4585"/>
          </a:bodyPr>
          <a:lstStyle xmlns:a="http://schemas.openxmlformats.org/drawingml/2006/main"/>
          <a:p xmlns:a="http://schemas.openxmlformats.org/drawingml/2006/main">
            <a:pPr>
              <a:defRPr sz="2250" b="1">
                <a:solidFill>
                  <a:srgbClr val="D8A33A"/>
                </a:solidFill>
                <a:latin typeface="DejaVu Sans"/>
                <a:ea typeface="DejaVu Sans"/>
                <a:cs typeface="DejaVu Sans"/>
              </a:defRPr>
            </a:pPr>
            <a:r>
              <a:rPr sz="2250" b="1">
                <a:solidFill>
                  <a:srgbClr val="D8A33A"/>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8AC96E7C-9052-4E0F-806F-B55CD4AC1245}"/>
              </a:ext>
            </a:extLst>
          </p:cNvPr>
          <p:cNvSpPr>
            <a:spLocks xmlns:a="http://schemas.openxmlformats.org/drawingml/2006/main" noGrp="1"/>
          </p:cNvSpPr>
          <p:nvPr/>
        </p:nvSpPr>
        <p:spPr>
          <a:xfrm xmlns:a="http://schemas.openxmlformats.org/drawingml/2006/main">
            <a:off x="9315450" y="1524000"/>
            <a:ext cx="876300" cy="876300"/>
          </a:xfrm>
          <a:prstGeom xmlns:a="http://schemas.openxmlformats.org/drawingml/2006/main" prst="roundRect">
            <a:avLst>
              <a:gd name="adj" fmla="val 8696"/>
            </a:avLst>
          </a:prstGeom>
          <a:solidFill xmlns:a="http://schemas.openxmlformats.org/drawingml/2006/main">
            <a:srgbClr val="5C88D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B5A55E-AA4A-4F17-B6DB-218B0BD5A3F7}"/>
              </a:ext>
            </a:extLst>
          </p:cNvPr>
          <p:cNvSpPr>
            <a:spLocks xmlns:a="http://schemas.openxmlformats.org/drawingml/2006/main" noGrp="1"/>
          </p:cNvSpPr>
          <p:nvPr/>
        </p:nvSpPr>
        <p:spPr>
          <a:xfrm xmlns:a="http://schemas.openxmlformats.org/drawingml/2006/main">
            <a:off x="9315450" y="16573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T2</a:t>
            </a:r>
          </a:p>
        </p:txBody>
      </p:sp>
      <p:sp>
        <p:nvSpPr>
          <p:cNvPr id="15" name="">
            <a:extLst xmlns:a="http://schemas.openxmlformats.org/drawingml/2006/main">
              <a:ext uri="{FF2B5EF4-FFF2-40B4-BE49-F238E27FC236}">
                <a16:creationId xmlns:a16="http://schemas.microsoft.com/office/drawing/2014/main" id="{BA96887C-B9B4-4DA2-A0C5-00C22D18C7F5}"/>
              </a:ext>
            </a:extLst>
          </p:cNvPr>
          <p:cNvSpPr>
            <a:spLocks xmlns:a="http://schemas.openxmlformats.org/drawingml/2006/main" noGrp="1"/>
          </p:cNvSpPr>
          <p:nvPr/>
        </p:nvSpPr>
        <p:spPr>
          <a:xfrm xmlns:a="http://schemas.openxmlformats.org/drawingml/2006/main">
            <a:off x="9220200" y="2476500"/>
            <a:ext cx="106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Second paraphrase</a:t>
            </a:r>
          </a:p>
        </p:txBody>
      </p:sp>
      <p:sp>
        <p:nvSpPr>
          <p:cNvPr id="16" name="">
            <a:extLst xmlns:a="http://schemas.openxmlformats.org/drawingml/2006/main">
              <a:ext uri="{FF2B5EF4-FFF2-40B4-BE49-F238E27FC236}">
                <a16:creationId xmlns:a16="http://schemas.microsoft.com/office/drawing/2014/main" id="{9251911C-B222-4BB3-9230-3ECB45E5385D}"/>
              </a:ext>
            </a:extLst>
          </p:cNvPr>
          <p:cNvSpPr>
            <a:spLocks xmlns:a="http://schemas.openxmlformats.org/drawingml/2006/main" noGrp="1"/>
          </p:cNvSpPr>
          <p:nvPr/>
        </p:nvSpPr>
        <p:spPr>
          <a:xfrm xmlns:a="http://schemas.openxmlformats.org/drawingml/2006/main">
            <a:off x="10191750" y="1752600"/>
            <a:ext cx="247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4585"/>
          </a:bodyPr>
          <a:lstStyle xmlns:a="http://schemas.openxmlformats.org/drawingml/2006/main"/>
          <a:p xmlns:a="http://schemas.openxmlformats.org/drawingml/2006/main">
            <a:pPr>
              <a:defRPr sz="2250" b="1">
                <a:solidFill>
                  <a:srgbClr val="D8A33A"/>
                </a:solidFill>
                <a:latin typeface="DejaVu Sans"/>
                <a:ea typeface="DejaVu Sans"/>
                <a:cs typeface="DejaVu Sans"/>
              </a:defRPr>
            </a:pPr>
            <a:r>
              <a:rPr sz="2250" b="1">
                <a:solidFill>
                  <a:srgbClr val="D8A33A"/>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C2D821B0-D24C-4580-A3B7-31A1E680DC21}"/>
              </a:ext>
            </a:extLst>
          </p:cNvPr>
          <p:cNvSpPr>
            <a:spLocks xmlns:a="http://schemas.openxmlformats.org/drawingml/2006/main" noGrp="1"/>
          </p:cNvSpPr>
          <p:nvPr/>
        </p:nvSpPr>
        <p:spPr>
          <a:xfrm xmlns:a="http://schemas.openxmlformats.org/drawingml/2006/main">
            <a:off x="10439400" y="1733550"/>
            <a:ext cx="876300" cy="876300"/>
          </a:xfrm>
          <a:prstGeom xmlns:a="http://schemas.openxmlformats.org/drawingml/2006/main" prst="roundRect">
            <a:avLst>
              <a:gd name="adj" fmla="val 8696"/>
            </a:avLst>
          </a:prstGeom>
          <a:solidFill xmlns:a="http://schemas.openxmlformats.org/drawingml/2006/main">
            <a:srgbClr val="8FAED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F5A9528-0AAC-47C2-A5A9-AA55255E995E}"/>
              </a:ext>
            </a:extLst>
          </p:cNvPr>
          <p:cNvSpPr>
            <a:spLocks xmlns:a="http://schemas.openxmlformats.org/drawingml/2006/main" noGrp="1"/>
          </p:cNvSpPr>
          <p:nvPr/>
        </p:nvSpPr>
        <p:spPr>
          <a:xfrm xmlns:a="http://schemas.openxmlformats.org/drawingml/2006/main">
            <a:off x="10439400" y="186690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T3</a:t>
            </a:r>
          </a:p>
        </p:txBody>
      </p:sp>
      <p:sp>
        <p:nvSpPr>
          <p:cNvPr id="19" name="">
            <a:extLst xmlns:a="http://schemas.openxmlformats.org/drawingml/2006/main">
              <a:ext uri="{FF2B5EF4-FFF2-40B4-BE49-F238E27FC236}">
                <a16:creationId xmlns:a16="http://schemas.microsoft.com/office/drawing/2014/main" id="{487637EB-4810-4D4C-B9F4-47E89F75E6D7}"/>
              </a:ext>
            </a:extLst>
          </p:cNvPr>
          <p:cNvSpPr>
            <a:spLocks xmlns:a="http://schemas.openxmlformats.org/drawingml/2006/main" noGrp="1"/>
          </p:cNvSpPr>
          <p:nvPr/>
        </p:nvSpPr>
        <p:spPr>
          <a:xfrm xmlns:a="http://schemas.openxmlformats.org/drawingml/2006/main">
            <a:off x="10344150" y="2686050"/>
            <a:ext cx="106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Third paraphrase</a:t>
            </a:r>
          </a:p>
        </p:txBody>
      </p:sp>
      <p:sp>
        <p:nvSpPr>
          <p:cNvPr id="20" name="">
            <a:extLst xmlns:a="http://schemas.openxmlformats.org/drawingml/2006/main">
              <a:ext uri="{FF2B5EF4-FFF2-40B4-BE49-F238E27FC236}">
                <a16:creationId xmlns:a16="http://schemas.microsoft.com/office/drawing/2014/main" id="{1526F5D1-5FB8-4818-92AB-421CD494C79E}"/>
              </a:ext>
            </a:extLst>
          </p:cNvPr>
          <p:cNvSpPr>
            <a:spLocks xmlns:a="http://schemas.openxmlformats.org/drawingml/2006/main" noGrp="1"/>
          </p:cNvSpPr>
          <p:nvPr/>
        </p:nvSpPr>
        <p:spPr>
          <a:xfrm xmlns:a="http://schemas.openxmlformats.org/drawingml/2006/main">
            <a:off x="7239000" y="371475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92"/>
          </a:bodyPr>
          <a:lstStyle xmlns:a="http://schemas.openxmlformats.org/drawingml/2006/main"/>
          <a:p xmlns:a="http://schemas.openxmlformats.org/drawingml/2006/main">
            <a:pPr>
              <a:defRPr sz="1425" b="1">
                <a:solidFill>
                  <a:srgbClr val="2E7D6A"/>
                </a:solidFill>
                <a:latin typeface="DejaVu Sans"/>
                <a:ea typeface="DejaVu Sans"/>
                <a:cs typeface="DejaVu Sans"/>
              </a:defRPr>
            </a:pPr>
            <a:r>
              <a:rPr sz="1425" b="1">
                <a:solidFill>
                  <a:srgbClr val="2E7D6A"/>
                </a:solidFill>
                <a:latin typeface="DejaVu Sans"/>
                <a:ea typeface="DejaVu Sans"/>
                <a:cs typeface="DejaVu Sans"/>
              </a:rPr>
              <a:t>Meaning remains</a:t>
            </a:r>
          </a:p>
        </p:txBody>
      </p:sp>
      <p:sp>
        <p:nvSpPr>
          <p:cNvPr id="21" name="">
            <a:extLst xmlns:a="http://schemas.openxmlformats.org/drawingml/2006/main">
              <a:ext uri="{FF2B5EF4-FFF2-40B4-BE49-F238E27FC236}">
                <a16:creationId xmlns:a16="http://schemas.microsoft.com/office/drawing/2014/main" id="{94FEC879-99D1-4FEB-B191-EE5D1F11E925}"/>
              </a:ext>
            </a:extLst>
          </p:cNvPr>
          <p:cNvSpPr>
            <a:spLocks xmlns:a="http://schemas.openxmlformats.org/drawingml/2006/main" noGrp="1"/>
          </p:cNvSpPr>
          <p:nvPr/>
        </p:nvSpPr>
        <p:spPr>
          <a:xfrm xmlns:a="http://schemas.openxmlformats.org/drawingml/2006/main">
            <a:off x="7239000" y="4095750"/>
            <a:ext cx="3048000" cy="66675"/>
          </a:xfrm>
          <a:prstGeom xmlns:a="http://schemas.openxmlformats.org/drawingml/2006/main" prst="roundRect">
            <a:avLst>
              <a:gd name="adj" fmla="val 50000"/>
            </a:avLst>
          </a:prstGeom>
          <a:solidFill xmlns:a="http://schemas.openxmlformats.org/drawingml/2006/main">
            <a:srgbClr val="2E7D6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797F825-E95B-408A-B467-324D83334D50}"/>
              </a:ext>
            </a:extLst>
          </p:cNvPr>
          <p:cNvSpPr>
            <a:spLocks xmlns:a="http://schemas.openxmlformats.org/drawingml/2006/main" noGrp="1"/>
          </p:cNvSpPr>
          <p:nvPr/>
        </p:nvSpPr>
        <p:spPr>
          <a:xfrm xmlns:a="http://schemas.openxmlformats.org/drawingml/2006/main">
            <a:off x="7239000" y="443865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C85656"/>
                </a:solidFill>
                <a:latin typeface="DejaVu Sans"/>
                <a:ea typeface="DejaVu Sans"/>
                <a:cs typeface="DejaVu Sans"/>
              </a:defRPr>
            </a:pPr>
            <a:r>
              <a:rPr sz="1425" b="1">
                <a:solidFill>
                  <a:srgbClr val="C85656"/>
                </a:solidFill>
                <a:latin typeface="DejaVu Sans"/>
                <a:ea typeface="DejaVu Sans"/>
                <a:cs typeface="DejaVu Sans"/>
              </a:rPr>
              <a:t>Style changes</a:t>
            </a:r>
          </a:p>
        </p:txBody>
      </p:sp>
      <p:sp>
        <p:nvSpPr>
          <p:cNvPr id="23" name="">
            <a:extLst xmlns:a="http://schemas.openxmlformats.org/drawingml/2006/main">
              <a:ext uri="{FF2B5EF4-FFF2-40B4-BE49-F238E27FC236}">
                <a16:creationId xmlns:a16="http://schemas.microsoft.com/office/drawing/2014/main" id="{728825C9-DD77-466F-88A2-AE3C4D03AF8A}"/>
              </a:ext>
            </a:extLst>
          </p:cNvPr>
          <p:cNvSpPr>
            <a:spLocks xmlns:a="http://schemas.openxmlformats.org/drawingml/2006/main" noGrp="1"/>
          </p:cNvSpPr>
          <p:nvPr/>
        </p:nvSpPr>
        <p:spPr>
          <a:xfrm xmlns:a="http://schemas.openxmlformats.org/drawingml/2006/main">
            <a:off x="7239000" y="4819650"/>
            <a:ext cx="457200" cy="66675"/>
          </a:xfrm>
          <a:prstGeom xmlns:a="http://schemas.openxmlformats.org/drawingml/2006/main" prst="roundRect">
            <a:avLst>
              <a:gd name="adj" fmla="val 50000"/>
            </a:avLst>
          </a:prstGeom>
          <a:solidFill xmlns:a="http://schemas.openxmlformats.org/drawingml/2006/main">
            <a:srgbClr val="C8565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307B127-0322-4E04-A276-951ABCFB5A51}"/>
              </a:ext>
            </a:extLst>
          </p:cNvPr>
          <p:cNvSpPr>
            <a:spLocks xmlns:a="http://schemas.openxmlformats.org/drawingml/2006/main" noGrp="1"/>
          </p:cNvSpPr>
          <p:nvPr/>
        </p:nvSpPr>
        <p:spPr>
          <a:xfrm xmlns:a="http://schemas.openxmlformats.org/drawingml/2006/main">
            <a:off x="7867650" y="4819650"/>
            <a:ext cx="409575" cy="66675"/>
          </a:xfrm>
          <a:prstGeom xmlns:a="http://schemas.openxmlformats.org/drawingml/2006/main" prst="roundRect">
            <a:avLst>
              <a:gd name="adj" fmla="val 50000"/>
            </a:avLst>
          </a:prstGeom>
          <a:solidFill xmlns:a="http://schemas.openxmlformats.org/drawingml/2006/main">
            <a:srgbClr val="C8565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BACA757-EE3B-4FC7-AAFE-6C1AA536B0B0}"/>
              </a:ext>
            </a:extLst>
          </p:cNvPr>
          <p:cNvSpPr>
            <a:spLocks xmlns:a="http://schemas.openxmlformats.org/drawingml/2006/main" noGrp="1"/>
          </p:cNvSpPr>
          <p:nvPr/>
        </p:nvSpPr>
        <p:spPr>
          <a:xfrm xmlns:a="http://schemas.openxmlformats.org/drawingml/2006/main">
            <a:off x="8496300" y="4819650"/>
            <a:ext cx="361950" cy="66675"/>
          </a:xfrm>
          <a:prstGeom xmlns:a="http://schemas.openxmlformats.org/drawingml/2006/main" prst="roundRect">
            <a:avLst>
              <a:gd name="adj" fmla="val 50000"/>
            </a:avLst>
          </a:prstGeom>
          <a:solidFill xmlns:a="http://schemas.openxmlformats.org/drawingml/2006/main">
            <a:srgbClr val="E8B8B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6BF21F5-DF99-41F7-A591-ED81486DD53A}"/>
              </a:ext>
            </a:extLst>
          </p:cNvPr>
          <p:cNvSpPr>
            <a:spLocks xmlns:a="http://schemas.openxmlformats.org/drawingml/2006/main" noGrp="1"/>
          </p:cNvSpPr>
          <p:nvPr/>
        </p:nvSpPr>
        <p:spPr>
          <a:xfrm xmlns:a="http://schemas.openxmlformats.org/drawingml/2006/main">
            <a:off x="9124950" y="4819650"/>
            <a:ext cx="314325" cy="66675"/>
          </a:xfrm>
          <a:prstGeom xmlns:a="http://schemas.openxmlformats.org/drawingml/2006/main" prst="roundRect">
            <a:avLst>
              <a:gd name="adj" fmla="val 50000"/>
            </a:avLst>
          </a:prstGeom>
          <a:solidFill xmlns:a="http://schemas.openxmlformats.org/drawingml/2006/main">
            <a:srgbClr val="E8B8B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D64F03B-DF84-4627-807C-F3775A5AC6F6}"/>
              </a:ext>
            </a:extLst>
          </p:cNvPr>
          <p:cNvSpPr>
            <a:spLocks xmlns:a="http://schemas.openxmlformats.org/drawingml/2006/main" noGrp="1"/>
          </p:cNvSpPr>
          <p:nvPr/>
        </p:nvSpPr>
        <p:spPr>
          <a:xfrm xmlns:a="http://schemas.openxmlformats.org/drawingml/2006/main">
            <a:off x="9753600" y="4819650"/>
            <a:ext cx="266700" cy="66675"/>
          </a:xfrm>
          <a:prstGeom xmlns:a="http://schemas.openxmlformats.org/drawingml/2006/main" prst="roundRect">
            <a:avLst>
              <a:gd name="adj" fmla="val 50000"/>
            </a:avLst>
          </a:prstGeom>
          <a:solidFill xmlns:a="http://schemas.openxmlformats.org/drawingml/2006/main">
            <a:srgbClr val="E8B8B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07AA0B8-279E-4BCF-B266-40F7599C1513}"/>
              </a:ext>
            </a:extLst>
          </p:cNvPr>
          <p:cNvSpPr>
            <a:spLocks xmlns:a="http://schemas.openxmlformats.org/drawingml/2006/main" noGrp="1"/>
          </p:cNvSpPr>
          <p:nvPr/>
        </p:nvSpPr>
        <p:spPr>
          <a:xfrm xmlns:a="http://schemas.openxmlformats.org/drawingml/2006/main">
            <a:off x="723900" y="539115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F67C7"/>
                </a:solidFill>
                <a:latin typeface="DejaVu Sans"/>
                <a:ea typeface="DejaVu Sans"/>
                <a:cs typeface="DejaVu Sans"/>
              </a:defRPr>
            </a:pPr>
            <a:r>
              <a:rPr sz="975" b="1">
                <a:solidFill>
                  <a:srgbClr val="2F67C7"/>
                </a:solidFill>
                <a:latin typeface="DejaVu Sans"/>
                <a:ea typeface="DejaVu Sans"/>
                <a:cs typeface="DejaVu Sans"/>
              </a:rPr>
              <a:t>TEAM</a:t>
            </a:r>
          </a:p>
        </p:txBody>
      </p:sp>
      <p:sp>
        <p:nvSpPr>
          <p:cNvPr id="29" name="">
            <a:extLst xmlns:a="http://schemas.openxmlformats.org/drawingml/2006/main">
              <a:ext uri="{FF2B5EF4-FFF2-40B4-BE49-F238E27FC236}">
                <a16:creationId xmlns:a16="http://schemas.microsoft.com/office/drawing/2014/main" id="{A5912B7C-2CA0-4349-97B0-966A9F028653}"/>
              </a:ext>
            </a:extLst>
          </p:cNvPr>
          <p:cNvSpPr>
            <a:spLocks xmlns:a="http://schemas.openxmlformats.org/drawingml/2006/main" noGrp="1"/>
          </p:cNvSpPr>
          <p:nvPr/>
        </p:nvSpPr>
        <p:spPr>
          <a:xfrm xmlns:a="http://schemas.openxmlformats.org/drawingml/2006/main">
            <a:off x="723900" y="56769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0243E"/>
                </a:solidFill>
                <a:latin typeface="DejaVu Sans"/>
                <a:ea typeface="DejaVu Sans"/>
                <a:cs typeface="DejaVu Sans"/>
              </a:defRPr>
            </a:pPr>
            <a:r>
              <a:rPr sz="1275" b="0">
                <a:solidFill>
                  <a:srgbClr val="10243E"/>
                </a:solidFill>
                <a:latin typeface="DejaVu Sans"/>
                <a:ea typeface="DejaVu Sans"/>
                <a:cs typeface="DejaVu Sans"/>
              </a:rPr>
              <a:t>Preethi Gajawada  •  Team Member 2  •  Team Member 3  •  Team Member 4  •  Team Member 5</a:t>
            </a:r>
          </a:p>
        </p:txBody>
      </p:sp>
      <p:sp>
        <p:nvSpPr>
          <p:cNvPr id="30" name="">
            <a:extLst xmlns:a="http://schemas.openxmlformats.org/drawingml/2006/main">
              <a:ext uri="{FF2B5EF4-FFF2-40B4-BE49-F238E27FC236}">
                <a16:creationId xmlns:a16="http://schemas.microsoft.com/office/drawing/2014/main" id="{58B96F9F-1297-468A-97DA-42D3CCBFB7AD}"/>
              </a:ext>
            </a:extLst>
          </p:cNvPr>
          <p:cNvSpPr>
            <a:spLocks xmlns:a="http://schemas.openxmlformats.org/drawingml/2006/main" noGrp="1"/>
          </p:cNvSpPr>
          <p:nvPr/>
        </p:nvSpPr>
        <p:spPr>
          <a:xfrm xmlns:a="http://schemas.openxmlformats.org/drawingml/2006/main">
            <a:off x="51435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NLP Project Proposal  |  Five-minute presentation</a:t>
            </a:r>
          </a:p>
        </p:txBody>
      </p:sp>
    </p:spTree>
    <p:extLst>
      <p:ext uri="{BB962C8B-B14F-4D97-AF65-F5344CB8AC3E}">
        <p14:creationId xmlns:p14="http://schemas.microsoft.com/office/powerpoint/2010/main" val="6367362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E8B017-3B31-4E54-B0D6-4E429AD6A77A}"/>
              </a:ext>
            </a:extLst>
          </p:cNvPr>
          <p:cNvSpPr>
            <a:spLocks xmlns:a="http://schemas.openxmlformats.org/drawingml/2006/main" noGrp="1"/>
          </p:cNvSpPr>
          <p:nvPr/>
        </p:nvSpPr>
        <p:spPr>
          <a:xfrm xmlns:a="http://schemas.openxmlformats.org/drawingml/2006/main">
            <a:off x="514350" y="3238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F67C7"/>
                </a:solidFill>
                <a:latin typeface="DejaVu Sans"/>
                <a:ea typeface="DejaVu Sans"/>
                <a:cs typeface="DejaVu Sans"/>
              </a:defRPr>
            </a:pPr>
            <a:r>
              <a:rPr sz="1125" b="1">
                <a:solidFill>
                  <a:srgbClr val="2F67C7"/>
                </a:solidFill>
                <a:latin typeface="DejaVu Sans"/>
                <a:ea typeface="DejaVu Sans"/>
                <a:cs typeface="DejaVu Sans"/>
              </a:rPr>
              <a:t>02</a:t>
            </a:r>
          </a:p>
        </p:txBody>
      </p:sp>
      <p:sp>
        <p:nvSpPr>
          <p:cNvPr id="2" name="">
            <a:extLst xmlns:a="http://schemas.openxmlformats.org/drawingml/2006/main">
              <a:ext uri="{FF2B5EF4-FFF2-40B4-BE49-F238E27FC236}">
                <a16:creationId xmlns:a16="http://schemas.microsoft.com/office/drawing/2014/main" id="{FA78583F-2101-4A15-A36E-F8A33D25EF42}"/>
              </a:ext>
            </a:extLst>
          </p:cNvPr>
          <p:cNvSpPr>
            <a:spLocks xmlns:a="http://schemas.openxmlformats.org/drawingml/2006/main" noGrp="1"/>
          </p:cNvSpPr>
          <p:nvPr/>
        </p:nvSpPr>
        <p:spPr>
          <a:xfrm xmlns:a="http://schemas.openxmlformats.org/drawingml/2006/main">
            <a:off x="1066800" y="26670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0243E"/>
                </a:solidFill>
                <a:latin typeface="DejaVu Sans"/>
                <a:ea typeface="DejaVu Sans"/>
                <a:cs typeface="DejaVu Sans"/>
              </a:defRPr>
            </a:pPr>
            <a:r>
              <a:rPr sz="2325" b="1">
                <a:solidFill>
                  <a:srgbClr val="10243E"/>
                </a:solidFill>
                <a:latin typeface="DejaVu Sans"/>
                <a:ea typeface="DejaVu Sans"/>
                <a:cs typeface="DejaVu Sans"/>
              </a:rPr>
              <a:t>Problem and motivation</a:t>
            </a:r>
          </a:p>
        </p:txBody>
      </p:sp>
      <p:sp>
        <p:nvSpPr>
          <p:cNvPr id="3" name="">
            <a:extLst xmlns:a="http://schemas.openxmlformats.org/drawingml/2006/main">
              <a:ext uri="{FF2B5EF4-FFF2-40B4-BE49-F238E27FC236}">
                <a16:creationId xmlns:a16="http://schemas.microsoft.com/office/drawing/2014/main" id="{D2B8AFE4-D32B-4775-BB94-0A62850FCDA7}"/>
              </a:ext>
            </a:extLst>
          </p:cNvPr>
          <p:cNvSpPr>
            <a:spLocks xmlns:a="http://schemas.openxmlformats.org/drawingml/2006/main" noGrp="1"/>
          </p:cNvSpPr>
          <p:nvPr/>
        </p:nvSpPr>
        <p:spPr>
          <a:xfrm xmlns:a="http://schemas.openxmlformats.org/drawingml/2006/main">
            <a:off x="1066800" y="7620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C6678"/>
                </a:solidFill>
                <a:latin typeface="DejaVu Sans"/>
                <a:ea typeface="DejaVu Sans"/>
                <a:cs typeface="DejaVu Sans"/>
              </a:defRPr>
            </a:pPr>
            <a:r>
              <a:rPr sz="1050" b="0">
                <a:solidFill>
                  <a:srgbClr val="5C6678"/>
                </a:solidFill>
                <a:latin typeface="DejaVu Sans"/>
                <a:ea typeface="DejaVu Sans"/>
                <a:cs typeface="DejaVu Sans"/>
              </a:rPr>
              <a:t>Repeated paraphrasing may preserve content while obscuring who originally wrote the text</a:t>
            </a:r>
          </a:p>
        </p:txBody>
      </p:sp>
      <p:sp>
        <p:nvSpPr>
          <p:cNvPr id="4" name="">
            <a:extLst xmlns:a="http://schemas.openxmlformats.org/drawingml/2006/main">
              <a:ext uri="{FF2B5EF4-FFF2-40B4-BE49-F238E27FC236}">
                <a16:creationId xmlns:a16="http://schemas.microsoft.com/office/drawing/2014/main" id="{DB5882EE-D14F-4A14-8174-E2B6905F981B}"/>
              </a:ext>
            </a:extLst>
          </p:cNvPr>
          <p:cNvSpPr>
            <a:spLocks xmlns:a="http://schemas.openxmlformats.org/drawingml/2006/main" noGrp="1"/>
          </p:cNvSpPr>
          <p:nvPr/>
        </p:nvSpPr>
        <p:spPr>
          <a:xfrm xmlns:a="http://schemas.openxmlformats.org/drawingml/2006/main">
            <a:off x="514350" y="1066800"/>
            <a:ext cx="11163300" cy="19050"/>
          </a:xfrm>
          <a:prstGeom xmlns:a="http://schemas.openxmlformats.org/drawingml/2006/main" prst="rect">
            <a:avLst/>
          </a:prstGeom>
          <a:solidFill xmlns:a="http://schemas.openxmlformats.org/drawingml/2006/main">
            <a:srgbClr val="DCEB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E7A2F7-4D51-438E-B315-CE6635703DD7}"/>
              </a:ext>
            </a:extLst>
          </p:cNvPr>
          <p:cNvSpPr>
            <a:spLocks xmlns:a="http://schemas.openxmlformats.org/drawingml/2006/main" noGrp="1"/>
          </p:cNvSpPr>
          <p:nvPr/>
        </p:nvSpPr>
        <p:spPr>
          <a:xfrm xmlns:a="http://schemas.openxmlformats.org/drawingml/2006/main">
            <a:off x="552450" y="13525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F67C7"/>
                </a:solidFill>
                <a:latin typeface="DejaVu Sans"/>
                <a:ea typeface="DejaVu Sans"/>
                <a:cs typeface="DejaVu Sans"/>
              </a:defRPr>
            </a:pPr>
            <a:r>
              <a:rPr sz="1125" b="1">
                <a:solidFill>
                  <a:srgbClr val="2F67C7"/>
                </a:solidFill>
                <a:latin typeface="DejaVu Sans"/>
                <a:ea typeface="DejaVu Sans"/>
                <a:cs typeface="DejaVu Sans"/>
              </a:rPr>
              <a:t>Central question</a:t>
            </a:r>
          </a:p>
        </p:txBody>
      </p:sp>
      <p:sp>
        <p:nvSpPr>
          <p:cNvPr id="6" name="">
            <a:extLst xmlns:a="http://schemas.openxmlformats.org/drawingml/2006/main">
              <a:ext uri="{FF2B5EF4-FFF2-40B4-BE49-F238E27FC236}">
                <a16:creationId xmlns:a16="http://schemas.microsoft.com/office/drawing/2014/main" id="{69BE0092-6A81-4D74-B5D3-B6A1F605C8ED}"/>
              </a:ext>
            </a:extLst>
          </p:cNvPr>
          <p:cNvSpPr>
            <a:spLocks xmlns:a="http://schemas.openxmlformats.org/drawingml/2006/main" noGrp="1"/>
          </p:cNvSpPr>
          <p:nvPr/>
        </p:nvSpPr>
        <p:spPr>
          <a:xfrm xmlns:a="http://schemas.openxmlformats.org/drawingml/2006/main">
            <a:off x="552450" y="1676400"/>
            <a:ext cx="4476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43"/>
          </a:bodyPr>
          <a:lstStyle xmlns:a="http://schemas.openxmlformats.org/drawingml/2006/main"/>
          <a:p xmlns:a="http://schemas.openxmlformats.org/drawingml/2006/main">
            <a:pPr>
              <a:defRPr sz="2175" b="1">
                <a:solidFill>
                  <a:srgbClr val="10243E"/>
                </a:solidFill>
                <a:latin typeface="DejaVu Sans"/>
                <a:ea typeface="DejaVu Sans"/>
                <a:cs typeface="DejaVu Sans"/>
              </a:defRPr>
            </a:pPr>
            <a:r>
              <a:rPr sz="2175" b="1">
                <a:solidFill>
                  <a:srgbClr val="10243E"/>
                </a:solidFill>
                <a:latin typeface="DejaVu Sans"/>
                <a:ea typeface="DejaVu Sans"/>
                <a:cs typeface="DejaVu Sans"/>
              </a:rPr>
              <a:t>When does a text keep its meaning but lose its authorial identity?</a:t>
            </a:r>
          </a:p>
        </p:txBody>
      </p:sp>
      <p:sp>
        <p:nvSpPr>
          <p:cNvPr id="7" name="">
            <a:extLst xmlns:a="http://schemas.openxmlformats.org/drawingml/2006/main">
              <a:ext uri="{FF2B5EF4-FFF2-40B4-BE49-F238E27FC236}">
                <a16:creationId xmlns:a16="http://schemas.microsoft.com/office/drawing/2014/main" id="{029FADCD-99F4-4C8D-B56E-2C5CAF2058F3}"/>
              </a:ext>
            </a:extLst>
          </p:cNvPr>
          <p:cNvSpPr>
            <a:spLocks xmlns:a="http://schemas.openxmlformats.org/drawingml/2006/main" noGrp="1"/>
          </p:cNvSpPr>
          <p:nvPr/>
        </p:nvSpPr>
        <p:spPr>
          <a:xfrm xmlns:a="http://schemas.openxmlformats.org/drawingml/2006/main">
            <a:off x="552450" y="2714625"/>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5C6678"/>
                </a:solidFill>
                <a:latin typeface="DejaVu Sans"/>
                <a:ea typeface="DejaVu Sans"/>
                <a:cs typeface="DejaVu Sans"/>
              </a:defRPr>
            </a:pPr>
            <a:r>
              <a:rPr sz="1350" b="0">
                <a:solidFill>
                  <a:srgbClr val="5C6678"/>
                </a:solidFill>
                <a:latin typeface="DejaVu Sans"/>
                <a:ea typeface="DejaVu Sans"/>
                <a:cs typeface="DejaVu Sans"/>
              </a:rPr>
              <a:t>This matters for authorship attribution, AI-text detection, provenance, plagiarism analysis, and forensic investigation.</a:t>
            </a:r>
          </a:p>
        </p:txBody>
      </p:sp>
      <p:sp>
        <p:nvSpPr>
          <p:cNvPr id="8" name="">
            <a:extLst xmlns:a="http://schemas.openxmlformats.org/drawingml/2006/main">
              <a:ext uri="{FF2B5EF4-FFF2-40B4-BE49-F238E27FC236}">
                <a16:creationId xmlns:a16="http://schemas.microsoft.com/office/drawing/2014/main" id="{ABB0823D-5AB1-4277-B43B-AA5897244524}"/>
              </a:ext>
            </a:extLst>
          </p:cNvPr>
          <p:cNvSpPr>
            <a:spLocks xmlns:a="http://schemas.openxmlformats.org/drawingml/2006/main" noGrp="1"/>
          </p:cNvSpPr>
          <p:nvPr/>
        </p:nvSpPr>
        <p:spPr>
          <a:xfrm xmlns:a="http://schemas.openxmlformats.org/drawingml/2006/main">
            <a:off x="5638800" y="1333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F67C7"/>
                </a:solidFill>
                <a:latin typeface="DejaVu Sans"/>
                <a:ea typeface="DejaVu Sans"/>
                <a:cs typeface="DejaVu Sans"/>
              </a:defRPr>
            </a:pPr>
            <a:r>
              <a:rPr sz="1125" b="1">
                <a:solidFill>
                  <a:srgbClr val="2F67C7"/>
                </a:solidFill>
                <a:latin typeface="DejaVu Sans"/>
                <a:ea typeface="DejaVu Sans"/>
                <a:cs typeface="DejaVu Sans"/>
              </a:rPr>
              <a:t>Expected pattern</a:t>
            </a:r>
          </a:p>
        </p:txBody>
      </p:sp>
      <p:graphicFrame>
        <p:nvGraphicFramePr>
          <p:cNvPr id="29" name="Chart"/>
          <p:cNvGraphicFramePr/>
          <p:nvPr/>
        </p:nvGraphicFramePr>
        <p:xfrm>
          <a:off xmlns:a="http://schemas.openxmlformats.org/drawingml/2006/main" x="5572125" y="1695450"/>
          <a:ext xmlns:a="http://schemas.openxmlformats.org/drawingml/2006/main" cx="5953125" cy="2609850"/>
        </p:xfrm>
        <a:graphic xmlns:a="http://schemas.openxmlformats.org/drawingml/2006/main">
          <a:graphicData uri="http://schemas.openxmlformats.org/drawingml/2006/chart">
            <c:chart xmlns:r="http://schemas.openxmlformats.org/officeDocument/2006/relationships" xmlns:c="http://schemas.openxmlformats.org/drawingml/2006/chart" r:id="R5c6b4f06357444ba"/>
          </a:graphicData>
        </a:graphic>
      </p:graphicFrame>
      <p:sp>
        <p:nvSpPr>
          <p:cNvPr id="10" name="">
            <a:extLst xmlns:a="http://schemas.openxmlformats.org/drawingml/2006/main">
              <a:ext uri="{FF2B5EF4-FFF2-40B4-BE49-F238E27FC236}">
                <a16:creationId xmlns:a16="http://schemas.microsoft.com/office/drawing/2014/main" id="{6EF60E80-2598-4437-8C3E-7CCDB0C52F4B}"/>
              </a:ext>
            </a:extLst>
          </p:cNvPr>
          <p:cNvSpPr>
            <a:spLocks xmlns:a="http://schemas.openxmlformats.org/drawingml/2006/main" noGrp="1"/>
          </p:cNvSpPr>
          <p:nvPr/>
        </p:nvSpPr>
        <p:spPr>
          <a:xfrm xmlns:a="http://schemas.openxmlformats.org/drawingml/2006/main">
            <a:off x="7353300" y="4257675"/>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Illustrative hypothesis, not experimental results</a:t>
            </a:r>
          </a:p>
        </p:txBody>
      </p:sp>
      <p:sp>
        <p:nvSpPr>
          <p:cNvPr id="11" name="">
            <a:extLst xmlns:a="http://schemas.openxmlformats.org/drawingml/2006/main">
              <a:ext uri="{FF2B5EF4-FFF2-40B4-BE49-F238E27FC236}">
                <a16:creationId xmlns:a16="http://schemas.microsoft.com/office/drawing/2014/main" id="{CBE20429-ABBE-442F-86D8-8C832BDE8CDE}"/>
              </a:ext>
            </a:extLst>
          </p:cNvPr>
          <p:cNvSpPr>
            <a:spLocks xmlns:a="http://schemas.openxmlformats.org/drawingml/2006/main" noGrp="1"/>
          </p:cNvSpPr>
          <p:nvPr/>
        </p:nvSpPr>
        <p:spPr>
          <a:xfrm xmlns:a="http://schemas.openxmlformats.org/drawingml/2006/main">
            <a:off x="552450" y="4762500"/>
            <a:ext cx="3476625" cy="1123950"/>
          </a:xfrm>
          <a:prstGeom xmlns:a="http://schemas.openxmlformats.org/drawingml/2006/main" prst="roundRect">
            <a:avLst>
              <a:gd name="adj" fmla="val 6780"/>
            </a:avLst>
          </a:prstGeom>
          <a:solidFill xmlns:a="http://schemas.openxmlformats.org/drawingml/2006/main">
            <a:srgbClr val="EEF4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23F253-E701-406D-8748-32D1BA2A56ED}"/>
              </a:ext>
            </a:extLst>
          </p:cNvPr>
          <p:cNvSpPr>
            <a:spLocks xmlns:a="http://schemas.openxmlformats.org/drawingml/2006/main" noGrp="1"/>
          </p:cNvSpPr>
          <p:nvPr/>
        </p:nvSpPr>
        <p:spPr>
          <a:xfrm xmlns:a="http://schemas.openxmlformats.org/drawingml/2006/main">
            <a:off x="723900" y="4895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2F67C7"/>
                </a:solidFill>
                <a:latin typeface="DejaVu Sans"/>
                <a:ea typeface="DejaVu Sans"/>
                <a:cs typeface="DejaVu Sans"/>
              </a:defRPr>
            </a:pPr>
            <a:r>
              <a:rPr sz="975" b="1">
                <a:solidFill>
                  <a:srgbClr val="2F67C7"/>
                </a:solidFill>
                <a:latin typeface="DejaVu Sans"/>
                <a:ea typeface="DejaVu Sans"/>
                <a:cs typeface="DejaVu Sans"/>
              </a:rPr>
              <a:t>RQ1</a:t>
            </a:r>
          </a:p>
        </p:txBody>
      </p:sp>
      <p:sp>
        <p:nvSpPr>
          <p:cNvPr id="13" name="">
            <a:extLst xmlns:a="http://schemas.openxmlformats.org/drawingml/2006/main">
              <a:ext uri="{FF2B5EF4-FFF2-40B4-BE49-F238E27FC236}">
                <a16:creationId xmlns:a16="http://schemas.microsoft.com/office/drawing/2014/main" id="{1E632D99-4089-41DF-9D26-6A05422BA160}"/>
              </a:ext>
            </a:extLst>
          </p:cNvPr>
          <p:cNvSpPr>
            <a:spLocks xmlns:a="http://schemas.openxmlformats.org/drawingml/2006/main" noGrp="1"/>
          </p:cNvSpPr>
          <p:nvPr/>
        </p:nvSpPr>
        <p:spPr>
          <a:xfrm xmlns:a="http://schemas.openxmlformats.org/drawingml/2006/main">
            <a:off x="723900" y="51435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0243E"/>
                </a:solidFill>
                <a:latin typeface="DejaVu Sans"/>
                <a:ea typeface="DejaVu Sans"/>
                <a:cs typeface="DejaVu Sans"/>
              </a:defRPr>
            </a:pPr>
            <a:r>
              <a:rPr sz="1275" b="1">
                <a:solidFill>
                  <a:srgbClr val="10243E"/>
                </a:solidFill>
                <a:latin typeface="DejaVu Sans"/>
                <a:ea typeface="DejaVu Sans"/>
                <a:cs typeface="DejaVu Sans"/>
              </a:rPr>
              <a:t>Which linguistic features decay before semantic content?</a:t>
            </a:r>
          </a:p>
        </p:txBody>
      </p:sp>
      <p:sp>
        <p:nvSpPr>
          <p:cNvPr id="14" name="">
            <a:extLst xmlns:a="http://schemas.openxmlformats.org/drawingml/2006/main">
              <a:ext uri="{FF2B5EF4-FFF2-40B4-BE49-F238E27FC236}">
                <a16:creationId xmlns:a16="http://schemas.microsoft.com/office/drawing/2014/main" id="{64D15EC1-0E60-49DF-829F-89F5A12F6E0E}"/>
              </a:ext>
            </a:extLst>
          </p:cNvPr>
          <p:cNvSpPr>
            <a:spLocks xmlns:a="http://schemas.openxmlformats.org/drawingml/2006/main" noGrp="1"/>
          </p:cNvSpPr>
          <p:nvPr/>
        </p:nvSpPr>
        <p:spPr>
          <a:xfrm xmlns:a="http://schemas.openxmlformats.org/drawingml/2006/main">
            <a:off x="4295775" y="4762500"/>
            <a:ext cx="3476625" cy="1123950"/>
          </a:xfrm>
          <a:prstGeom xmlns:a="http://schemas.openxmlformats.org/drawingml/2006/main" prst="roundRect">
            <a:avLst>
              <a:gd name="adj" fmla="val 6780"/>
            </a:avLst>
          </a:prstGeom>
          <a:solidFill xmlns:a="http://schemas.openxmlformats.org/drawingml/2006/main">
            <a:srgbClr val="F9F1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5232D8-A038-4657-83E1-C330C4831720}"/>
              </a:ext>
            </a:extLst>
          </p:cNvPr>
          <p:cNvSpPr>
            <a:spLocks xmlns:a="http://schemas.openxmlformats.org/drawingml/2006/main" noGrp="1"/>
          </p:cNvSpPr>
          <p:nvPr/>
        </p:nvSpPr>
        <p:spPr>
          <a:xfrm xmlns:a="http://schemas.openxmlformats.org/drawingml/2006/main">
            <a:off x="4467225" y="4895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976B18"/>
                </a:solidFill>
                <a:latin typeface="DejaVu Sans"/>
                <a:ea typeface="DejaVu Sans"/>
                <a:cs typeface="DejaVu Sans"/>
              </a:defRPr>
            </a:pPr>
            <a:r>
              <a:rPr sz="975" b="1">
                <a:solidFill>
                  <a:srgbClr val="976B18"/>
                </a:solidFill>
                <a:latin typeface="DejaVu Sans"/>
                <a:ea typeface="DejaVu Sans"/>
                <a:cs typeface="DejaVu Sans"/>
              </a:rPr>
              <a:t>RQ2</a:t>
            </a:r>
          </a:p>
        </p:txBody>
      </p:sp>
      <p:sp>
        <p:nvSpPr>
          <p:cNvPr id="16" name="">
            <a:extLst xmlns:a="http://schemas.openxmlformats.org/drawingml/2006/main">
              <a:ext uri="{FF2B5EF4-FFF2-40B4-BE49-F238E27FC236}">
                <a16:creationId xmlns:a16="http://schemas.microsoft.com/office/drawing/2014/main" id="{E1C643EC-9B04-4FB5-B359-BB63ED762E3C}"/>
              </a:ext>
            </a:extLst>
          </p:cNvPr>
          <p:cNvSpPr>
            <a:spLocks xmlns:a="http://schemas.openxmlformats.org/drawingml/2006/main" noGrp="1"/>
          </p:cNvSpPr>
          <p:nvPr/>
        </p:nvSpPr>
        <p:spPr>
          <a:xfrm xmlns:a="http://schemas.openxmlformats.org/drawingml/2006/main">
            <a:off x="4467225" y="51435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10243E"/>
                </a:solidFill>
                <a:latin typeface="DejaVu Sans"/>
                <a:ea typeface="DejaVu Sans"/>
                <a:cs typeface="DejaVu Sans"/>
              </a:defRPr>
            </a:pPr>
            <a:r>
              <a:rPr sz="1275" b="1">
                <a:solidFill>
                  <a:srgbClr val="10243E"/>
                </a:solidFill>
                <a:latin typeface="DejaVu Sans"/>
                <a:ea typeface="DejaVu Sans"/>
                <a:cs typeface="DejaVu Sans"/>
              </a:rPr>
              <a:t>At which generation does attribution become unreliable?</a:t>
            </a:r>
          </a:p>
        </p:txBody>
      </p:sp>
      <p:sp>
        <p:nvSpPr>
          <p:cNvPr id="17" name="">
            <a:extLst xmlns:a="http://schemas.openxmlformats.org/drawingml/2006/main">
              <a:ext uri="{FF2B5EF4-FFF2-40B4-BE49-F238E27FC236}">
                <a16:creationId xmlns:a16="http://schemas.microsoft.com/office/drawing/2014/main" id="{AC684846-9C7F-44B1-916E-8076D4BFDEC0}"/>
              </a:ext>
            </a:extLst>
          </p:cNvPr>
          <p:cNvSpPr>
            <a:spLocks xmlns:a="http://schemas.openxmlformats.org/drawingml/2006/main" noGrp="1"/>
          </p:cNvSpPr>
          <p:nvPr/>
        </p:nvSpPr>
        <p:spPr>
          <a:xfrm xmlns:a="http://schemas.openxmlformats.org/drawingml/2006/main">
            <a:off x="8039100" y="4762500"/>
            <a:ext cx="3476625" cy="1123950"/>
          </a:xfrm>
          <a:prstGeom xmlns:a="http://schemas.openxmlformats.org/drawingml/2006/main" prst="roundRect">
            <a:avLst>
              <a:gd name="adj" fmla="val 6780"/>
            </a:avLst>
          </a:prstGeom>
          <a:solidFill xmlns:a="http://schemas.openxmlformats.org/drawingml/2006/main">
            <a:srgbClr val="EEF7F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B1CB7A4-A507-4E94-B59D-C3B2435D33D1}"/>
              </a:ext>
            </a:extLst>
          </p:cNvPr>
          <p:cNvSpPr>
            <a:spLocks xmlns:a="http://schemas.openxmlformats.org/drawingml/2006/main" noGrp="1"/>
          </p:cNvSpPr>
          <p:nvPr/>
        </p:nvSpPr>
        <p:spPr>
          <a:xfrm xmlns:a="http://schemas.openxmlformats.org/drawingml/2006/main">
            <a:off x="8210550" y="4895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2E7D6A"/>
                </a:solidFill>
                <a:latin typeface="DejaVu Sans"/>
                <a:ea typeface="DejaVu Sans"/>
                <a:cs typeface="DejaVu Sans"/>
              </a:defRPr>
            </a:pPr>
            <a:r>
              <a:rPr sz="975" b="1">
                <a:solidFill>
                  <a:srgbClr val="2E7D6A"/>
                </a:solidFill>
                <a:latin typeface="DejaVu Sans"/>
                <a:ea typeface="DejaVu Sans"/>
                <a:cs typeface="DejaVu Sans"/>
              </a:rPr>
              <a:t>RQ3</a:t>
            </a:r>
          </a:p>
        </p:txBody>
      </p:sp>
      <p:sp>
        <p:nvSpPr>
          <p:cNvPr id="19" name="">
            <a:extLst xmlns:a="http://schemas.openxmlformats.org/drawingml/2006/main">
              <a:ext uri="{FF2B5EF4-FFF2-40B4-BE49-F238E27FC236}">
                <a16:creationId xmlns:a16="http://schemas.microsoft.com/office/drawing/2014/main" id="{6E4221EB-8F86-49B7-BB5A-DF9945938D6A}"/>
              </a:ext>
            </a:extLst>
          </p:cNvPr>
          <p:cNvSpPr>
            <a:spLocks xmlns:a="http://schemas.openxmlformats.org/drawingml/2006/main" noGrp="1"/>
          </p:cNvSpPr>
          <p:nvPr/>
        </p:nvSpPr>
        <p:spPr>
          <a:xfrm xmlns:a="http://schemas.openxmlformats.org/drawingml/2006/main">
            <a:off x="8210550" y="5143500"/>
            <a:ext cx="309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15"/>
          </a:bodyPr>
          <a:lstStyle xmlns:a="http://schemas.openxmlformats.org/drawingml/2006/main"/>
          <a:p xmlns:a="http://schemas.openxmlformats.org/drawingml/2006/main">
            <a:pPr>
              <a:defRPr sz="1275" b="1">
                <a:solidFill>
                  <a:srgbClr val="10243E"/>
                </a:solidFill>
                <a:latin typeface="DejaVu Sans"/>
                <a:ea typeface="DejaVu Sans"/>
                <a:cs typeface="DejaVu Sans"/>
              </a:defRPr>
            </a:pPr>
            <a:r>
              <a:rPr sz="1275" b="1">
                <a:solidFill>
                  <a:srgbClr val="10243E"/>
                </a:solidFill>
                <a:latin typeface="DejaVu Sans"/>
                <a:ea typeface="DejaVu Sans"/>
                <a:cs typeface="DejaVu Sans"/>
              </a:rPr>
              <a:t>Can we identify the paraphrasing model from its fingerprint?</a:t>
            </a:r>
          </a:p>
        </p:txBody>
      </p:sp>
      <p:sp>
        <p:nvSpPr>
          <p:cNvPr id="20" name="">
            <a:extLst xmlns:a="http://schemas.openxmlformats.org/drawingml/2006/main">
              <a:ext uri="{FF2B5EF4-FFF2-40B4-BE49-F238E27FC236}">
                <a16:creationId xmlns:a16="http://schemas.microsoft.com/office/drawing/2014/main" id="{ADF3F5E3-49FF-46AE-8671-D33DDBE09E65}"/>
              </a:ext>
            </a:extLst>
          </p:cNvPr>
          <p:cNvSpPr>
            <a:spLocks xmlns:a="http://schemas.openxmlformats.org/drawingml/2006/main" noGrp="1"/>
          </p:cNvSpPr>
          <p:nvPr/>
        </p:nvSpPr>
        <p:spPr>
          <a:xfrm xmlns:a="http://schemas.openxmlformats.org/drawingml/2006/main">
            <a:off x="51435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Proposed contribution: quantify identity decay and distinguish human-author loss from model-fingerprint gain</a:t>
            </a:r>
          </a:p>
        </p:txBody>
      </p:sp>
    </p:spTree>
    <p:extLst>
      <p:ext uri="{BB962C8B-B14F-4D97-AF65-F5344CB8AC3E}">
        <p14:creationId xmlns:p14="http://schemas.microsoft.com/office/powerpoint/2010/main" val="466833423"/>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5D3EA0EF-18E4-45A5-B9D9-8FEF45EB29CF}"/>
              </a:ext>
            </a:extLst>
          </p:cNvPr>
          <p:cNvSpPr>
            <a:spLocks xmlns:a="http://schemas.openxmlformats.org/drawingml/2006/main" noGrp="1"/>
          </p:cNvSpPr>
          <p:nvPr/>
        </p:nvSpPr>
        <p:spPr>
          <a:xfrm xmlns:a="http://schemas.openxmlformats.org/drawingml/2006/main">
            <a:off x="514350" y="3238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F67C7"/>
                </a:solidFill>
                <a:latin typeface="DejaVu Sans"/>
                <a:ea typeface="DejaVu Sans"/>
                <a:cs typeface="DejaVu Sans"/>
              </a:defRPr>
            </a:pPr>
            <a:r>
              <a:rPr sz="1125" b="1">
                <a:solidFill>
                  <a:srgbClr val="2F67C7"/>
                </a:solidFill>
                <a:latin typeface="DejaVu Sans"/>
                <a:ea typeface="DejaVu Sans"/>
                <a:cs typeface="DejaVu Sans"/>
              </a:rPr>
              <a:t>03</a:t>
            </a:r>
          </a:p>
        </p:txBody>
      </p:sp>
      <p:sp>
        <p:nvSpPr>
          <p:cNvPr id="2" name="">
            <a:extLst xmlns:a="http://schemas.openxmlformats.org/drawingml/2006/main">
              <a:ext uri="{FF2B5EF4-FFF2-40B4-BE49-F238E27FC236}">
                <a16:creationId xmlns:a16="http://schemas.microsoft.com/office/drawing/2014/main" id="{747FB680-9803-4A03-B0BB-84E71A07AACE}"/>
              </a:ext>
            </a:extLst>
          </p:cNvPr>
          <p:cNvSpPr>
            <a:spLocks xmlns:a="http://schemas.openxmlformats.org/drawingml/2006/main" noGrp="1"/>
          </p:cNvSpPr>
          <p:nvPr/>
        </p:nvSpPr>
        <p:spPr>
          <a:xfrm xmlns:a="http://schemas.openxmlformats.org/drawingml/2006/main">
            <a:off x="1066800" y="26670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0243E"/>
                </a:solidFill>
                <a:latin typeface="DejaVu Sans"/>
                <a:ea typeface="DejaVu Sans"/>
                <a:cs typeface="DejaVu Sans"/>
              </a:defRPr>
            </a:pPr>
            <a:r>
              <a:rPr sz="2325" b="1">
                <a:solidFill>
                  <a:srgbClr val="10243E"/>
                </a:solidFill>
                <a:latin typeface="DejaVu Sans"/>
                <a:ea typeface="DejaVu Sans"/>
                <a:cs typeface="DejaVu Sans"/>
              </a:rPr>
              <a:t>Dataset selection and access status</a:t>
            </a:r>
          </a:p>
        </p:txBody>
      </p:sp>
      <p:sp>
        <p:nvSpPr>
          <p:cNvPr id="3" name="">
            <a:extLst xmlns:a="http://schemas.openxmlformats.org/drawingml/2006/main">
              <a:ext uri="{FF2B5EF4-FFF2-40B4-BE49-F238E27FC236}">
                <a16:creationId xmlns:a16="http://schemas.microsoft.com/office/drawing/2014/main" id="{D7E5822C-CDDB-411C-BC4B-B9E2E714C8CC}"/>
              </a:ext>
            </a:extLst>
          </p:cNvPr>
          <p:cNvSpPr>
            <a:spLocks xmlns:a="http://schemas.openxmlformats.org/drawingml/2006/main" noGrp="1"/>
          </p:cNvSpPr>
          <p:nvPr/>
        </p:nvSpPr>
        <p:spPr>
          <a:xfrm xmlns:a="http://schemas.openxmlformats.org/drawingml/2006/main">
            <a:off x="1066800" y="7620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C6678"/>
                </a:solidFill>
                <a:latin typeface="DejaVu Sans"/>
                <a:ea typeface="DejaVu Sans"/>
                <a:cs typeface="DejaVu Sans"/>
              </a:defRPr>
            </a:pPr>
            <a:r>
              <a:rPr sz="1050" b="0">
                <a:solidFill>
                  <a:srgbClr val="5C6678"/>
                </a:solidFill>
                <a:latin typeface="DejaVu Sans"/>
                <a:ea typeface="DejaVu Sans"/>
                <a:cs typeface="DejaVu Sans"/>
              </a:rPr>
              <a:t>Ship of Theseus Paraphrased Corpus</a:t>
            </a:r>
          </a:p>
        </p:txBody>
      </p:sp>
      <p:sp>
        <p:nvSpPr>
          <p:cNvPr id="4" name="">
            <a:extLst xmlns:a="http://schemas.openxmlformats.org/drawingml/2006/main">
              <a:ext uri="{FF2B5EF4-FFF2-40B4-BE49-F238E27FC236}">
                <a16:creationId xmlns:a16="http://schemas.microsoft.com/office/drawing/2014/main" id="{B59C0418-4ED2-4766-9AED-6FB1528470BB}"/>
              </a:ext>
            </a:extLst>
          </p:cNvPr>
          <p:cNvSpPr>
            <a:spLocks xmlns:a="http://schemas.openxmlformats.org/drawingml/2006/main" noGrp="1"/>
          </p:cNvSpPr>
          <p:nvPr/>
        </p:nvSpPr>
        <p:spPr>
          <a:xfrm xmlns:a="http://schemas.openxmlformats.org/drawingml/2006/main">
            <a:off x="514350" y="1066800"/>
            <a:ext cx="11163300" cy="19050"/>
          </a:xfrm>
          <a:prstGeom xmlns:a="http://schemas.openxmlformats.org/drawingml/2006/main" prst="rect">
            <a:avLst/>
          </a:prstGeom>
          <a:solidFill xmlns:a="http://schemas.openxmlformats.org/drawingml/2006/main">
            <a:srgbClr val="DCEB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467DBF-83F5-4FC0-916A-330B590AE5D7}"/>
              </a:ext>
            </a:extLst>
          </p:cNvPr>
          <p:cNvSpPr>
            <a:spLocks xmlns:a="http://schemas.openxmlformats.org/drawingml/2006/main" noGrp="1"/>
          </p:cNvSpPr>
          <p:nvPr/>
        </p:nvSpPr>
        <p:spPr>
          <a:xfrm xmlns:a="http://schemas.openxmlformats.org/drawingml/2006/main">
            <a:off x="552450" y="1390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CORPUS SCOPE</a:t>
            </a:r>
          </a:p>
        </p:txBody>
      </p:sp>
      <p:sp>
        <p:nvSpPr>
          <p:cNvPr id="6" name="">
            <a:extLst xmlns:a="http://schemas.openxmlformats.org/drawingml/2006/main">
              <a:ext uri="{FF2B5EF4-FFF2-40B4-BE49-F238E27FC236}">
                <a16:creationId xmlns:a16="http://schemas.microsoft.com/office/drawing/2014/main" id="{990A7C25-60AA-4F81-9297-4D9344983897}"/>
              </a:ext>
            </a:extLst>
          </p:cNvPr>
          <p:cNvSpPr>
            <a:spLocks xmlns:a="http://schemas.openxmlformats.org/drawingml/2006/main" noGrp="1"/>
          </p:cNvSpPr>
          <p:nvPr/>
        </p:nvSpPr>
        <p:spPr>
          <a:xfrm xmlns:a="http://schemas.openxmlformats.org/drawingml/2006/main">
            <a:off x="552450" y="1657350"/>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900" b="1">
                <a:solidFill>
                  <a:srgbClr val="10243E"/>
                </a:solidFill>
                <a:latin typeface="DejaVu Sans"/>
                <a:ea typeface="DejaVu Sans"/>
                <a:cs typeface="DejaVu Sans"/>
              </a:defRPr>
            </a:pPr>
            <a:r>
              <a:rPr sz="3900" b="1">
                <a:solidFill>
                  <a:srgbClr val="10243E"/>
                </a:solidFill>
                <a:latin typeface="DejaVu Sans"/>
                <a:ea typeface="DejaVu Sans"/>
                <a:cs typeface="DejaVu Sans"/>
              </a:rPr>
              <a:t>7</a:t>
            </a:r>
          </a:p>
        </p:txBody>
      </p:sp>
      <p:sp>
        <p:nvSpPr>
          <p:cNvPr id="7" name="">
            <a:extLst xmlns:a="http://schemas.openxmlformats.org/drawingml/2006/main">
              <a:ext uri="{FF2B5EF4-FFF2-40B4-BE49-F238E27FC236}">
                <a16:creationId xmlns:a16="http://schemas.microsoft.com/office/drawing/2014/main" id="{6E198BED-8A3C-4947-AFCB-B636C32401AF}"/>
              </a:ext>
            </a:extLst>
          </p:cNvPr>
          <p:cNvSpPr>
            <a:spLocks xmlns:a="http://schemas.openxmlformats.org/drawingml/2006/main" noGrp="1"/>
          </p:cNvSpPr>
          <p:nvPr/>
        </p:nvSpPr>
        <p:spPr>
          <a:xfrm xmlns:a="http://schemas.openxmlformats.org/drawingml/2006/main">
            <a:off x="1257300" y="1838325"/>
            <a:ext cx="119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5C6678"/>
                </a:solidFill>
                <a:latin typeface="DejaVu Sans"/>
                <a:ea typeface="DejaVu Sans"/>
                <a:cs typeface="DejaVu Sans"/>
              </a:defRPr>
            </a:pPr>
            <a:r>
              <a:rPr sz="1575" b="0">
                <a:solidFill>
                  <a:srgbClr val="5C6678"/>
                </a:solidFill>
                <a:latin typeface="DejaVu Sans"/>
                <a:ea typeface="DejaVu Sans"/>
                <a:cs typeface="DejaVu Sans"/>
              </a:rPr>
              <a:t>datasets</a:t>
            </a:r>
          </a:p>
        </p:txBody>
      </p:sp>
      <p:sp>
        <p:nvSpPr>
          <p:cNvPr id="8" name="">
            <a:extLst xmlns:a="http://schemas.openxmlformats.org/drawingml/2006/main">
              <a:ext uri="{FF2B5EF4-FFF2-40B4-BE49-F238E27FC236}">
                <a16:creationId xmlns:a16="http://schemas.microsoft.com/office/drawing/2014/main" id="{471F3083-3B5A-4EE4-8BB2-5A74A951F17C}"/>
              </a:ext>
            </a:extLst>
          </p:cNvPr>
          <p:cNvSpPr>
            <a:spLocks xmlns:a="http://schemas.openxmlformats.org/drawingml/2006/main" noGrp="1"/>
          </p:cNvSpPr>
          <p:nvPr/>
        </p:nvSpPr>
        <p:spPr>
          <a:xfrm xmlns:a="http://schemas.openxmlformats.org/drawingml/2006/main">
            <a:off x="2857500" y="1657350"/>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900" b="1">
                <a:solidFill>
                  <a:srgbClr val="10243E"/>
                </a:solidFill>
                <a:latin typeface="DejaVu Sans"/>
                <a:ea typeface="DejaVu Sans"/>
                <a:cs typeface="DejaVu Sans"/>
              </a:defRPr>
            </a:pPr>
            <a:r>
              <a:rPr sz="3900" b="1">
                <a:solidFill>
                  <a:srgbClr val="10243E"/>
                </a:solidFill>
                <a:latin typeface="DejaVu Sans"/>
                <a:ea typeface="DejaVu Sans"/>
                <a:cs typeface="DejaVu Sans"/>
              </a:rPr>
              <a:t>4</a:t>
            </a:r>
          </a:p>
        </p:txBody>
      </p:sp>
      <p:sp>
        <p:nvSpPr>
          <p:cNvPr id="9" name="">
            <a:extLst xmlns:a="http://schemas.openxmlformats.org/drawingml/2006/main">
              <a:ext uri="{FF2B5EF4-FFF2-40B4-BE49-F238E27FC236}">
                <a16:creationId xmlns:a16="http://schemas.microsoft.com/office/drawing/2014/main" id="{9A60040E-71DD-42C7-9E7B-8702BEAB24B0}"/>
              </a:ext>
            </a:extLst>
          </p:cNvPr>
          <p:cNvSpPr>
            <a:spLocks xmlns:a="http://schemas.openxmlformats.org/drawingml/2006/main" noGrp="1"/>
          </p:cNvSpPr>
          <p:nvPr/>
        </p:nvSpPr>
        <p:spPr>
          <a:xfrm xmlns:a="http://schemas.openxmlformats.org/drawingml/2006/main">
            <a:off x="3562350" y="183832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5C6678"/>
                </a:solidFill>
                <a:latin typeface="DejaVu Sans"/>
                <a:ea typeface="DejaVu Sans"/>
                <a:cs typeface="DejaVu Sans"/>
              </a:defRPr>
            </a:pPr>
            <a:r>
              <a:rPr sz="1575" b="0">
                <a:solidFill>
                  <a:srgbClr val="5C6678"/>
                </a:solidFill>
                <a:latin typeface="DejaVu Sans"/>
                <a:ea typeface="DejaVu Sans"/>
                <a:cs typeface="DejaVu Sans"/>
              </a:rPr>
              <a:t>paraphrasers</a:t>
            </a:r>
          </a:p>
        </p:txBody>
      </p:sp>
      <p:sp>
        <p:nvSpPr>
          <p:cNvPr id="10" name="">
            <a:extLst xmlns:a="http://schemas.openxmlformats.org/drawingml/2006/main">
              <a:ext uri="{FF2B5EF4-FFF2-40B4-BE49-F238E27FC236}">
                <a16:creationId xmlns:a16="http://schemas.microsoft.com/office/drawing/2014/main" id="{65025844-6971-4B40-8805-90BBD38889F9}"/>
              </a:ext>
            </a:extLst>
          </p:cNvPr>
          <p:cNvSpPr>
            <a:spLocks xmlns:a="http://schemas.openxmlformats.org/drawingml/2006/main" noGrp="1"/>
          </p:cNvSpPr>
          <p:nvPr/>
        </p:nvSpPr>
        <p:spPr>
          <a:xfrm xmlns:a="http://schemas.openxmlformats.org/drawingml/2006/main">
            <a:off x="552450" y="24288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F67C7"/>
                </a:solidFill>
                <a:latin typeface="DejaVu Sans"/>
                <a:ea typeface="DejaVu Sans"/>
                <a:cs typeface="DejaVu Sans"/>
              </a:defRPr>
            </a:pPr>
            <a:r>
              <a:rPr sz="1425" b="1">
                <a:solidFill>
                  <a:srgbClr val="2F67C7"/>
                </a:solidFill>
                <a:latin typeface="DejaVu Sans"/>
                <a:ea typeface="DejaVu Sans"/>
                <a:cs typeface="DejaVu Sans"/>
              </a:rPr>
              <a:t>ChatGPT   PaLM2   Pegasus   Dipper</a:t>
            </a:r>
          </a:p>
        </p:txBody>
      </p:sp>
      <p:sp>
        <p:nvSpPr>
          <p:cNvPr id="11" name="">
            <a:extLst xmlns:a="http://schemas.openxmlformats.org/drawingml/2006/main">
              <a:ext uri="{FF2B5EF4-FFF2-40B4-BE49-F238E27FC236}">
                <a16:creationId xmlns:a16="http://schemas.microsoft.com/office/drawing/2014/main" id="{0E042E1C-4B82-4693-9908-61897CF47A6C}"/>
              </a:ext>
            </a:extLst>
          </p:cNvPr>
          <p:cNvSpPr>
            <a:spLocks xmlns:a="http://schemas.openxmlformats.org/drawingml/2006/main" noGrp="1"/>
          </p:cNvSpPr>
          <p:nvPr/>
        </p:nvSpPr>
        <p:spPr>
          <a:xfrm xmlns:a="http://schemas.openxmlformats.org/drawingml/2006/main">
            <a:off x="552450" y="31813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ITERATIVE STRUCTURE</a:t>
            </a:r>
          </a:p>
        </p:txBody>
      </p:sp>
      <p:sp>
        <p:nvSpPr>
          <p:cNvPr id="12" name="">
            <a:extLst xmlns:a="http://schemas.openxmlformats.org/drawingml/2006/main">
              <a:ext uri="{FF2B5EF4-FFF2-40B4-BE49-F238E27FC236}">
                <a16:creationId xmlns:a16="http://schemas.microsoft.com/office/drawing/2014/main" id="{32AF5563-9F61-454D-A24A-95FB32D9CE8D}"/>
              </a:ext>
            </a:extLst>
          </p:cNvPr>
          <p:cNvSpPr>
            <a:spLocks xmlns:a="http://schemas.openxmlformats.org/drawingml/2006/main" noGrp="1"/>
          </p:cNvSpPr>
          <p:nvPr/>
        </p:nvSpPr>
        <p:spPr>
          <a:xfrm xmlns:a="http://schemas.openxmlformats.org/drawingml/2006/main">
            <a:off x="552450" y="3552825"/>
            <a:ext cx="914400" cy="647700"/>
          </a:xfrm>
          <a:prstGeom xmlns:a="http://schemas.openxmlformats.org/drawingml/2006/main" prst="roundRect">
            <a:avLst>
              <a:gd name="adj" fmla="val 11765"/>
            </a:avLst>
          </a:prstGeom>
          <a:solidFill xmlns:a="http://schemas.openxmlformats.org/drawingml/2006/main">
            <a:srgbClr val="10243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041FE3-A7CE-479D-A61D-B9B6B6F9CC7F}"/>
              </a:ext>
            </a:extLst>
          </p:cNvPr>
          <p:cNvSpPr>
            <a:spLocks xmlns:a="http://schemas.openxmlformats.org/drawingml/2006/main" noGrp="1"/>
          </p:cNvSpPr>
          <p:nvPr/>
        </p:nvSpPr>
        <p:spPr>
          <a:xfrm xmlns:a="http://schemas.openxmlformats.org/drawingml/2006/main">
            <a:off x="552450" y="360997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T0</a:t>
            </a:r>
          </a:p>
        </p:txBody>
      </p:sp>
      <p:sp>
        <p:nvSpPr>
          <p:cNvPr id="14" name="">
            <a:extLst xmlns:a="http://schemas.openxmlformats.org/drawingml/2006/main">
              <a:ext uri="{FF2B5EF4-FFF2-40B4-BE49-F238E27FC236}">
                <a16:creationId xmlns:a16="http://schemas.microsoft.com/office/drawing/2014/main" id="{85C84A87-518B-4422-8245-ADAA61F8F6B4}"/>
              </a:ext>
            </a:extLst>
          </p:cNvPr>
          <p:cNvSpPr>
            <a:spLocks xmlns:a="http://schemas.openxmlformats.org/drawingml/2006/main" noGrp="1"/>
          </p:cNvSpPr>
          <p:nvPr/>
        </p:nvSpPr>
        <p:spPr>
          <a:xfrm xmlns:a="http://schemas.openxmlformats.org/drawingml/2006/main">
            <a:off x="552450" y="387667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FFFFFF"/>
                </a:solidFill>
                <a:latin typeface="DejaVu Sans"/>
                <a:ea typeface="DejaVu Sans"/>
                <a:cs typeface="DejaVu Sans"/>
              </a:defRPr>
            </a:pPr>
            <a:r>
              <a:rPr sz="825" b="0">
                <a:solidFill>
                  <a:srgbClr val="FFFFFF"/>
                </a:solidFill>
                <a:latin typeface="DejaVu Sans"/>
                <a:ea typeface="DejaVu Sans"/>
                <a:cs typeface="DejaVu Sans"/>
              </a:rPr>
              <a:t>Original</a:t>
            </a:r>
          </a:p>
        </p:txBody>
      </p:sp>
      <p:sp>
        <p:nvSpPr>
          <p:cNvPr id="15" name="">
            <a:extLst xmlns:a="http://schemas.openxmlformats.org/drawingml/2006/main">
              <a:ext uri="{FF2B5EF4-FFF2-40B4-BE49-F238E27FC236}">
                <a16:creationId xmlns:a16="http://schemas.microsoft.com/office/drawing/2014/main" id="{FA309543-CCB9-43A6-AB71-8DDE33479076}"/>
              </a:ext>
            </a:extLst>
          </p:cNvPr>
          <p:cNvSpPr>
            <a:spLocks xmlns:a="http://schemas.openxmlformats.org/drawingml/2006/main" noGrp="1"/>
          </p:cNvSpPr>
          <p:nvPr/>
        </p:nvSpPr>
        <p:spPr>
          <a:xfrm xmlns:a="http://schemas.openxmlformats.org/drawingml/2006/main">
            <a:off x="1466850" y="3667125"/>
            <a:ext cx="247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484"/>
          </a:bodyPr>
          <a:lstStyle xmlns:a="http://schemas.openxmlformats.org/drawingml/2006/main"/>
          <a:p xmlns:a="http://schemas.openxmlformats.org/drawingml/2006/main">
            <a:pPr>
              <a:defRPr sz="2100" b="1">
                <a:solidFill>
                  <a:srgbClr val="D8A33A"/>
                </a:solidFill>
                <a:latin typeface="DejaVu Sans"/>
                <a:ea typeface="DejaVu Sans"/>
                <a:cs typeface="DejaVu Sans"/>
              </a:defRPr>
            </a:pPr>
            <a:r>
              <a:rPr sz="2100" b="1">
                <a:solidFill>
                  <a:srgbClr val="D8A33A"/>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8BB20618-9B62-4354-AFD0-43B6D68BAE48}"/>
              </a:ext>
            </a:extLst>
          </p:cNvPr>
          <p:cNvSpPr>
            <a:spLocks xmlns:a="http://schemas.openxmlformats.org/drawingml/2006/main" noGrp="1"/>
          </p:cNvSpPr>
          <p:nvPr/>
        </p:nvSpPr>
        <p:spPr>
          <a:xfrm xmlns:a="http://schemas.openxmlformats.org/drawingml/2006/main">
            <a:off x="1714500" y="3552825"/>
            <a:ext cx="914400" cy="647700"/>
          </a:xfrm>
          <a:prstGeom xmlns:a="http://schemas.openxmlformats.org/drawingml/2006/main" prst="roundRect">
            <a:avLst>
              <a:gd name="adj" fmla="val 11765"/>
            </a:avLst>
          </a:prstGeom>
          <a:solidFill xmlns:a="http://schemas.openxmlformats.org/drawingml/2006/main">
            <a:srgbClr val="2F67C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42BEB44-F985-452C-82C4-C6452E09BC04}"/>
              </a:ext>
            </a:extLst>
          </p:cNvPr>
          <p:cNvSpPr>
            <a:spLocks xmlns:a="http://schemas.openxmlformats.org/drawingml/2006/main" noGrp="1"/>
          </p:cNvSpPr>
          <p:nvPr/>
        </p:nvSpPr>
        <p:spPr>
          <a:xfrm xmlns:a="http://schemas.openxmlformats.org/drawingml/2006/main">
            <a:off x="1714500" y="360997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T1</a:t>
            </a:r>
          </a:p>
        </p:txBody>
      </p:sp>
      <p:sp>
        <p:nvSpPr>
          <p:cNvPr id="18" name="">
            <a:extLst xmlns:a="http://schemas.openxmlformats.org/drawingml/2006/main">
              <a:ext uri="{FF2B5EF4-FFF2-40B4-BE49-F238E27FC236}">
                <a16:creationId xmlns:a16="http://schemas.microsoft.com/office/drawing/2014/main" id="{4C0E4544-79A0-4688-BBF6-E0097E32E015}"/>
              </a:ext>
            </a:extLst>
          </p:cNvPr>
          <p:cNvSpPr>
            <a:spLocks xmlns:a="http://schemas.openxmlformats.org/drawingml/2006/main" noGrp="1"/>
          </p:cNvSpPr>
          <p:nvPr/>
        </p:nvSpPr>
        <p:spPr>
          <a:xfrm xmlns:a="http://schemas.openxmlformats.org/drawingml/2006/main">
            <a:off x="1714500" y="387667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FFFFFF"/>
                </a:solidFill>
                <a:latin typeface="DejaVu Sans"/>
                <a:ea typeface="DejaVu Sans"/>
                <a:cs typeface="DejaVu Sans"/>
              </a:defRPr>
            </a:pPr>
            <a:r>
              <a:rPr sz="825" b="0">
                <a:solidFill>
                  <a:srgbClr val="FFFFFF"/>
                </a:solidFill>
                <a:latin typeface="DejaVu Sans"/>
                <a:ea typeface="DejaVu Sans"/>
                <a:cs typeface="DejaVu Sans"/>
              </a:rPr>
              <a:t>Round 1</a:t>
            </a:r>
          </a:p>
        </p:txBody>
      </p:sp>
      <p:sp>
        <p:nvSpPr>
          <p:cNvPr id="19" name="">
            <a:extLst xmlns:a="http://schemas.openxmlformats.org/drawingml/2006/main">
              <a:ext uri="{FF2B5EF4-FFF2-40B4-BE49-F238E27FC236}">
                <a16:creationId xmlns:a16="http://schemas.microsoft.com/office/drawing/2014/main" id="{A15B6C3E-7278-4865-BFC5-E757BE8A42F3}"/>
              </a:ext>
            </a:extLst>
          </p:cNvPr>
          <p:cNvSpPr>
            <a:spLocks xmlns:a="http://schemas.openxmlformats.org/drawingml/2006/main" noGrp="1"/>
          </p:cNvSpPr>
          <p:nvPr/>
        </p:nvSpPr>
        <p:spPr>
          <a:xfrm xmlns:a="http://schemas.openxmlformats.org/drawingml/2006/main">
            <a:off x="2628900" y="3667125"/>
            <a:ext cx="247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484"/>
          </a:bodyPr>
          <a:lstStyle xmlns:a="http://schemas.openxmlformats.org/drawingml/2006/main"/>
          <a:p xmlns:a="http://schemas.openxmlformats.org/drawingml/2006/main">
            <a:pPr>
              <a:defRPr sz="2100" b="1">
                <a:solidFill>
                  <a:srgbClr val="D8A33A"/>
                </a:solidFill>
                <a:latin typeface="DejaVu Sans"/>
                <a:ea typeface="DejaVu Sans"/>
                <a:cs typeface="DejaVu Sans"/>
              </a:defRPr>
            </a:pPr>
            <a:r>
              <a:rPr sz="2100" b="1">
                <a:solidFill>
                  <a:srgbClr val="D8A33A"/>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86C32DCC-8F90-493D-A0EC-25A7A0DDA6EB}"/>
              </a:ext>
            </a:extLst>
          </p:cNvPr>
          <p:cNvSpPr>
            <a:spLocks xmlns:a="http://schemas.openxmlformats.org/drawingml/2006/main" noGrp="1"/>
          </p:cNvSpPr>
          <p:nvPr/>
        </p:nvSpPr>
        <p:spPr>
          <a:xfrm xmlns:a="http://schemas.openxmlformats.org/drawingml/2006/main">
            <a:off x="2876550" y="3552825"/>
            <a:ext cx="914400" cy="647700"/>
          </a:xfrm>
          <a:prstGeom xmlns:a="http://schemas.openxmlformats.org/drawingml/2006/main" prst="roundRect">
            <a:avLst>
              <a:gd name="adj" fmla="val 11765"/>
            </a:avLst>
          </a:prstGeom>
          <a:solidFill xmlns:a="http://schemas.openxmlformats.org/drawingml/2006/main">
            <a:srgbClr val="2F67C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8D5CC7F-AB40-4B7B-AD45-35CA981D5F5C}"/>
              </a:ext>
            </a:extLst>
          </p:cNvPr>
          <p:cNvSpPr>
            <a:spLocks xmlns:a="http://schemas.openxmlformats.org/drawingml/2006/main" noGrp="1"/>
          </p:cNvSpPr>
          <p:nvPr/>
        </p:nvSpPr>
        <p:spPr>
          <a:xfrm xmlns:a="http://schemas.openxmlformats.org/drawingml/2006/main">
            <a:off x="2876550" y="360997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T2</a:t>
            </a:r>
          </a:p>
        </p:txBody>
      </p:sp>
      <p:sp>
        <p:nvSpPr>
          <p:cNvPr id="22" name="">
            <a:extLst xmlns:a="http://schemas.openxmlformats.org/drawingml/2006/main">
              <a:ext uri="{FF2B5EF4-FFF2-40B4-BE49-F238E27FC236}">
                <a16:creationId xmlns:a16="http://schemas.microsoft.com/office/drawing/2014/main" id="{131CEDAF-01A2-4D42-9B58-1FB852F0FF85}"/>
              </a:ext>
            </a:extLst>
          </p:cNvPr>
          <p:cNvSpPr>
            <a:spLocks xmlns:a="http://schemas.openxmlformats.org/drawingml/2006/main" noGrp="1"/>
          </p:cNvSpPr>
          <p:nvPr/>
        </p:nvSpPr>
        <p:spPr>
          <a:xfrm xmlns:a="http://schemas.openxmlformats.org/drawingml/2006/main">
            <a:off x="2876550" y="387667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FFFFFF"/>
                </a:solidFill>
                <a:latin typeface="DejaVu Sans"/>
                <a:ea typeface="DejaVu Sans"/>
                <a:cs typeface="DejaVu Sans"/>
              </a:defRPr>
            </a:pPr>
            <a:r>
              <a:rPr sz="825" b="0">
                <a:solidFill>
                  <a:srgbClr val="FFFFFF"/>
                </a:solidFill>
                <a:latin typeface="DejaVu Sans"/>
                <a:ea typeface="DejaVu Sans"/>
                <a:cs typeface="DejaVu Sans"/>
              </a:rPr>
              <a:t>Round 2</a:t>
            </a:r>
          </a:p>
        </p:txBody>
      </p:sp>
      <p:sp>
        <p:nvSpPr>
          <p:cNvPr id="23" name="">
            <a:extLst xmlns:a="http://schemas.openxmlformats.org/drawingml/2006/main">
              <a:ext uri="{FF2B5EF4-FFF2-40B4-BE49-F238E27FC236}">
                <a16:creationId xmlns:a16="http://schemas.microsoft.com/office/drawing/2014/main" id="{CEE54DAE-3E38-42B6-87BA-515E2EE71031}"/>
              </a:ext>
            </a:extLst>
          </p:cNvPr>
          <p:cNvSpPr>
            <a:spLocks xmlns:a="http://schemas.openxmlformats.org/drawingml/2006/main" noGrp="1"/>
          </p:cNvSpPr>
          <p:nvPr/>
        </p:nvSpPr>
        <p:spPr>
          <a:xfrm xmlns:a="http://schemas.openxmlformats.org/drawingml/2006/main">
            <a:off x="3790950" y="3667125"/>
            <a:ext cx="247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484"/>
          </a:bodyPr>
          <a:lstStyle xmlns:a="http://schemas.openxmlformats.org/drawingml/2006/main"/>
          <a:p xmlns:a="http://schemas.openxmlformats.org/drawingml/2006/main">
            <a:pPr>
              <a:defRPr sz="2100" b="1">
                <a:solidFill>
                  <a:srgbClr val="D8A33A"/>
                </a:solidFill>
                <a:latin typeface="DejaVu Sans"/>
                <a:ea typeface="DejaVu Sans"/>
                <a:cs typeface="DejaVu Sans"/>
              </a:defRPr>
            </a:pPr>
            <a:r>
              <a:rPr sz="2100" b="1">
                <a:solidFill>
                  <a:srgbClr val="D8A33A"/>
                </a:solidFill>
                <a:latin typeface="DejaVu Sans"/>
                <a:ea typeface="DejaVu Sans"/>
                <a:cs typeface="DejaVu Sans"/>
              </a:rPr>
              <a:t>›</a:t>
            </a:r>
          </a:p>
        </p:txBody>
      </p:sp>
      <p:sp>
        <p:nvSpPr>
          <p:cNvPr id="24" name="">
            <a:extLst xmlns:a="http://schemas.openxmlformats.org/drawingml/2006/main">
              <a:ext uri="{FF2B5EF4-FFF2-40B4-BE49-F238E27FC236}">
                <a16:creationId xmlns:a16="http://schemas.microsoft.com/office/drawing/2014/main" id="{1CDBC6E9-5026-4F09-B9CA-4871155B4D06}"/>
              </a:ext>
            </a:extLst>
          </p:cNvPr>
          <p:cNvSpPr>
            <a:spLocks xmlns:a="http://schemas.openxmlformats.org/drawingml/2006/main" noGrp="1"/>
          </p:cNvSpPr>
          <p:nvPr/>
        </p:nvSpPr>
        <p:spPr>
          <a:xfrm xmlns:a="http://schemas.openxmlformats.org/drawingml/2006/main">
            <a:off x="4038600" y="3552825"/>
            <a:ext cx="914400" cy="647700"/>
          </a:xfrm>
          <a:prstGeom xmlns:a="http://schemas.openxmlformats.org/drawingml/2006/main" prst="roundRect">
            <a:avLst>
              <a:gd name="adj" fmla="val 11765"/>
            </a:avLst>
          </a:prstGeom>
          <a:solidFill xmlns:a="http://schemas.openxmlformats.org/drawingml/2006/main">
            <a:srgbClr val="2F67C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4EDE55E-5005-41EC-BD8D-785790CC3772}"/>
              </a:ext>
            </a:extLst>
          </p:cNvPr>
          <p:cNvSpPr>
            <a:spLocks xmlns:a="http://schemas.openxmlformats.org/drawingml/2006/main" noGrp="1"/>
          </p:cNvSpPr>
          <p:nvPr/>
        </p:nvSpPr>
        <p:spPr>
          <a:xfrm xmlns:a="http://schemas.openxmlformats.org/drawingml/2006/main">
            <a:off x="4038600" y="3609975"/>
            <a:ext cx="914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T3</a:t>
            </a:r>
          </a:p>
        </p:txBody>
      </p:sp>
      <p:sp>
        <p:nvSpPr>
          <p:cNvPr id="26" name="">
            <a:extLst xmlns:a="http://schemas.openxmlformats.org/drawingml/2006/main">
              <a:ext uri="{FF2B5EF4-FFF2-40B4-BE49-F238E27FC236}">
                <a16:creationId xmlns:a16="http://schemas.microsoft.com/office/drawing/2014/main" id="{D9A6730F-0028-4214-94B2-E9B4AAEC20CE}"/>
              </a:ext>
            </a:extLst>
          </p:cNvPr>
          <p:cNvSpPr>
            <a:spLocks xmlns:a="http://schemas.openxmlformats.org/drawingml/2006/main" noGrp="1"/>
          </p:cNvSpPr>
          <p:nvPr/>
        </p:nvSpPr>
        <p:spPr>
          <a:xfrm xmlns:a="http://schemas.openxmlformats.org/drawingml/2006/main">
            <a:off x="4038600" y="387667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FFFFFF"/>
                </a:solidFill>
                <a:latin typeface="DejaVu Sans"/>
                <a:ea typeface="DejaVu Sans"/>
                <a:cs typeface="DejaVu Sans"/>
              </a:defRPr>
            </a:pPr>
            <a:r>
              <a:rPr sz="825" b="0">
                <a:solidFill>
                  <a:srgbClr val="FFFFFF"/>
                </a:solidFill>
                <a:latin typeface="DejaVu Sans"/>
                <a:ea typeface="DejaVu Sans"/>
                <a:cs typeface="DejaVu Sans"/>
              </a:rPr>
              <a:t>Round 3</a:t>
            </a:r>
          </a:p>
        </p:txBody>
      </p:sp>
      <p:sp>
        <p:nvSpPr>
          <p:cNvPr id="27" name="">
            <a:extLst xmlns:a="http://schemas.openxmlformats.org/drawingml/2006/main">
              <a:ext uri="{FF2B5EF4-FFF2-40B4-BE49-F238E27FC236}">
                <a16:creationId xmlns:a16="http://schemas.microsoft.com/office/drawing/2014/main" id="{7CB067E1-B06A-4006-A058-709848243240}"/>
              </a:ext>
            </a:extLst>
          </p:cNvPr>
          <p:cNvSpPr>
            <a:spLocks xmlns:a="http://schemas.openxmlformats.org/drawingml/2006/main" noGrp="1"/>
          </p:cNvSpPr>
          <p:nvPr/>
        </p:nvSpPr>
        <p:spPr>
          <a:xfrm xmlns:a="http://schemas.openxmlformats.org/drawingml/2006/main">
            <a:off x="552450" y="43434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C6678"/>
                </a:solidFill>
                <a:latin typeface="DejaVu Sans"/>
                <a:ea typeface="DejaVu Sans"/>
                <a:cs typeface="DejaVu Sans"/>
              </a:defRPr>
            </a:pPr>
            <a:r>
              <a:rPr sz="1275" b="0">
                <a:solidFill>
                  <a:srgbClr val="5C6678"/>
                </a:solidFill>
                <a:latin typeface="DejaVu Sans"/>
                <a:ea typeface="DejaVu Sans"/>
                <a:cs typeface="DejaVu Sans"/>
              </a:rPr>
              <a:t>Each T1–T3 sample remains linked to its T0 document, dataset, generation, and paraphraser.</a:t>
            </a:r>
          </a:p>
        </p:txBody>
      </p:sp>
      <p:sp>
        <p:nvSpPr>
          <p:cNvPr id="28" name="">
            <a:extLst xmlns:a="http://schemas.openxmlformats.org/drawingml/2006/main">
              <a:ext uri="{FF2B5EF4-FFF2-40B4-BE49-F238E27FC236}">
                <a16:creationId xmlns:a16="http://schemas.microsoft.com/office/drawing/2014/main" id="{4E7B7AB8-4DD2-451F-8823-555B3A0F2AD0}"/>
              </a:ext>
            </a:extLst>
          </p:cNvPr>
          <p:cNvSpPr>
            <a:spLocks xmlns:a="http://schemas.openxmlformats.org/drawingml/2006/main" noGrp="1"/>
          </p:cNvSpPr>
          <p:nvPr/>
        </p:nvSpPr>
        <p:spPr>
          <a:xfrm xmlns:a="http://schemas.openxmlformats.org/drawingml/2006/main">
            <a:off x="5857875" y="1381125"/>
            <a:ext cx="5667375" cy="3857625"/>
          </a:xfrm>
          <a:prstGeom xmlns:a="http://schemas.openxmlformats.org/drawingml/2006/main" prst="roundRect">
            <a:avLst>
              <a:gd name="adj" fmla="val 1975"/>
            </a:avLst>
          </a:prstGeom>
          <a:solidFill xmlns:a="http://schemas.openxmlformats.org/drawingml/2006/main">
            <a:srgbClr val="EEF4F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6F0071B-C3F7-4A7E-8050-1A9DD62A0342}"/>
              </a:ext>
            </a:extLst>
          </p:cNvPr>
          <p:cNvSpPr>
            <a:spLocks xmlns:a="http://schemas.openxmlformats.org/drawingml/2006/main" noGrp="1"/>
          </p:cNvSpPr>
          <p:nvPr/>
        </p:nvSpPr>
        <p:spPr>
          <a:xfrm xmlns:a="http://schemas.openxmlformats.org/drawingml/2006/main">
            <a:off x="6153150" y="160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10243E"/>
                </a:solidFill>
                <a:latin typeface="DejaVu Sans"/>
                <a:ea typeface="DejaVu Sans"/>
                <a:cs typeface="DejaVu Sans"/>
              </a:defRPr>
            </a:pPr>
            <a:r>
              <a:rPr sz="1725" b="1">
                <a:solidFill>
                  <a:srgbClr val="10243E"/>
                </a:solidFill>
                <a:latin typeface="DejaVu Sans"/>
                <a:ea typeface="DejaVu Sans"/>
                <a:cs typeface="DejaVu Sans"/>
              </a:rPr>
              <a:t>Analysis-ready schema</a:t>
            </a:r>
          </a:p>
        </p:txBody>
      </p:sp>
      <p:sp>
        <p:nvSpPr>
          <p:cNvPr id="30" name="">
            <a:extLst xmlns:a="http://schemas.openxmlformats.org/drawingml/2006/main">
              <a:ext uri="{FF2B5EF4-FFF2-40B4-BE49-F238E27FC236}">
                <a16:creationId xmlns:a16="http://schemas.microsoft.com/office/drawing/2014/main" id="{A7DAB512-9406-4112-BC56-763455BC9722}"/>
              </a:ext>
            </a:extLst>
          </p:cNvPr>
          <p:cNvSpPr>
            <a:spLocks xmlns:a="http://schemas.openxmlformats.org/drawingml/2006/main" noGrp="1"/>
          </p:cNvSpPr>
          <p:nvPr/>
        </p:nvSpPr>
        <p:spPr>
          <a:xfrm xmlns:a="http://schemas.openxmlformats.org/drawingml/2006/main">
            <a:off x="6153150" y="21145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Identity</a:t>
            </a:r>
          </a:p>
        </p:txBody>
      </p:sp>
      <p:sp>
        <p:nvSpPr>
          <p:cNvPr id="31" name="">
            <a:extLst xmlns:a="http://schemas.openxmlformats.org/drawingml/2006/main">
              <a:ext uri="{FF2B5EF4-FFF2-40B4-BE49-F238E27FC236}">
                <a16:creationId xmlns:a16="http://schemas.microsoft.com/office/drawing/2014/main" id="{DD920680-34AC-424C-B03E-8779F906A685}"/>
              </a:ext>
            </a:extLst>
          </p:cNvPr>
          <p:cNvSpPr>
            <a:spLocks xmlns:a="http://schemas.openxmlformats.org/drawingml/2006/main" noGrp="1"/>
          </p:cNvSpPr>
          <p:nvPr/>
        </p:nvSpPr>
        <p:spPr>
          <a:xfrm xmlns:a="http://schemas.openxmlformats.org/drawingml/2006/main">
            <a:off x="7296150" y="2114550"/>
            <a:ext cx="384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033"/>
                </a:solidFill>
                <a:latin typeface="DejaVu Sans"/>
                <a:ea typeface="DejaVu Sans"/>
                <a:cs typeface="DejaVu Sans"/>
              </a:defRPr>
            </a:pPr>
            <a:r>
              <a:rPr sz="1200" b="0">
                <a:solidFill>
                  <a:srgbClr val="172033"/>
                </a:solidFill>
                <a:latin typeface="DejaVu Sans"/>
                <a:ea typeface="DejaVu Sans"/>
                <a:cs typeface="DejaVu Sans"/>
              </a:rPr>
              <a:t>dataset_id, document_id, source</a:t>
            </a:r>
          </a:p>
        </p:txBody>
      </p:sp>
      <p:sp>
        <p:nvSpPr>
          <p:cNvPr id="32" name="">
            <a:extLst xmlns:a="http://schemas.openxmlformats.org/drawingml/2006/main">
              <a:ext uri="{FF2B5EF4-FFF2-40B4-BE49-F238E27FC236}">
                <a16:creationId xmlns:a16="http://schemas.microsoft.com/office/drawing/2014/main" id="{89D35908-44C8-4109-9016-C1D3DA72E78C}"/>
              </a:ext>
            </a:extLst>
          </p:cNvPr>
          <p:cNvSpPr>
            <a:spLocks xmlns:a="http://schemas.openxmlformats.org/drawingml/2006/main" noGrp="1"/>
          </p:cNvSpPr>
          <p:nvPr/>
        </p:nvSpPr>
        <p:spPr>
          <a:xfrm xmlns:a="http://schemas.openxmlformats.org/drawingml/2006/main">
            <a:off x="6153150" y="2514600"/>
            <a:ext cx="4953000" cy="9525"/>
          </a:xfrm>
          <a:prstGeom xmlns:a="http://schemas.openxmlformats.org/drawingml/2006/main" prst="rect">
            <a:avLst/>
          </a:prstGeom>
          <a:solidFill xmlns:a="http://schemas.openxmlformats.org/drawingml/2006/main">
            <a:srgbClr val="C9D9E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4334E03-3F18-4B58-9DDE-1F0348CC6DF6}"/>
              </a:ext>
            </a:extLst>
          </p:cNvPr>
          <p:cNvSpPr>
            <a:spLocks xmlns:a="http://schemas.openxmlformats.org/drawingml/2006/main" noGrp="1"/>
          </p:cNvSpPr>
          <p:nvPr/>
        </p:nvSpPr>
        <p:spPr>
          <a:xfrm xmlns:a="http://schemas.openxmlformats.org/drawingml/2006/main">
            <a:off x="6153150" y="270510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Lineage</a:t>
            </a:r>
          </a:p>
        </p:txBody>
      </p:sp>
      <p:sp>
        <p:nvSpPr>
          <p:cNvPr id="34" name="">
            <a:extLst xmlns:a="http://schemas.openxmlformats.org/drawingml/2006/main">
              <a:ext uri="{FF2B5EF4-FFF2-40B4-BE49-F238E27FC236}">
                <a16:creationId xmlns:a16="http://schemas.microsoft.com/office/drawing/2014/main" id="{5F8438F7-2FD4-45D3-AD33-C43A7D857B19}"/>
              </a:ext>
            </a:extLst>
          </p:cNvPr>
          <p:cNvSpPr>
            <a:spLocks xmlns:a="http://schemas.openxmlformats.org/drawingml/2006/main" noGrp="1"/>
          </p:cNvSpPr>
          <p:nvPr/>
        </p:nvSpPr>
        <p:spPr>
          <a:xfrm xmlns:a="http://schemas.openxmlformats.org/drawingml/2006/main">
            <a:off x="7296150" y="2705100"/>
            <a:ext cx="384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033"/>
                </a:solidFill>
                <a:latin typeface="DejaVu Sans"/>
                <a:ea typeface="DejaVu Sans"/>
                <a:cs typeface="DejaVu Sans"/>
              </a:defRPr>
            </a:pPr>
            <a:r>
              <a:rPr sz="1200" b="0">
                <a:solidFill>
                  <a:srgbClr val="172033"/>
                </a:solidFill>
                <a:latin typeface="DejaVu Sans"/>
                <a:ea typeface="DejaVu Sans"/>
                <a:cs typeface="DejaVu Sans"/>
              </a:rPr>
              <a:t>parent_text, current_text, generation</a:t>
            </a:r>
          </a:p>
        </p:txBody>
      </p:sp>
      <p:sp>
        <p:nvSpPr>
          <p:cNvPr id="35" name="">
            <a:extLst xmlns:a="http://schemas.openxmlformats.org/drawingml/2006/main">
              <a:ext uri="{FF2B5EF4-FFF2-40B4-BE49-F238E27FC236}">
                <a16:creationId xmlns:a16="http://schemas.microsoft.com/office/drawing/2014/main" id="{67131B99-3994-4990-BAD7-19D3D90860BC}"/>
              </a:ext>
            </a:extLst>
          </p:cNvPr>
          <p:cNvSpPr>
            <a:spLocks xmlns:a="http://schemas.openxmlformats.org/drawingml/2006/main" noGrp="1"/>
          </p:cNvSpPr>
          <p:nvPr/>
        </p:nvSpPr>
        <p:spPr>
          <a:xfrm xmlns:a="http://schemas.openxmlformats.org/drawingml/2006/main">
            <a:off x="6153150" y="3105150"/>
            <a:ext cx="4953000" cy="9525"/>
          </a:xfrm>
          <a:prstGeom xmlns:a="http://schemas.openxmlformats.org/drawingml/2006/main" prst="rect">
            <a:avLst/>
          </a:prstGeom>
          <a:solidFill xmlns:a="http://schemas.openxmlformats.org/drawingml/2006/main">
            <a:srgbClr val="C9D9E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85BE0C3-0704-406A-BB66-10BD6299F9EA}"/>
              </a:ext>
            </a:extLst>
          </p:cNvPr>
          <p:cNvSpPr>
            <a:spLocks xmlns:a="http://schemas.openxmlformats.org/drawingml/2006/main" noGrp="1"/>
          </p:cNvSpPr>
          <p:nvPr/>
        </p:nvSpPr>
        <p:spPr>
          <a:xfrm xmlns:a="http://schemas.openxmlformats.org/drawingml/2006/main">
            <a:off x="6153150" y="329565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Generator</a:t>
            </a:r>
          </a:p>
        </p:txBody>
      </p:sp>
      <p:sp>
        <p:nvSpPr>
          <p:cNvPr id="37" name="">
            <a:extLst xmlns:a="http://schemas.openxmlformats.org/drawingml/2006/main">
              <a:ext uri="{FF2B5EF4-FFF2-40B4-BE49-F238E27FC236}">
                <a16:creationId xmlns:a16="http://schemas.microsoft.com/office/drawing/2014/main" id="{4B81F60C-679E-4499-A56F-A31B56DE968F}"/>
              </a:ext>
            </a:extLst>
          </p:cNvPr>
          <p:cNvSpPr>
            <a:spLocks xmlns:a="http://schemas.openxmlformats.org/drawingml/2006/main" noGrp="1"/>
          </p:cNvSpPr>
          <p:nvPr/>
        </p:nvSpPr>
        <p:spPr>
          <a:xfrm xmlns:a="http://schemas.openxmlformats.org/drawingml/2006/main">
            <a:off x="7296150" y="3295650"/>
            <a:ext cx="384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033"/>
                </a:solidFill>
                <a:latin typeface="DejaVu Sans"/>
                <a:ea typeface="DejaVu Sans"/>
                <a:cs typeface="DejaVu Sans"/>
              </a:defRPr>
            </a:pPr>
            <a:r>
              <a:rPr sz="1200" b="0">
                <a:solidFill>
                  <a:srgbClr val="172033"/>
                </a:solidFill>
                <a:latin typeface="DejaVu Sans"/>
                <a:ea typeface="DejaVu Sans"/>
                <a:cs typeface="DejaVu Sans"/>
              </a:rPr>
              <a:t>ChatGPT, PaLM2, Pegasus, or Dipper</a:t>
            </a:r>
          </a:p>
        </p:txBody>
      </p:sp>
      <p:sp>
        <p:nvSpPr>
          <p:cNvPr id="38" name="">
            <a:extLst xmlns:a="http://schemas.openxmlformats.org/drawingml/2006/main">
              <a:ext uri="{FF2B5EF4-FFF2-40B4-BE49-F238E27FC236}">
                <a16:creationId xmlns:a16="http://schemas.microsoft.com/office/drawing/2014/main" id="{1279090D-6921-4F79-855A-2421C00B020D}"/>
              </a:ext>
            </a:extLst>
          </p:cNvPr>
          <p:cNvSpPr>
            <a:spLocks xmlns:a="http://schemas.openxmlformats.org/drawingml/2006/main" noGrp="1"/>
          </p:cNvSpPr>
          <p:nvPr/>
        </p:nvSpPr>
        <p:spPr>
          <a:xfrm xmlns:a="http://schemas.openxmlformats.org/drawingml/2006/main">
            <a:off x="6153150" y="3695700"/>
            <a:ext cx="4953000" cy="9525"/>
          </a:xfrm>
          <a:prstGeom xmlns:a="http://schemas.openxmlformats.org/drawingml/2006/main" prst="rect">
            <a:avLst/>
          </a:prstGeom>
          <a:solidFill xmlns:a="http://schemas.openxmlformats.org/drawingml/2006/main">
            <a:srgbClr val="C9D9E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0ED7D1D-1DFF-4B65-A6EB-46C0932E7D78}"/>
              </a:ext>
            </a:extLst>
          </p:cNvPr>
          <p:cNvSpPr>
            <a:spLocks xmlns:a="http://schemas.openxmlformats.org/drawingml/2006/main" noGrp="1"/>
          </p:cNvSpPr>
          <p:nvPr/>
        </p:nvSpPr>
        <p:spPr>
          <a:xfrm xmlns:a="http://schemas.openxmlformats.org/drawingml/2006/main">
            <a:off x="6153150" y="3886200"/>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Targets</a:t>
            </a:r>
          </a:p>
        </p:txBody>
      </p:sp>
      <p:sp>
        <p:nvSpPr>
          <p:cNvPr id="40" name="">
            <a:extLst xmlns:a="http://schemas.openxmlformats.org/drawingml/2006/main">
              <a:ext uri="{FF2B5EF4-FFF2-40B4-BE49-F238E27FC236}">
                <a16:creationId xmlns:a16="http://schemas.microsoft.com/office/drawing/2014/main" id="{0EC523D2-29B2-49ED-B757-B0179D7D600E}"/>
              </a:ext>
            </a:extLst>
          </p:cNvPr>
          <p:cNvSpPr>
            <a:spLocks xmlns:a="http://schemas.openxmlformats.org/drawingml/2006/main" noGrp="1"/>
          </p:cNvSpPr>
          <p:nvPr/>
        </p:nvSpPr>
        <p:spPr>
          <a:xfrm xmlns:a="http://schemas.openxmlformats.org/drawingml/2006/main">
            <a:off x="7296150" y="3886200"/>
            <a:ext cx="384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033"/>
                </a:solidFill>
                <a:latin typeface="DejaVu Sans"/>
                <a:ea typeface="DejaVu Sans"/>
                <a:cs typeface="DejaVu Sans"/>
              </a:defRPr>
            </a:pPr>
            <a:r>
              <a:rPr sz="1200" b="0">
                <a:solidFill>
                  <a:srgbClr val="172033"/>
                </a:solidFill>
                <a:latin typeface="DejaVu Sans"/>
                <a:ea typeface="DejaVu Sans"/>
                <a:cs typeface="DejaVu Sans"/>
              </a:rPr>
              <a:t>style decay, semantic retention, attribution</a:t>
            </a:r>
          </a:p>
        </p:txBody>
      </p:sp>
      <p:sp>
        <p:nvSpPr>
          <p:cNvPr id="41" name="">
            <a:extLst xmlns:a="http://schemas.openxmlformats.org/drawingml/2006/main">
              <a:ext uri="{FF2B5EF4-FFF2-40B4-BE49-F238E27FC236}">
                <a16:creationId xmlns:a16="http://schemas.microsoft.com/office/drawing/2014/main" id="{CBE18240-2FDE-4CF6-A17B-4293F94F1A25}"/>
              </a:ext>
            </a:extLst>
          </p:cNvPr>
          <p:cNvSpPr>
            <a:spLocks xmlns:a="http://schemas.openxmlformats.org/drawingml/2006/main" noGrp="1"/>
          </p:cNvSpPr>
          <p:nvPr/>
        </p:nvSpPr>
        <p:spPr>
          <a:xfrm xmlns:a="http://schemas.openxmlformats.org/drawingml/2006/main">
            <a:off x="6153150" y="45434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2F67C7"/>
                </a:solidFill>
                <a:latin typeface="DejaVu Sans"/>
                <a:ea typeface="DejaVu Sans"/>
                <a:cs typeface="DejaVu Sans"/>
              </a:defRPr>
            </a:pPr>
            <a:r>
              <a:rPr sz="975" b="1">
                <a:solidFill>
                  <a:srgbClr val="2F67C7"/>
                </a:solidFill>
                <a:latin typeface="DejaVu Sans"/>
                <a:ea typeface="DejaVu Sans"/>
                <a:cs typeface="DejaVu Sans"/>
              </a:rPr>
              <a:t>ACCESS STATUS</a:t>
            </a:r>
          </a:p>
        </p:txBody>
      </p:sp>
      <p:sp>
        <p:nvSpPr>
          <p:cNvPr id="42" name="">
            <a:extLst xmlns:a="http://schemas.openxmlformats.org/drawingml/2006/main">
              <a:ext uri="{FF2B5EF4-FFF2-40B4-BE49-F238E27FC236}">
                <a16:creationId xmlns:a16="http://schemas.microsoft.com/office/drawing/2014/main" id="{9751C98F-EC53-49DB-9C0A-B1D0287A3F7E}"/>
              </a:ext>
            </a:extLst>
          </p:cNvPr>
          <p:cNvSpPr>
            <a:spLocks xmlns:a="http://schemas.openxmlformats.org/drawingml/2006/main" noGrp="1"/>
          </p:cNvSpPr>
          <p:nvPr/>
        </p:nvSpPr>
        <p:spPr>
          <a:xfrm xmlns:a="http://schemas.openxmlformats.org/drawingml/2006/main">
            <a:off x="6153150" y="4810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03"/>
          </a:bodyPr>
          <a:lstStyle xmlns:a="http://schemas.openxmlformats.org/drawingml/2006/main"/>
          <a:p xmlns:a="http://schemas.openxmlformats.org/drawingml/2006/main">
            <a:pPr>
              <a:defRPr sz="1200" b="1">
                <a:solidFill>
                  <a:srgbClr val="10243E"/>
                </a:solidFill>
                <a:latin typeface="DejaVu Sans"/>
                <a:ea typeface="DejaVu Sans"/>
                <a:cs typeface="DejaVu Sans"/>
              </a:defRPr>
            </a:pPr>
            <a:r>
              <a:rPr sz="1200" b="1">
                <a:solidFill>
                  <a:srgbClr val="10243E"/>
                </a:solidFill>
                <a:latin typeface="DejaVu Sans"/>
                <a:ea typeface="DejaVu Sans"/>
                <a:cs typeface="DejaVu Sans"/>
              </a:rPr>
              <a:t>Selected; file access and schema verification in progress</a:t>
            </a:r>
          </a:p>
        </p:txBody>
      </p:sp>
      <p:sp>
        <p:nvSpPr>
          <p:cNvPr id="43" name="">
            <a:extLst xmlns:a="http://schemas.openxmlformats.org/drawingml/2006/main">
              <a:ext uri="{FF2B5EF4-FFF2-40B4-BE49-F238E27FC236}">
                <a16:creationId xmlns:a16="http://schemas.microsoft.com/office/drawing/2014/main" id="{8244498F-788D-46BE-B9A8-9DAF3A53202E}"/>
              </a:ext>
            </a:extLst>
          </p:cNvPr>
          <p:cNvSpPr>
            <a:spLocks xmlns:a="http://schemas.openxmlformats.org/drawingml/2006/main" noGrp="1"/>
          </p:cNvSpPr>
          <p:nvPr/>
        </p:nvSpPr>
        <p:spPr>
          <a:xfrm xmlns:a="http://schemas.openxmlformats.org/drawingml/2006/main">
            <a:off x="51435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Initial subsets: xsum and yelp, followed by cross-dataset validation on the remaining corpus</a:t>
            </a:r>
          </a:p>
        </p:txBody>
      </p:sp>
    </p:spTree>
    <p:extLst>
      <p:ext uri="{BB962C8B-B14F-4D97-AF65-F5344CB8AC3E}">
        <p14:creationId xmlns:p14="http://schemas.microsoft.com/office/powerpoint/2010/main" val="18720664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BF4FFF4-C6F0-4E1C-9287-571ACD39A272}"/>
              </a:ext>
            </a:extLst>
          </p:cNvPr>
          <p:cNvSpPr>
            <a:spLocks xmlns:a="http://schemas.openxmlformats.org/drawingml/2006/main" noGrp="1"/>
          </p:cNvSpPr>
          <p:nvPr/>
        </p:nvSpPr>
        <p:spPr>
          <a:xfrm xmlns:a="http://schemas.openxmlformats.org/drawingml/2006/main">
            <a:off x="514350" y="323850"/>
            <a:ext cx="57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2F67C7"/>
                </a:solidFill>
                <a:latin typeface="DejaVu Sans"/>
                <a:ea typeface="DejaVu Sans"/>
                <a:cs typeface="DejaVu Sans"/>
              </a:defRPr>
            </a:pPr>
            <a:r>
              <a:rPr sz="1125" b="1">
                <a:solidFill>
                  <a:srgbClr val="2F67C7"/>
                </a:solidFill>
                <a:latin typeface="DejaVu Sans"/>
                <a:ea typeface="DejaVu Sans"/>
                <a:cs typeface="DejaVu Sans"/>
              </a:rPr>
              <a:t>04</a:t>
            </a:r>
          </a:p>
        </p:txBody>
      </p:sp>
      <p:sp>
        <p:nvSpPr>
          <p:cNvPr id="2" name="">
            <a:extLst xmlns:a="http://schemas.openxmlformats.org/drawingml/2006/main">
              <a:ext uri="{FF2B5EF4-FFF2-40B4-BE49-F238E27FC236}">
                <a16:creationId xmlns:a16="http://schemas.microsoft.com/office/drawing/2014/main" id="{C3E376D5-D119-4A23-AFB9-B55E9376502F}"/>
              </a:ext>
            </a:extLst>
          </p:cNvPr>
          <p:cNvSpPr>
            <a:spLocks xmlns:a="http://schemas.openxmlformats.org/drawingml/2006/main" noGrp="1"/>
          </p:cNvSpPr>
          <p:nvPr/>
        </p:nvSpPr>
        <p:spPr>
          <a:xfrm xmlns:a="http://schemas.openxmlformats.org/drawingml/2006/main">
            <a:off x="1066800" y="26670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10243E"/>
                </a:solidFill>
                <a:latin typeface="DejaVu Sans"/>
                <a:ea typeface="DejaVu Sans"/>
                <a:cs typeface="DejaVu Sans"/>
              </a:defRPr>
            </a:pPr>
            <a:r>
              <a:rPr sz="2325" b="1">
                <a:solidFill>
                  <a:srgbClr val="10243E"/>
                </a:solidFill>
                <a:latin typeface="DejaVu Sans"/>
                <a:ea typeface="DejaVu Sans"/>
                <a:cs typeface="DejaVu Sans"/>
              </a:rPr>
              <a:t>Project plan and milestones</a:t>
            </a:r>
          </a:p>
        </p:txBody>
      </p:sp>
      <p:sp>
        <p:nvSpPr>
          <p:cNvPr id="3" name="">
            <a:extLst xmlns:a="http://schemas.openxmlformats.org/drawingml/2006/main">
              <a:ext uri="{FF2B5EF4-FFF2-40B4-BE49-F238E27FC236}">
                <a16:creationId xmlns:a16="http://schemas.microsoft.com/office/drawing/2014/main" id="{D60D0F3C-A171-4663-ABAD-151A43764DBF}"/>
              </a:ext>
            </a:extLst>
          </p:cNvPr>
          <p:cNvSpPr>
            <a:spLocks xmlns:a="http://schemas.openxmlformats.org/drawingml/2006/main" noGrp="1"/>
          </p:cNvSpPr>
          <p:nvPr/>
        </p:nvSpPr>
        <p:spPr>
          <a:xfrm xmlns:a="http://schemas.openxmlformats.org/drawingml/2006/main">
            <a:off x="1066800" y="7620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C6678"/>
                </a:solidFill>
                <a:latin typeface="DejaVu Sans"/>
                <a:ea typeface="DejaVu Sans"/>
                <a:cs typeface="DejaVu Sans"/>
              </a:defRPr>
            </a:pPr>
            <a:r>
              <a:rPr sz="1050" b="0">
                <a:solidFill>
                  <a:srgbClr val="5C6678"/>
                </a:solidFill>
                <a:latin typeface="DejaVu Sans"/>
                <a:ea typeface="DejaVu Sans"/>
                <a:cs typeface="DejaVu Sans"/>
              </a:rPr>
              <a:t>Weeks 3–14</a:t>
            </a:r>
          </a:p>
        </p:txBody>
      </p:sp>
      <p:sp>
        <p:nvSpPr>
          <p:cNvPr id="4" name="">
            <a:extLst xmlns:a="http://schemas.openxmlformats.org/drawingml/2006/main">
              <a:ext uri="{FF2B5EF4-FFF2-40B4-BE49-F238E27FC236}">
                <a16:creationId xmlns:a16="http://schemas.microsoft.com/office/drawing/2014/main" id="{CBD0DE09-D87B-4500-B92E-992FA24DA531}"/>
              </a:ext>
            </a:extLst>
          </p:cNvPr>
          <p:cNvSpPr>
            <a:spLocks xmlns:a="http://schemas.openxmlformats.org/drawingml/2006/main" noGrp="1"/>
          </p:cNvSpPr>
          <p:nvPr/>
        </p:nvSpPr>
        <p:spPr>
          <a:xfrm xmlns:a="http://schemas.openxmlformats.org/drawingml/2006/main">
            <a:off x="514350" y="1066800"/>
            <a:ext cx="11163300" cy="19050"/>
          </a:xfrm>
          <a:prstGeom xmlns:a="http://schemas.openxmlformats.org/drawingml/2006/main" prst="rect">
            <a:avLst/>
          </a:prstGeom>
          <a:solidFill xmlns:a="http://schemas.openxmlformats.org/drawingml/2006/main">
            <a:srgbClr val="DCEB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187AE1-107B-482E-915E-EFCE2B307B88}"/>
              </a:ext>
            </a:extLst>
          </p:cNvPr>
          <p:cNvSpPr>
            <a:spLocks xmlns:a="http://schemas.openxmlformats.org/drawingml/2006/main" noGrp="1"/>
          </p:cNvSpPr>
          <p:nvPr/>
        </p:nvSpPr>
        <p:spPr>
          <a:xfrm xmlns:a="http://schemas.openxmlformats.org/drawingml/2006/main">
            <a:off x="552450" y="1447800"/>
            <a:ext cx="2609850" cy="3562350"/>
          </a:xfrm>
          <a:prstGeom xmlns:a="http://schemas.openxmlformats.org/drawingml/2006/main" prst="roundRect">
            <a:avLst>
              <a:gd name="adj" fmla="val 2920"/>
            </a:avLst>
          </a:prstGeom>
          <a:solidFill xmlns:a="http://schemas.openxmlformats.org/drawingml/2006/main">
            <a:srgbClr val="F6F8FB"/>
          </a:solidFill>
          <a:ln xmlns:a="http://schemas.openxmlformats.org/drawingml/2006/main" w="9525">
            <a:solidFill>
              <a:srgbClr val="2F67C7"/>
            </a:solidFill>
          </a:ln>
        </p:spPr>
      </p:sp>
      <p:sp>
        <p:nvSpPr>
          <p:cNvPr id="6" name="">
            <a:extLst xmlns:a="http://schemas.openxmlformats.org/drawingml/2006/main">
              <a:ext uri="{FF2B5EF4-FFF2-40B4-BE49-F238E27FC236}">
                <a16:creationId xmlns:a16="http://schemas.microsoft.com/office/drawing/2014/main" id="{DCDFD426-242F-4C03-AB26-5F4817C67D4D}"/>
              </a:ext>
            </a:extLst>
          </p:cNvPr>
          <p:cNvSpPr>
            <a:spLocks xmlns:a="http://schemas.openxmlformats.org/drawingml/2006/main" noGrp="1"/>
          </p:cNvSpPr>
          <p:nvPr/>
        </p:nvSpPr>
        <p:spPr>
          <a:xfrm xmlns:a="http://schemas.openxmlformats.org/drawingml/2006/main">
            <a:off x="552450" y="1447800"/>
            <a:ext cx="2609850" cy="95250"/>
          </a:xfrm>
          <a:prstGeom xmlns:a="http://schemas.openxmlformats.org/drawingml/2006/main" prst="roundRect">
            <a:avLst>
              <a:gd name="adj" fmla="val 50000"/>
            </a:avLst>
          </a:prstGeom>
          <a:solidFill xmlns:a="http://schemas.openxmlformats.org/drawingml/2006/main">
            <a:srgbClr val="2F67C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2FEE70-4F23-4307-81E4-903624894414}"/>
              </a:ext>
            </a:extLst>
          </p:cNvPr>
          <p:cNvSpPr>
            <a:spLocks xmlns:a="http://schemas.openxmlformats.org/drawingml/2006/main" noGrp="1"/>
          </p:cNvSpPr>
          <p:nvPr/>
        </p:nvSpPr>
        <p:spPr>
          <a:xfrm xmlns:a="http://schemas.openxmlformats.org/drawingml/2006/main">
            <a:off x="723900" y="171450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2F67C7"/>
                </a:solidFill>
                <a:latin typeface="DejaVu Sans"/>
                <a:ea typeface="DejaVu Sans"/>
                <a:cs typeface="DejaVu Sans"/>
              </a:defRPr>
            </a:pPr>
            <a:r>
              <a:rPr sz="975" b="1">
                <a:solidFill>
                  <a:srgbClr val="2F67C7"/>
                </a:solidFill>
                <a:latin typeface="DejaVu Sans"/>
                <a:ea typeface="DejaVu Sans"/>
                <a:cs typeface="DejaVu Sans"/>
              </a:rPr>
              <a:t>WEEKS 3–5</a:t>
            </a:r>
          </a:p>
        </p:txBody>
      </p:sp>
      <p:sp>
        <p:nvSpPr>
          <p:cNvPr id="8" name="">
            <a:extLst xmlns:a="http://schemas.openxmlformats.org/drawingml/2006/main">
              <a:ext uri="{FF2B5EF4-FFF2-40B4-BE49-F238E27FC236}">
                <a16:creationId xmlns:a16="http://schemas.microsoft.com/office/drawing/2014/main" id="{8E52D07B-D8FE-4842-9E9A-0A6695254F75}"/>
              </a:ext>
            </a:extLst>
          </p:cNvPr>
          <p:cNvSpPr>
            <a:spLocks xmlns:a="http://schemas.openxmlformats.org/drawingml/2006/main" noGrp="1"/>
          </p:cNvSpPr>
          <p:nvPr/>
        </p:nvSpPr>
        <p:spPr>
          <a:xfrm xmlns:a="http://schemas.openxmlformats.org/drawingml/2006/main">
            <a:off x="723900" y="2057400"/>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9"/>
          </a:bodyPr>
          <a:lstStyle xmlns:a="http://schemas.openxmlformats.org/drawingml/2006/main"/>
          <a:p xmlns:a="http://schemas.openxmlformats.org/drawingml/2006/main">
            <a:pPr>
              <a:defRPr sz="1650" b="1">
                <a:solidFill>
                  <a:srgbClr val="10243E"/>
                </a:solidFill>
                <a:latin typeface="DejaVu Sans"/>
                <a:ea typeface="DejaVu Sans"/>
                <a:cs typeface="DejaVu Sans"/>
              </a:defRPr>
            </a:pPr>
            <a:r>
              <a:rPr sz="1650" b="1">
                <a:solidFill>
                  <a:srgbClr val="10243E"/>
                </a:solidFill>
                <a:latin typeface="DejaVu Sans"/>
                <a:ea typeface="DejaVu Sans"/>
                <a:cs typeface="DejaVu Sans"/>
              </a:rPr>
              <a:t>Data and baselines</a:t>
            </a:r>
          </a:p>
        </p:txBody>
      </p:sp>
      <p:sp>
        <p:nvSpPr>
          <p:cNvPr id="9" name="">
            <a:extLst xmlns:a="http://schemas.openxmlformats.org/drawingml/2006/main">
              <a:ext uri="{FF2B5EF4-FFF2-40B4-BE49-F238E27FC236}">
                <a16:creationId xmlns:a16="http://schemas.microsoft.com/office/drawing/2014/main" id="{7645C529-0BA1-494B-A0B0-EB9E886E489E}"/>
              </a:ext>
            </a:extLst>
          </p:cNvPr>
          <p:cNvSpPr>
            <a:spLocks xmlns:a="http://schemas.openxmlformats.org/drawingml/2006/main" noGrp="1"/>
          </p:cNvSpPr>
          <p:nvPr/>
        </p:nvSpPr>
        <p:spPr>
          <a:xfrm xmlns:a="http://schemas.openxmlformats.org/drawingml/2006/main">
            <a:off x="723900" y="2705100"/>
            <a:ext cx="2266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Parse corpus and preserve T0–T3 lineage</a:t>
            </a:r>
          </a:p>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Compute BLEU, ROUGE, BERTScore, and SBERT similarity</a:t>
            </a:r>
          </a:p>
        </p:txBody>
      </p:sp>
      <p:sp>
        <p:nvSpPr>
          <p:cNvPr id="10" name="">
            <a:extLst xmlns:a="http://schemas.openxmlformats.org/drawingml/2006/main">
              <a:ext uri="{FF2B5EF4-FFF2-40B4-BE49-F238E27FC236}">
                <a16:creationId xmlns:a16="http://schemas.microsoft.com/office/drawing/2014/main" id="{4C6CA4CC-7419-4B50-8456-4968768AD4B8}"/>
              </a:ext>
            </a:extLst>
          </p:cNvPr>
          <p:cNvSpPr>
            <a:spLocks xmlns:a="http://schemas.openxmlformats.org/drawingml/2006/main" noGrp="1"/>
          </p:cNvSpPr>
          <p:nvPr/>
        </p:nvSpPr>
        <p:spPr>
          <a:xfrm xmlns:a="http://schemas.openxmlformats.org/drawingml/2006/main">
            <a:off x="723900" y="4143375"/>
            <a:ext cx="2266950" cy="9525"/>
          </a:xfrm>
          <a:prstGeom xmlns:a="http://schemas.openxmlformats.org/drawingml/2006/main" prst="rect">
            <a:avLst/>
          </a:prstGeom>
          <a:solidFill xmlns:a="http://schemas.openxmlformats.org/drawingml/2006/main">
            <a:srgbClr val="D9DF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30CC10-5EBA-441C-BBD4-7A45F103D54B}"/>
              </a:ext>
            </a:extLst>
          </p:cNvPr>
          <p:cNvSpPr>
            <a:spLocks xmlns:a="http://schemas.openxmlformats.org/drawingml/2006/main" noGrp="1"/>
          </p:cNvSpPr>
          <p:nvPr/>
        </p:nvSpPr>
        <p:spPr>
          <a:xfrm xmlns:a="http://schemas.openxmlformats.org/drawingml/2006/main">
            <a:off x="723900" y="4324350"/>
            <a:ext cx="2266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Milestone: validated dataset pipeline</a:t>
            </a:r>
          </a:p>
        </p:txBody>
      </p:sp>
      <p:sp>
        <p:nvSpPr>
          <p:cNvPr id="12" name="">
            <a:extLst xmlns:a="http://schemas.openxmlformats.org/drawingml/2006/main">
              <a:ext uri="{FF2B5EF4-FFF2-40B4-BE49-F238E27FC236}">
                <a16:creationId xmlns:a16="http://schemas.microsoft.com/office/drawing/2014/main" id="{7E5A6EDF-C8C1-4749-AC97-225B5F4830E2}"/>
              </a:ext>
            </a:extLst>
          </p:cNvPr>
          <p:cNvSpPr>
            <a:spLocks xmlns:a="http://schemas.openxmlformats.org/drawingml/2006/main" noGrp="1"/>
          </p:cNvSpPr>
          <p:nvPr/>
        </p:nvSpPr>
        <p:spPr>
          <a:xfrm xmlns:a="http://schemas.openxmlformats.org/drawingml/2006/main">
            <a:off x="3295650" y="1447800"/>
            <a:ext cx="2609850" cy="3562350"/>
          </a:xfrm>
          <a:prstGeom xmlns:a="http://schemas.openxmlformats.org/drawingml/2006/main" prst="roundRect">
            <a:avLst>
              <a:gd name="adj" fmla="val 2920"/>
            </a:avLst>
          </a:prstGeom>
          <a:solidFill xmlns:a="http://schemas.openxmlformats.org/drawingml/2006/main">
            <a:srgbClr val="F6F8FB"/>
          </a:solidFill>
          <a:ln xmlns:a="http://schemas.openxmlformats.org/drawingml/2006/main" w="9525">
            <a:solidFill>
              <a:srgbClr val="587FB8"/>
            </a:solidFill>
          </a:ln>
        </p:spPr>
      </p:sp>
      <p:sp>
        <p:nvSpPr>
          <p:cNvPr id="13" name="">
            <a:extLst xmlns:a="http://schemas.openxmlformats.org/drawingml/2006/main">
              <a:ext uri="{FF2B5EF4-FFF2-40B4-BE49-F238E27FC236}">
                <a16:creationId xmlns:a16="http://schemas.microsoft.com/office/drawing/2014/main" id="{69F1B718-11F2-4920-B371-3DC96C744ACF}"/>
              </a:ext>
            </a:extLst>
          </p:cNvPr>
          <p:cNvSpPr>
            <a:spLocks xmlns:a="http://schemas.openxmlformats.org/drawingml/2006/main" noGrp="1"/>
          </p:cNvSpPr>
          <p:nvPr/>
        </p:nvSpPr>
        <p:spPr>
          <a:xfrm xmlns:a="http://schemas.openxmlformats.org/drawingml/2006/main">
            <a:off x="3295650" y="1447800"/>
            <a:ext cx="2609850" cy="95250"/>
          </a:xfrm>
          <a:prstGeom xmlns:a="http://schemas.openxmlformats.org/drawingml/2006/main" prst="roundRect">
            <a:avLst>
              <a:gd name="adj" fmla="val 50000"/>
            </a:avLst>
          </a:prstGeom>
          <a:solidFill xmlns:a="http://schemas.openxmlformats.org/drawingml/2006/main">
            <a:srgbClr val="587FB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783F9F9-35CD-4278-8D81-8AF3EDB075B9}"/>
              </a:ext>
            </a:extLst>
          </p:cNvPr>
          <p:cNvSpPr>
            <a:spLocks xmlns:a="http://schemas.openxmlformats.org/drawingml/2006/main" noGrp="1"/>
          </p:cNvSpPr>
          <p:nvPr/>
        </p:nvSpPr>
        <p:spPr>
          <a:xfrm xmlns:a="http://schemas.openxmlformats.org/drawingml/2006/main">
            <a:off x="3467100" y="171450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587FB8"/>
                </a:solidFill>
                <a:latin typeface="DejaVu Sans"/>
                <a:ea typeface="DejaVu Sans"/>
                <a:cs typeface="DejaVu Sans"/>
              </a:defRPr>
            </a:pPr>
            <a:r>
              <a:rPr sz="975" b="1">
                <a:solidFill>
                  <a:srgbClr val="587FB8"/>
                </a:solidFill>
                <a:latin typeface="DejaVu Sans"/>
                <a:ea typeface="DejaVu Sans"/>
                <a:cs typeface="DejaVu Sans"/>
              </a:rPr>
              <a:t>WEEKS 6–8</a:t>
            </a:r>
          </a:p>
        </p:txBody>
      </p:sp>
      <p:sp>
        <p:nvSpPr>
          <p:cNvPr id="15" name="">
            <a:extLst xmlns:a="http://schemas.openxmlformats.org/drawingml/2006/main">
              <a:ext uri="{FF2B5EF4-FFF2-40B4-BE49-F238E27FC236}">
                <a16:creationId xmlns:a16="http://schemas.microsoft.com/office/drawing/2014/main" id="{5B97A283-0181-45F8-A277-358CEEC637B8}"/>
              </a:ext>
            </a:extLst>
          </p:cNvPr>
          <p:cNvSpPr>
            <a:spLocks xmlns:a="http://schemas.openxmlformats.org/drawingml/2006/main" noGrp="1"/>
          </p:cNvSpPr>
          <p:nvPr/>
        </p:nvSpPr>
        <p:spPr>
          <a:xfrm xmlns:a="http://schemas.openxmlformats.org/drawingml/2006/main">
            <a:off x="3467100" y="2057400"/>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0243E"/>
                </a:solidFill>
                <a:latin typeface="DejaVu Sans"/>
                <a:ea typeface="DejaVu Sans"/>
                <a:cs typeface="DejaVu Sans"/>
              </a:defRPr>
            </a:pPr>
            <a:r>
              <a:rPr sz="1650" b="1">
                <a:solidFill>
                  <a:srgbClr val="10243E"/>
                </a:solidFill>
                <a:latin typeface="DejaVu Sans"/>
                <a:ea typeface="DejaVu Sans"/>
                <a:cs typeface="DejaVu Sans"/>
              </a:rPr>
              <a:t>Feature profiling</a:t>
            </a:r>
          </a:p>
        </p:txBody>
      </p:sp>
      <p:sp>
        <p:nvSpPr>
          <p:cNvPr id="16" name="">
            <a:extLst xmlns:a="http://schemas.openxmlformats.org/drawingml/2006/main">
              <a:ext uri="{FF2B5EF4-FFF2-40B4-BE49-F238E27FC236}">
                <a16:creationId xmlns:a16="http://schemas.microsoft.com/office/drawing/2014/main" id="{1BA6D57F-10A2-4AA8-8FA5-ED9F0B5BD29B}"/>
              </a:ext>
            </a:extLst>
          </p:cNvPr>
          <p:cNvSpPr>
            <a:spLocks xmlns:a="http://schemas.openxmlformats.org/drawingml/2006/main" noGrp="1"/>
          </p:cNvSpPr>
          <p:nvPr/>
        </p:nvSpPr>
        <p:spPr>
          <a:xfrm xmlns:a="http://schemas.openxmlformats.org/drawingml/2006/main">
            <a:off x="3467100" y="2705100"/>
            <a:ext cx="2266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Extract lexical, POS, punctuation, readability, and dependency features</a:t>
            </a:r>
          </a:p>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Plot linguistic-delta curves</a:t>
            </a:r>
          </a:p>
        </p:txBody>
      </p:sp>
      <p:sp>
        <p:nvSpPr>
          <p:cNvPr id="17" name="">
            <a:extLst xmlns:a="http://schemas.openxmlformats.org/drawingml/2006/main">
              <a:ext uri="{FF2B5EF4-FFF2-40B4-BE49-F238E27FC236}">
                <a16:creationId xmlns:a16="http://schemas.microsoft.com/office/drawing/2014/main" id="{1B51E09B-FB42-4659-A4BB-7A0C719E2109}"/>
              </a:ext>
            </a:extLst>
          </p:cNvPr>
          <p:cNvSpPr>
            <a:spLocks xmlns:a="http://schemas.openxmlformats.org/drawingml/2006/main" noGrp="1"/>
          </p:cNvSpPr>
          <p:nvPr/>
        </p:nvSpPr>
        <p:spPr>
          <a:xfrm xmlns:a="http://schemas.openxmlformats.org/drawingml/2006/main">
            <a:off x="3467100" y="4143375"/>
            <a:ext cx="2266950" cy="9525"/>
          </a:xfrm>
          <a:prstGeom xmlns:a="http://schemas.openxmlformats.org/drawingml/2006/main" prst="rect">
            <a:avLst/>
          </a:prstGeom>
          <a:solidFill xmlns:a="http://schemas.openxmlformats.org/drawingml/2006/main">
            <a:srgbClr val="D9DFE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814C3E-A6DC-4E79-A38A-730488A642AE}"/>
              </a:ext>
            </a:extLst>
          </p:cNvPr>
          <p:cNvSpPr>
            <a:spLocks xmlns:a="http://schemas.openxmlformats.org/drawingml/2006/main" noGrp="1"/>
          </p:cNvSpPr>
          <p:nvPr/>
        </p:nvSpPr>
        <p:spPr>
          <a:xfrm xmlns:a="http://schemas.openxmlformats.org/drawingml/2006/main">
            <a:off x="3467100" y="4324350"/>
            <a:ext cx="2266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587FB8"/>
                </a:solidFill>
                <a:latin typeface="DejaVu Sans"/>
                <a:ea typeface="DejaVu Sans"/>
                <a:cs typeface="DejaVu Sans"/>
              </a:defRPr>
            </a:pPr>
            <a:r>
              <a:rPr sz="1050" b="1">
                <a:solidFill>
                  <a:srgbClr val="587FB8"/>
                </a:solidFill>
                <a:latin typeface="DejaVu Sans"/>
                <a:ea typeface="DejaVu Sans"/>
                <a:cs typeface="DejaVu Sans"/>
              </a:rPr>
              <a:t>Milestone: style-versus-content audit</a:t>
            </a:r>
          </a:p>
        </p:txBody>
      </p:sp>
      <p:sp>
        <p:nvSpPr>
          <p:cNvPr id="19" name="">
            <a:extLst xmlns:a="http://schemas.openxmlformats.org/drawingml/2006/main">
              <a:ext uri="{FF2B5EF4-FFF2-40B4-BE49-F238E27FC236}">
                <a16:creationId xmlns:a16="http://schemas.microsoft.com/office/drawing/2014/main" id="{165D6D26-5B1C-4B9E-AD21-3F4CBDE27E0F}"/>
              </a:ext>
            </a:extLst>
          </p:cNvPr>
          <p:cNvSpPr>
            <a:spLocks xmlns:a="http://schemas.openxmlformats.org/drawingml/2006/main" noGrp="1"/>
          </p:cNvSpPr>
          <p:nvPr/>
        </p:nvSpPr>
        <p:spPr>
          <a:xfrm xmlns:a="http://schemas.openxmlformats.org/drawingml/2006/main">
            <a:off x="6038850" y="1447800"/>
            <a:ext cx="2609850" cy="3562350"/>
          </a:xfrm>
          <a:prstGeom xmlns:a="http://schemas.openxmlformats.org/drawingml/2006/main" prst="roundRect">
            <a:avLst>
              <a:gd name="adj" fmla="val 2920"/>
            </a:avLst>
          </a:prstGeom>
          <a:solidFill xmlns:a="http://schemas.openxmlformats.org/drawingml/2006/main">
            <a:srgbClr val="F6F8FB"/>
          </a:solidFill>
          <a:ln xmlns:a="http://schemas.openxmlformats.org/drawingml/2006/main" w="9525">
            <a:solidFill>
              <a:srgbClr val="2E7D6A"/>
            </a:solidFill>
          </a:ln>
        </p:spPr>
      </p:sp>
      <p:sp>
        <p:nvSpPr>
          <p:cNvPr id="20" name="">
            <a:extLst xmlns:a="http://schemas.openxmlformats.org/drawingml/2006/main">
              <a:ext uri="{FF2B5EF4-FFF2-40B4-BE49-F238E27FC236}">
                <a16:creationId xmlns:a16="http://schemas.microsoft.com/office/drawing/2014/main" id="{C591C473-A6F3-4028-9BA0-667850EB6AC5}"/>
              </a:ext>
            </a:extLst>
          </p:cNvPr>
          <p:cNvSpPr>
            <a:spLocks xmlns:a="http://schemas.openxmlformats.org/drawingml/2006/main" noGrp="1"/>
          </p:cNvSpPr>
          <p:nvPr/>
        </p:nvSpPr>
        <p:spPr>
          <a:xfrm xmlns:a="http://schemas.openxmlformats.org/drawingml/2006/main">
            <a:off x="6038850" y="1447800"/>
            <a:ext cx="2609850" cy="95250"/>
          </a:xfrm>
          <a:prstGeom xmlns:a="http://schemas.openxmlformats.org/drawingml/2006/main" prst="roundRect">
            <a:avLst>
              <a:gd name="adj" fmla="val 50000"/>
            </a:avLst>
          </a:prstGeom>
          <a:solidFill xmlns:a="http://schemas.openxmlformats.org/drawingml/2006/main">
            <a:srgbClr val="2E7D6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F058E0-1BB6-49D9-92F1-4B9CA86347D2}"/>
              </a:ext>
            </a:extLst>
          </p:cNvPr>
          <p:cNvSpPr>
            <a:spLocks xmlns:a="http://schemas.openxmlformats.org/drawingml/2006/main" noGrp="1"/>
          </p:cNvSpPr>
          <p:nvPr/>
        </p:nvSpPr>
        <p:spPr>
          <a:xfrm xmlns:a="http://schemas.openxmlformats.org/drawingml/2006/main">
            <a:off x="6210300" y="171450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2E7D6A"/>
                </a:solidFill>
                <a:latin typeface="DejaVu Sans"/>
                <a:ea typeface="DejaVu Sans"/>
                <a:cs typeface="DejaVu Sans"/>
              </a:defRPr>
            </a:pPr>
            <a:r>
              <a:rPr sz="975" b="1">
                <a:solidFill>
                  <a:srgbClr val="2E7D6A"/>
                </a:solidFill>
                <a:latin typeface="DejaVu Sans"/>
                <a:ea typeface="DejaVu Sans"/>
                <a:cs typeface="DejaVu Sans"/>
              </a:rPr>
              <a:t>WEEKS 9–12</a:t>
            </a:r>
          </a:p>
        </p:txBody>
      </p:sp>
      <p:sp>
        <p:nvSpPr>
          <p:cNvPr id="22" name="">
            <a:extLst xmlns:a="http://schemas.openxmlformats.org/drawingml/2006/main">
              <a:ext uri="{FF2B5EF4-FFF2-40B4-BE49-F238E27FC236}">
                <a16:creationId xmlns:a16="http://schemas.microsoft.com/office/drawing/2014/main" id="{3AE92EF4-2BF6-4BD1-B2A3-154D739D15C7}"/>
              </a:ext>
            </a:extLst>
          </p:cNvPr>
          <p:cNvSpPr>
            <a:spLocks xmlns:a="http://schemas.openxmlformats.org/drawingml/2006/main" noGrp="1"/>
          </p:cNvSpPr>
          <p:nvPr/>
        </p:nvSpPr>
        <p:spPr>
          <a:xfrm xmlns:a="http://schemas.openxmlformats.org/drawingml/2006/main">
            <a:off x="6210300" y="2057400"/>
            <a:ext cx="2266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0243E"/>
                </a:solidFill>
                <a:latin typeface="DejaVu Sans"/>
                <a:ea typeface="DejaVu Sans"/>
                <a:cs typeface="DejaVu Sans"/>
              </a:defRPr>
            </a:pPr>
            <a:r>
              <a:rPr sz="1650" b="1">
                <a:solidFill>
                  <a:srgbClr val="10243E"/>
                </a:solidFill>
                <a:latin typeface="DejaVu Sans"/>
                <a:ea typeface="DejaVu Sans"/>
                <a:cs typeface="DejaVu Sans"/>
              </a:rPr>
              <a:t>Identity forensics</a:t>
            </a:r>
          </a:p>
        </p:txBody>
      </p:sp>
      <p:sp>
        <p:nvSpPr>
          <p:cNvPr id="23" name="">
            <a:extLst xmlns:a="http://schemas.openxmlformats.org/drawingml/2006/main">
              <a:ext uri="{FF2B5EF4-FFF2-40B4-BE49-F238E27FC236}">
                <a16:creationId xmlns:a16="http://schemas.microsoft.com/office/drawing/2014/main" id="{FCA9AF95-8674-44B8-A2E7-D06CF173F70C}"/>
              </a:ext>
            </a:extLst>
          </p:cNvPr>
          <p:cNvSpPr>
            <a:spLocks xmlns:a="http://schemas.openxmlformats.org/drawingml/2006/main" noGrp="1"/>
          </p:cNvSpPr>
          <p:nvPr/>
        </p:nvSpPr>
        <p:spPr>
          <a:xfrm xmlns:a="http://schemas.openxmlformats.org/drawingml/2006/main">
            <a:off x="6210300" y="2705100"/>
            <a:ext cx="2266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Train attribution and paraphraser classifiers</a:t>
            </a:r>
          </a:p>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Test T0 models on T1–T3 and unseen datasets</a:t>
            </a:r>
          </a:p>
        </p:txBody>
      </p:sp>
      <p:sp>
        <p:nvSpPr>
          <p:cNvPr id="24" name="">
            <a:extLst xmlns:a="http://schemas.openxmlformats.org/drawingml/2006/main">
              <a:ext uri="{FF2B5EF4-FFF2-40B4-BE49-F238E27FC236}">
                <a16:creationId xmlns:a16="http://schemas.microsoft.com/office/drawing/2014/main" id="{3257114C-94A5-46FF-AC62-6DFACA611747}"/>
              </a:ext>
            </a:extLst>
          </p:cNvPr>
          <p:cNvSpPr>
            <a:spLocks xmlns:a="http://schemas.openxmlformats.org/drawingml/2006/main" noGrp="1"/>
          </p:cNvSpPr>
          <p:nvPr/>
        </p:nvSpPr>
        <p:spPr>
          <a:xfrm xmlns:a="http://schemas.openxmlformats.org/drawingml/2006/main">
            <a:off x="6210300" y="4143375"/>
            <a:ext cx="2266950" cy="9525"/>
          </a:xfrm>
          <a:prstGeom xmlns:a="http://schemas.openxmlformats.org/drawingml/2006/main" prst="rect">
            <a:avLst/>
          </a:prstGeom>
          <a:solidFill xmlns:a="http://schemas.openxmlformats.org/drawingml/2006/main">
            <a:srgbClr val="D9DFE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94E863E-3EE0-4A9A-9B90-2E79B54E7B0F}"/>
              </a:ext>
            </a:extLst>
          </p:cNvPr>
          <p:cNvSpPr>
            <a:spLocks xmlns:a="http://schemas.openxmlformats.org/drawingml/2006/main" noGrp="1"/>
          </p:cNvSpPr>
          <p:nvPr/>
        </p:nvSpPr>
        <p:spPr>
          <a:xfrm xmlns:a="http://schemas.openxmlformats.org/drawingml/2006/main">
            <a:off x="6210300" y="4324350"/>
            <a:ext cx="2266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2E7D6A"/>
                </a:solidFill>
                <a:latin typeface="DejaVu Sans"/>
                <a:ea typeface="DejaVu Sans"/>
                <a:cs typeface="DejaVu Sans"/>
              </a:defRPr>
            </a:pPr>
            <a:r>
              <a:rPr sz="1050" b="1">
                <a:solidFill>
                  <a:srgbClr val="2E7D6A"/>
                </a:solidFill>
                <a:latin typeface="DejaVu Sans"/>
                <a:ea typeface="DejaVu Sans"/>
                <a:cs typeface="DejaVu Sans"/>
              </a:rPr>
              <a:t>Milestone: point of no return</a:t>
            </a:r>
          </a:p>
        </p:txBody>
      </p:sp>
      <p:sp>
        <p:nvSpPr>
          <p:cNvPr id="26" name="">
            <a:extLst xmlns:a="http://schemas.openxmlformats.org/drawingml/2006/main">
              <a:ext uri="{FF2B5EF4-FFF2-40B4-BE49-F238E27FC236}">
                <a16:creationId xmlns:a16="http://schemas.microsoft.com/office/drawing/2014/main" id="{8C146123-B63E-4FD2-A2F6-3208E7E5E783}"/>
              </a:ext>
            </a:extLst>
          </p:cNvPr>
          <p:cNvSpPr>
            <a:spLocks xmlns:a="http://schemas.openxmlformats.org/drawingml/2006/main" noGrp="1"/>
          </p:cNvSpPr>
          <p:nvPr/>
        </p:nvSpPr>
        <p:spPr>
          <a:xfrm xmlns:a="http://schemas.openxmlformats.org/drawingml/2006/main">
            <a:off x="8782050" y="1447800"/>
            <a:ext cx="2743200" cy="3562350"/>
          </a:xfrm>
          <a:prstGeom xmlns:a="http://schemas.openxmlformats.org/drawingml/2006/main" prst="roundRect">
            <a:avLst>
              <a:gd name="adj" fmla="val 2778"/>
            </a:avLst>
          </a:prstGeom>
          <a:solidFill xmlns:a="http://schemas.openxmlformats.org/drawingml/2006/main">
            <a:srgbClr val="F6F8FB"/>
          </a:solidFill>
          <a:ln xmlns:a="http://schemas.openxmlformats.org/drawingml/2006/main" w="9525">
            <a:solidFill>
              <a:srgbClr val="D8A33A"/>
            </a:solidFill>
          </a:ln>
        </p:spPr>
      </p:sp>
      <p:sp>
        <p:nvSpPr>
          <p:cNvPr id="27" name="">
            <a:extLst xmlns:a="http://schemas.openxmlformats.org/drawingml/2006/main">
              <a:ext uri="{FF2B5EF4-FFF2-40B4-BE49-F238E27FC236}">
                <a16:creationId xmlns:a16="http://schemas.microsoft.com/office/drawing/2014/main" id="{FC8C6914-442A-4604-B33E-E1B3B894E0E4}"/>
              </a:ext>
            </a:extLst>
          </p:cNvPr>
          <p:cNvSpPr>
            <a:spLocks xmlns:a="http://schemas.openxmlformats.org/drawingml/2006/main" noGrp="1"/>
          </p:cNvSpPr>
          <p:nvPr/>
        </p:nvSpPr>
        <p:spPr>
          <a:xfrm xmlns:a="http://schemas.openxmlformats.org/drawingml/2006/main">
            <a:off x="8782050" y="1447800"/>
            <a:ext cx="2743200" cy="95250"/>
          </a:xfrm>
          <a:prstGeom xmlns:a="http://schemas.openxmlformats.org/drawingml/2006/main" prst="roundRect">
            <a:avLst>
              <a:gd name="adj" fmla="val 50000"/>
            </a:avLst>
          </a:prstGeom>
          <a:solidFill xmlns:a="http://schemas.openxmlformats.org/drawingml/2006/main">
            <a:srgbClr val="D8A33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C84D4BD-81F9-4890-BB4A-D9C523DA35F4}"/>
              </a:ext>
            </a:extLst>
          </p:cNvPr>
          <p:cNvSpPr>
            <a:spLocks xmlns:a="http://schemas.openxmlformats.org/drawingml/2006/main" noGrp="1"/>
          </p:cNvSpPr>
          <p:nvPr/>
        </p:nvSpPr>
        <p:spPr>
          <a:xfrm xmlns:a="http://schemas.openxmlformats.org/drawingml/2006/main">
            <a:off x="8953500" y="1714500"/>
            <a:ext cx="2400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D8A33A"/>
                </a:solidFill>
                <a:latin typeface="DejaVu Sans"/>
                <a:ea typeface="DejaVu Sans"/>
                <a:cs typeface="DejaVu Sans"/>
              </a:defRPr>
            </a:pPr>
            <a:r>
              <a:rPr sz="975" b="1">
                <a:solidFill>
                  <a:srgbClr val="D8A33A"/>
                </a:solidFill>
                <a:latin typeface="DejaVu Sans"/>
                <a:ea typeface="DejaVu Sans"/>
                <a:cs typeface="DejaVu Sans"/>
              </a:rPr>
              <a:t>WEEKS 13–14</a:t>
            </a:r>
          </a:p>
        </p:txBody>
      </p:sp>
      <p:sp>
        <p:nvSpPr>
          <p:cNvPr id="29" name="">
            <a:extLst xmlns:a="http://schemas.openxmlformats.org/drawingml/2006/main">
              <a:ext uri="{FF2B5EF4-FFF2-40B4-BE49-F238E27FC236}">
                <a16:creationId xmlns:a16="http://schemas.microsoft.com/office/drawing/2014/main" id="{3C11FBB8-ADC2-4112-A31F-59E7FC159564}"/>
              </a:ext>
            </a:extLst>
          </p:cNvPr>
          <p:cNvSpPr>
            <a:spLocks xmlns:a="http://schemas.openxmlformats.org/drawingml/2006/main" noGrp="1"/>
          </p:cNvSpPr>
          <p:nvPr/>
        </p:nvSpPr>
        <p:spPr>
          <a:xfrm xmlns:a="http://schemas.openxmlformats.org/drawingml/2006/main">
            <a:off x="8953500" y="20574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0243E"/>
                </a:solidFill>
                <a:latin typeface="DejaVu Sans"/>
                <a:ea typeface="DejaVu Sans"/>
                <a:cs typeface="DejaVu Sans"/>
              </a:defRPr>
            </a:pPr>
            <a:r>
              <a:rPr sz="1650" b="1">
                <a:solidFill>
                  <a:srgbClr val="10243E"/>
                </a:solidFill>
                <a:latin typeface="DejaVu Sans"/>
                <a:ea typeface="DejaVu Sans"/>
                <a:cs typeface="DejaVu Sans"/>
              </a:rPr>
              <a:t>Synthesis</a:t>
            </a:r>
          </a:p>
        </p:txBody>
      </p:sp>
      <p:sp>
        <p:nvSpPr>
          <p:cNvPr id="30" name="">
            <a:extLst xmlns:a="http://schemas.openxmlformats.org/drawingml/2006/main">
              <a:ext uri="{FF2B5EF4-FFF2-40B4-BE49-F238E27FC236}">
                <a16:creationId xmlns:a16="http://schemas.microsoft.com/office/drawing/2014/main" id="{339C9BD0-7C2C-40FE-98DF-AB50C13154FB}"/>
              </a:ext>
            </a:extLst>
          </p:cNvPr>
          <p:cNvSpPr>
            <a:spLocks xmlns:a="http://schemas.openxmlformats.org/drawingml/2006/main" noGrp="1"/>
          </p:cNvSpPr>
          <p:nvPr/>
        </p:nvSpPr>
        <p:spPr>
          <a:xfrm xmlns:a="http://schemas.openxmlformats.org/drawingml/2006/main">
            <a:off x="8953500" y="2705100"/>
            <a:ext cx="2400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Build trajectory visualizations and Streamlit dashboard</a:t>
            </a:r>
          </a:p>
          <a:p xmlns:a="http://schemas.openxmlformats.org/drawingml/2006/main">
            <a:pPr>
              <a:defRPr sz="1125" b="0">
                <a:solidFill>
                  <a:srgbClr val="5C6678"/>
                </a:solidFill>
                <a:latin typeface="DejaVu Sans"/>
                <a:ea typeface="DejaVu Sans"/>
                <a:cs typeface="DejaVu Sans"/>
              </a:defRPr>
            </a:pPr>
            <a:r>
              <a:rPr sz="1125" b="0">
                <a:solidFill>
                  <a:srgbClr val="5C6678"/>
                </a:solidFill>
                <a:latin typeface="DejaVu Sans"/>
                <a:ea typeface="DejaVu Sans"/>
                <a:cs typeface="DejaVu Sans"/>
              </a:rPr>
              <a:t>Write and revise the ACL-format paper</a:t>
            </a:r>
          </a:p>
        </p:txBody>
      </p:sp>
      <p:sp>
        <p:nvSpPr>
          <p:cNvPr id="31" name="">
            <a:extLst xmlns:a="http://schemas.openxmlformats.org/drawingml/2006/main">
              <a:ext uri="{FF2B5EF4-FFF2-40B4-BE49-F238E27FC236}">
                <a16:creationId xmlns:a16="http://schemas.microsoft.com/office/drawing/2014/main" id="{1FF17AC6-2A02-41E5-9C6E-06A91E62D759}"/>
              </a:ext>
            </a:extLst>
          </p:cNvPr>
          <p:cNvSpPr>
            <a:spLocks xmlns:a="http://schemas.openxmlformats.org/drawingml/2006/main" noGrp="1"/>
          </p:cNvSpPr>
          <p:nvPr/>
        </p:nvSpPr>
        <p:spPr>
          <a:xfrm xmlns:a="http://schemas.openxmlformats.org/drawingml/2006/main">
            <a:off x="8953500" y="4143375"/>
            <a:ext cx="2400300" cy="9525"/>
          </a:xfrm>
          <a:prstGeom xmlns:a="http://schemas.openxmlformats.org/drawingml/2006/main" prst="rect">
            <a:avLst/>
          </a:prstGeom>
          <a:solidFill xmlns:a="http://schemas.openxmlformats.org/drawingml/2006/main">
            <a:srgbClr val="D9DFE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40A8FBF-FADB-488F-A94B-5EB596A29D6A}"/>
              </a:ext>
            </a:extLst>
          </p:cNvPr>
          <p:cNvSpPr>
            <a:spLocks xmlns:a="http://schemas.openxmlformats.org/drawingml/2006/main" noGrp="1"/>
          </p:cNvSpPr>
          <p:nvPr/>
        </p:nvSpPr>
        <p:spPr>
          <a:xfrm xmlns:a="http://schemas.openxmlformats.org/drawingml/2006/main">
            <a:off x="8953500" y="4324350"/>
            <a:ext cx="2400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D8A33A"/>
                </a:solidFill>
                <a:latin typeface="DejaVu Sans"/>
                <a:ea typeface="DejaVu Sans"/>
                <a:cs typeface="DejaVu Sans"/>
              </a:defRPr>
            </a:pPr>
            <a:r>
              <a:rPr sz="1050" b="1">
                <a:solidFill>
                  <a:srgbClr val="D8A33A"/>
                </a:solidFill>
                <a:latin typeface="DejaVu Sans"/>
                <a:ea typeface="DejaVu Sans"/>
                <a:cs typeface="DejaVu Sans"/>
              </a:rPr>
              <a:t>Milestone: reproducible final submission</a:t>
            </a:r>
          </a:p>
        </p:txBody>
      </p:sp>
      <p:sp>
        <p:nvSpPr>
          <p:cNvPr id="33" name="">
            <a:extLst xmlns:a="http://schemas.openxmlformats.org/drawingml/2006/main">
              <a:ext uri="{FF2B5EF4-FFF2-40B4-BE49-F238E27FC236}">
                <a16:creationId xmlns:a16="http://schemas.microsoft.com/office/drawing/2014/main" id="{2ECD93E9-931B-4D47-88E9-CA89B9883C29}"/>
              </a:ext>
            </a:extLst>
          </p:cNvPr>
          <p:cNvSpPr>
            <a:spLocks xmlns:a="http://schemas.openxmlformats.org/drawingml/2006/main" noGrp="1"/>
          </p:cNvSpPr>
          <p:nvPr/>
        </p:nvSpPr>
        <p:spPr>
          <a:xfrm xmlns:a="http://schemas.openxmlformats.org/drawingml/2006/main">
            <a:off x="552450" y="53530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F67C7"/>
                </a:solidFill>
                <a:latin typeface="DejaVu Sans"/>
                <a:ea typeface="DejaVu Sans"/>
                <a:cs typeface="DejaVu Sans"/>
              </a:defRPr>
            </a:pPr>
            <a:r>
              <a:rPr sz="1050" b="1">
                <a:solidFill>
                  <a:srgbClr val="2F67C7"/>
                </a:solidFill>
                <a:latin typeface="DejaVu Sans"/>
                <a:ea typeface="DejaVu Sans"/>
                <a:cs typeface="DejaVu Sans"/>
              </a:rPr>
              <a:t>Evaluation gates</a:t>
            </a:r>
          </a:p>
        </p:txBody>
      </p:sp>
      <p:sp>
        <p:nvSpPr>
          <p:cNvPr id="34" name="">
            <a:extLst xmlns:a="http://schemas.openxmlformats.org/drawingml/2006/main">
              <a:ext uri="{FF2B5EF4-FFF2-40B4-BE49-F238E27FC236}">
                <a16:creationId xmlns:a16="http://schemas.microsoft.com/office/drawing/2014/main" id="{1B899C93-3B53-483E-B749-1AEF0CA0B6CF}"/>
              </a:ext>
            </a:extLst>
          </p:cNvPr>
          <p:cNvSpPr>
            <a:spLocks xmlns:a="http://schemas.openxmlformats.org/drawingml/2006/main" noGrp="1"/>
          </p:cNvSpPr>
          <p:nvPr/>
        </p:nvSpPr>
        <p:spPr>
          <a:xfrm xmlns:a="http://schemas.openxmlformats.org/drawingml/2006/main">
            <a:off x="552450" y="5667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0243E"/>
                </a:solidFill>
                <a:latin typeface="DejaVu Sans"/>
                <a:ea typeface="DejaVu Sans"/>
                <a:cs typeface="DejaVu Sans"/>
              </a:defRPr>
            </a:pPr>
            <a:r>
              <a:rPr sz="1200" b="0">
                <a:solidFill>
                  <a:srgbClr val="10243E"/>
                </a:solidFill>
                <a:latin typeface="DejaVu Sans"/>
                <a:ea typeface="DejaVu Sans"/>
                <a:cs typeface="DejaVu Sans"/>
              </a:rPr>
              <a:t>No document leakage across splits   •   Report macro F1 and confusion matrices   •   Validate fingerprints on unseen datasets</a:t>
            </a:r>
          </a:p>
        </p:txBody>
      </p:sp>
      <p:sp>
        <p:nvSpPr>
          <p:cNvPr id="35" name="">
            <a:extLst xmlns:a="http://schemas.openxmlformats.org/drawingml/2006/main">
              <a:ext uri="{FF2B5EF4-FFF2-40B4-BE49-F238E27FC236}">
                <a16:creationId xmlns:a16="http://schemas.microsoft.com/office/drawing/2014/main" id="{1CEB2929-697F-4FCF-B02F-34C4832496E3}"/>
              </a:ext>
            </a:extLst>
          </p:cNvPr>
          <p:cNvSpPr>
            <a:spLocks xmlns:a="http://schemas.openxmlformats.org/drawingml/2006/main" noGrp="1"/>
          </p:cNvSpPr>
          <p:nvPr/>
        </p:nvSpPr>
        <p:spPr>
          <a:xfrm xmlns:a="http://schemas.openxmlformats.org/drawingml/2006/main">
            <a:off x="514350" y="64484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5C6678"/>
                </a:solidFill>
                <a:latin typeface="DejaVu Sans"/>
                <a:ea typeface="DejaVu Sans"/>
                <a:cs typeface="DejaVu Sans"/>
              </a:defRPr>
            </a:pPr>
            <a:r>
              <a:rPr sz="825" b="0">
                <a:solidFill>
                  <a:srgbClr val="5C6678"/>
                </a:solidFill>
                <a:latin typeface="DejaVu Sans"/>
                <a:ea typeface="DejaVu Sans"/>
                <a:cs typeface="DejaVu Sans"/>
              </a:rPr>
              <a:t>Final outputs: four research answers, identity-trajectory graphic, documented repository, dashboard, and ACL-format paper</a:t>
            </a:r>
          </a:p>
        </p:txBody>
      </p:sp>
    </p:spTree>
    <p:extLst>
      <p:ext uri="{BB962C8B-B14F-4D97-AF65-F5344CB8AC3E}">
        <p14:creationId xmlns:p14="http://schemas.microsoft.com/office/powerpoint/2010/main" val="1538594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2026-09-22T04:42:44.8560000Z</dcterms:created>
  <dcterms:modified xsi:type="dcterms:W3CDTF">2026-09-22T04:42:44.8560000Z</dcterms:modified>
</coreProperties>
</file>